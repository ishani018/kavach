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v1 patterns</c:v>
                </c:pt>
              </c:strCache>
            </c:strRef>
          </c:tx>
          <c:spPr>
            <a:solidFill>
              <a:srgbClr val="7FB0FF"/>
            </a:solidFill>
            <a:effectLst/>
          </c:spPr>
          <c:invertIfNegative val="0"/>
          <c:dLbls>
            <c:numFmt formatCode="#,##0" sourceLinked="0"/>
            <c:txPr>
              <a:bodyPr/>
              <a:lstStyle/>
              <a:p>
                <a:pPr>
                  <a:defRPr b="0" i="0" strike="noStrike" sz="1000" u="none">
                    <a:solidFill>
                      <a:srgbClr val="ECF1F9"/>
                    </a:solidFill>
                    <a:latin typeface="Arial"/>
                  </a:defRPr>
                </a:pPr>
              </a:p>
            </c:txPr>
            <c:showLegendKey val="0"/>
            <c:showVal val="1"/>
            <c:showCatName val="0"/>
            <c:showSerName val="0"/>
            <c:showPercent val="0"/>
            <c:showBubbleSize val="0"/>
            <c:showLeaderLines val="0"/>
          </c:dLbls>
          <c:cat>
            <c:multiLvlStrRef>
              <c:f>Sheet1!$A$2:$A$5</c:f>
              <c:multiLvlStrCache>
                <c:ptCount val="4"/>
                <c:lvl>
                  <c:pt idx="0">
                    <c:v>EXECUTOR</c:v>
                  </c:pt>
                  <c:pt idx="1">
                    <c:v>VAULT</c:v>
                  </c:pt>
                  <c:pt idx="2">
                    <c:v>CHANNEL</c:v>
                  </c:pt>
                  <c:pt idx="3">
                    <c:v>NAVIGATOR</c:v>
                  </c:pt>
                </c:lvl>
              </c:multiLvlStrCache>
            </c:multiLvlStrRef>
          </c:cat>
          <c:val>
            <c:numRef>
              <c:f>Sheet1!$B$2:$B$5</c:f>
              <c:numCache>
                <c:formatCode>General</c:formatCode>
                <c:ptCount val="4"/>
                <c:pt idx="0">
                  <c:v>50</c:v>
                </c:pt>
                <c:pt idx="1">
                  <c:v>50</c:v>
                </c:pt>
                <c:pt idx="2">
                  <c:v>50</c:v>
                </c:pt>
                <c:pt idx="3">
                  <c:v>50</c:v>
                </c:pt>
              </c:numCache>
            </c:numRef>
          </c:val>
        </c:ser>
        <c:ser>
          <c:idx val="1"/>
          <c:order val="1"/>
          <c:tx>
            <c:strRef>
              <c:f>Sheet1!$C$1</c:f>
              <c:strCache>
                <c:ptCount val="1"/>
                <c:pt idx="0">
                  <c:v>v2 (new)</c:v>
                </c:pt>
              </c:strCache>
            </c:strRef>
          </c:tx>
          <c:spPr>
            <a:solidFill>
              <a:srgbClr val="1E4FA8"/>
            </a:solidFill>
            <a:effectLst/>
          </c:spPr>
          <c:invertIfNegative val="0"/>
          <c:dLbls>
            <c:numFmt formatCode="#,##0" sourceLinked="0"/>
            <c:txPr>
              <a:bodyPr/>
              <a:lstStyle/>
              <a:p>
                <a:pPr>
                  <a:defRPr b="0" i="0" strike="noStrike" sz="1000" u="none">
                    <a:solidFill>
                      <a:srgbClr val="ECF1F9"/>
                    </a:solidFill>
                    <a:latin typeface="Arial"/>
                  </a:defRPr>
                </a:pPr>
              </a:p>
            </c:txPr>
            <c:showLegendKey val="0"/>
            <c:showVal val="1"/>
            <c:showCatName val="0"/>
            <c:showSerName val="0"/>
            <c:showPercent val="0"/>
            <c:showBubbleSize val="0"/>
            <c:showLeaderLines val="0"/>
          </c:dLbls>
          <c:cat>
            <c:multiLvlStrRef>
              <c:f>Sheet1!$A$2:$A$5</c:f>
              <c:multiLvlStrCache>
                <c:ptCount val="4"/>
                <c:lvl>
                  <c:pt idx="0">
                    <c:v>EXECUTOR</c:v>
                  </c:pt>
                  <c:pt idx="1">
                    <c:v>VAULT</c:v>
                  </c:pt>
                  <c:pt idx="2">
                    <c:v>CHANNEL</c:v>
                  </c:pt>
                  <c:pt idx="3">
                    <c:v>NAVIGATOR</c:v>
                  </c:pt>
                </c:lvl>
              </c:multiLvlStrCache>
            </c:multiLvlStrRef>
          </c:cat>
          <c:val>
            <c:numRef>
              <c:f>Sheet1!$C$2:$C$5</c:f>
              <c:numCache>
                <c:formatCode>General</c:formatCode>
                <c:ptCount val="4"/>
                <c:pt idx="0">
                  <c:v>50</c:v>
                </c:pt>
                <c:pt idx="1">
                  <c:v>50</c:v>
                </c:pt>
                <c:pt idx="2">
                  <c:v>50</c:v>
                </c:pt>
                <c:pt idx="3">
                  <c:v>50</c:v>
                </c:pt>
              </c:numCache>
            </c:numRef>
          </c:val>
        </c:ser>
        <c:dLbls>
          <c:numFmt formatCode="#,##0" sourceLinked="0"/>
          <c:txPr>
            <a:bodyPr/>
            <a:lstStyle/>
            <a:p>
              <a:pPr>
                <a:defRPr b="0" i="0" strike="noStrike" sz="1000" u="none">
                  <a:solidFill>
                    <a:srgbClr val="ECF1F9"/>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1C3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9D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B1C3A"/>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C3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B7EE5"/>
          </a:solidFill>
          <a:ln w="12700">
            <a:solidFill>
              <a:srgbClr val="333333"/>
            </a:solidFill>
            <a:prstDash val="solid"/>
          </a:ln>
        </p:spPr>
      </p:sp>
      <p:sp>
        <p:nvSpPr>
          <p:cNvPr id="3" name="Text 1"/>
          <p:cNvSpPr/>
          <p:nvPr/>
        </p:nvSpPr>
        <p:spPr>
          <a:xfrm>
            <a:off x="5943600" y="365760"/>
            <a:ext cx="5943600" cy="4114800"/>
          </a:xfrm>
          <a:prstGeom prst="rect">
            <a:avLst/>
          </a:prstGeom>
          <a:noFill/>
          <a:ln/>
        </p:spPr>
        <p:txBody>
          <a:bodyPr wrap="square" lIns="0" tIns="0" rIns="0" bIns="0" rtlCol="0" anchor="ctr"/>
          <a:lstStyle/>
          <a:p>
            <a:pPr algn="ctr" indent="0" marL="0">
              <a:buNone/>
            </a:pPr>
            <a:r>
              <a:rPr lang="en-US" sz="35000" dirty="0">
                <a:solidFill>
                  <a:srgbClr val="1E4FA8">
                    <a:alpha val="30000"/>
                  </a:srgbClr>
                </a:solidFill>
                <a:latin typeface="Georgia" pitchFamily="34" charset="0"/>
                <a:ea typeface="Georgia" pitchFamily="34" charset="-122"/>
                <a:cs typeface="Georgia" pitchFamily="34" charset="-120"/>
              </a:rPr>
              <a:t>कवच</a:t>
            </a:r>
            <a:endParaRPr lang="en-US" sz="35000" dirty="0"/>
          </a:p>
        </p:txBody>
      </p:sp>
      <p:sp>
        <p:nvSpPr>
          <p:cNvPr id="4" name="Text 2"/>
          <p:cNvSpPr/>
          <p:nvPr/>
        </p:nvSpPr>
        <p:spPr>
          <a:xfrm>
            <a:off x="640080" y="548640"/>
            <a:ext cx="10972800" cy="365760"/>
          </a:xfrm>
          <a:prstGeom prst="rect">
            <a:avLst/>
          </a:prstGeom>
          <a:noFill/>
          <a:ln/>
        </p:spPr>
        <p:txBody>
          <a:bodyPr wrap="square" lIns="0" tIns="0" rIns="0" bIns="0" rtlCol="0" anchor="ctr"/>
          <a:lstStyle/>
          <a:p>
            <a:pPr indent="0" marL="0">
              <a:buNone/>
            </a:pPr>
            <a:r>
              <a:rPr lang="en-US" sz="1100" b="1" spc="600" kern="0" dirty="0">
                <a:solidFill>
                  <a:srgbClr val="7FB0FF"/>
                </a:solidFill>
                <a:latin typeface="Calibri" pitchFamily="34" charset="0"/>
                <a:ea typeface="Calibri" pitchFamily="34" charset="-122"/>
                <a:cs typeface="Calibri" pitchFamily="34" charset="-120"/>
              </a:rPr>
              <a:t>CAPSTONE PROGRESS REVIEW    ·    MAY 2026</a:t>
            </a:r>
            <a:endParaRPr lang="en-US" sz="1100" dirty="0"/>
          </a:p>
        </p:txBody>
      </p:sp>
      <p:sp>
        <p:nvSpPr>
          <p:cNvPr id="5" name="Text 3"/>
          <p:cNvSpPr/>
          <p:nvPr/>
        </p:nvSpPr>
        <p:spPr>
          <a:xfrm>
            <a:off x="640080" y="1280160"/>
            <a:ext cx="10972800" cy="1371600"/>
          </a:xfrm>
          <a:prstGeom prst="rect">
            <a:avLst/>
          </a:prstGeom>
          <a:noFill/>
          <a:ln/>
        </p:spPr>
        <p:txBody>
          <a:bodyPr wrap="square" lIns="0" tIns="0" rIns="0" bIns="0" rtlCol="0" anchor="ctr"/>
          <a:lstStyle/>
          <a:p>
            <a:pPr indent="0" marL="0">
              <a:buNone/>
            </a:pPr>
            <a:r>
              <a:rPr lang="en-US" sz="9600" b="1" dirty="0">
                <a:solidFill>
                  <a:srgbClr val="ECF1F9"/>
                </a:solidFill>
                <a:latin typeface="Georgia" pitchFamily="34" charset="0"/>
                <a:ea typeface="Georgia" pitchFamily="34" charset="-122"/>
                <a:cs typeface="Georgia" pitchFamily="34" charset="-120"/>
              </a:rPr>
              <a:t>Kavach</a:t>
            </a:r>
            <a:endParaRPr lang="en-US" sz="9600" dirty="0"/>
          </a:p>
        </p:txBody>
      </p:sp>
      <p:sp>
        <p:nvSpPr>
          <p:cNvPr id="6" name="Text 4"/>
          <p:cNvSpPr/>
          <p:nvPr/>
        </p:nvSpPr>
        <p:spPr>
          <a:xfrm>
            <a:off x="640080" y="2651760"/>
            <a:ext cx="10972800" cy="548640"/>
          </a:xfrm>
          <a:prstGeom prst="rect">
            <a:avLst/>
          </a:prstGeom>
          <a:noFill/>
          <a:ln/>
        </p:spPr>
        <p:txBody>
          <a:bodyPr wrap="square" lIns="0" tIns="0" rIns="0" bIns="0" rtlCol="0" anchor="ctr"/>
          <a:lstStyle/>
          <a:p>
            <a:pPr indent="0" marL="0">
              <a:buNone/>
            </a:pPr>
            <a:r>
              <a:rPr lang="en-US" sz="2200" i="1" dirty="0">
                <a:solidFill>
                  <a:srgbClr val="7FB0FF"/>
                </a:solidFill>
                <a:latin typeface="Calibri" pitchFamily="34" charset="0"/>
                <a:ea typeface="Calibri" pitchFamily="34" charset="-122"/>
                <a:cs typeface="Calibri" pitchFamily="34" charset="-120"/>
              </a:rPr>
              <a:t>From a post-hoc monitor to a real-time semantic firewall</a:t>
            </a:r>
            <a:endParaRPr lang="en-US" sz="2200" dirty="0"/>
          </a:p>
        </p:txBody>
      </p:sp>
      <p:sp>
        <p:nvSpPr>
          <p:cNvPr id="7" name="Shape 5"/>
          <p:cNvSpPr/>
          <p:nvPr/>
        </p:nvSpPr>
        <p:spPr>
          <a:xfrm>
            <a:off x="640080" y="3383280"/>
            <a:ext cx="914400" cy="36576"/>
          </a:xfrm>
          <a:prstGeom prst="rect">
            <a:avLst/>
          </a:prstGeom>
          <a:solidFill>
            <a:srgbClr val="3B7EE5"/>
          </a:solidFill>
          <a:ln w="12700">
            <a:solidFill>
              <a:srgbClr val="333333"/>
            </a:solidFill>
            <a:prstDash val="solid"/>
          </a:ln>
        </p:spPr>
      </p:sp>
      <p:sp>
        <p:nvSpPr>
          <p:cNvPr id="8" name="Shape 6"/>
          <p:cNvSpPr/>
          <p:nvPr/>
        </p:nvSpPr>
        <p:spPr>
          <a:xfrm>
            <a:off x="640080" y="3657600"/>
            <a:ext cx="5029200" cy="502920"/>
          </a:xfrm>
          <a:prstGeom prst="roundRect">
            <a:avLst>
              <a:gd name="adj" fmla="val 14545"/>
            </a:avLst>
          </a:prstGeom>
          <a:solidFill>
            <a:srgbClr val="1E4FA8"/>
          </a:solidFill>
          <a:ln w="12700">
            <a:solidFill>
              <a:srgbClr val="3B7EE5"/>
            </a:solidFill>
            <a:prstDash val="solid"/>
          </a:ln>
        </p:spPr>
      </p:sp>
      <p:sp>
        <p:nvSpPr>
          <p:cNvPr id="9" name="Text 7"/>
          <p:cNvSpPr/>
          <p:nvPr/>
        </p:nvSpPr>
        <p:spPr>
          <a:xfrm>
            <a:off x="640080" y="3657600"/>
            <a:ext cx="5029200" cy="502920"/>
          </a:xfrm>
          <a:prstGeom prst="rect">
            <a:avLst/>
          </a:prstGeom>
          <a:noFill/>
          <a:ln/>
        </p:spPr>
        <p:txBody>
          <a:bodyPr wrap="square" lIns="0" tIns="0" rIns="0" bIns="0" rtlCol="0" anchor="ctr"/>
          <a:lstStyle/>
          <a:p>
            <a:pPr algn="ctr" indent="0" marL="0">
              <a:buNone/>
            </a:pPr>
            <a:r>
              <a:rPr lang="en-US" sz="1300" b="1" spc="400" kern="0" dirty="0">
                <a:solidFill>
                  <a:srgbClr val="ECF1F9"/>
                </a:solidFill>
                <a:latin typeface="Calibri" pitchFamily="34" charset="0"/>
                <a:ea typeface="Calibri" pitchFamily="34" charset="-122"/>
                <a:cs typeface="Calibri" pitchFamily="34" charset="-120"/>
              </a:rPr>
              <a:t>PHASE 2  ·  PARLIAMENT-OF-MINISTERS</a:t>
            </a:r>
            <a:endParaRPr lang="en-US" sz="1300" dirty="0"/>
          </a:p>
        </p:txBody>
      </p:sp>
      <p:sp>
        <p:nvSpPr>
          <p:cNvPr id="10" name="Text 8"/>
          <p:cNvSpPr/>
          <p:nvPr/>
        </p:nvSpPr>
        <p:spPr>
          <a:xfrm>
            <a:off x="640080" y="5120640"/>
            <a:ext cx="10972800" cy="274320"/>
          </a:xfrm>
          <a:prstGeom prst="rect">
            <a:avLst/>
          </a:prstGeom>
          <a:noFill/>
          <a:ln/>
        </p:spPr>
        <p:txBody>
          <a:bodyPr wrap="square" lIns="0" tIns="0" rIns="0" bIns="0" rtlCol="0" anchor="ctr"/>
          <a:lstStyle/>
          <a:p>
            <a:pPr indent="0" marL="0">
              <a:buNone/>
            </a:pPr>
            <a:r>
              <a:rPr lang="en-US" sz="1000" b="1" spc="400" kern="0" dirty="0">
                <a:solidFill>
                  <a:srgbClr val="7FB0FF"/>
                </a:solidFill>
                <a:latin typeface="Calibri" pitchFamily="34" charset="0"/>
                <a:ea typeface="Calibri" pitchFamily="34" charset="-122"/>
                <a:cs typeface="Calibri" pitchFamily="34" charset="-120"/>
              </a:rPr>
              <a:t>PES UNIVERSITY  ·  CAPSTONE PW26_RB_03</a:t>
            </a:r>
            <a:endParaRPr lang="en-US" sz="1000" dirty="0"/>
          </a:p>
        </p:txBody>
      </p:sp>
      <p:sp>
        <p:nvSpPr>
          <p:cNvPr id="11" name="Text 9"/>
          <p:cNvSpPr/>
          <p:nvPr/>
        </p:nvSpPr>
        <p:spPr>
          <a:xfrm>
            <a:off x="640080" y="5440680"/>
            <a:ext cx="10972800" cy="365760"/>
          </a:xfrm>
          <a:prstGeom prst="rect">
            <a:avLst/>
          </a:prstGeom>
          <a:noFill/>
          <a:ln/>
        </p:spPr>
        <p:txBody>
          <a:bodyPr wrap="square" lIns="0" tIns="0" rIns="0" bIns="0" rtlCol="0" anchor="ctr"/>
          <a:lstStyle/>
          <a:p>
            <a:pPr indent="0" marL="0">
              <a:buNone/>
            </a:pPr>
            <a:r>
              <a:rPr lang="en-US" sz="1200" b="1" dirty="0">
                <a:solidFill>
                  <a:srgbClr val="7FB0FF"/>
                </a:solidFill>
                <a:latin typeface="Calibri" pitchFamily="34" charset="0"/>
                <a:ea typeface="Calibri" pitchFamily="34" charset="-122"/>
                <a:cs typeface="Calibri" pitchFamily="34" charset="-120"/>
              </a:rPr>
              <a:t>Team   </a:t>
            </a:r>
            <a:pPr indent="0" marL="0">
              <a:buNone/>
            </a:pPr>
            <a:r>
              <a:rPr lang="en-US" sz="1300" dirty="0">
                <a:solidFill>
                  <a:srgbClr val="ECF1F9"/>
                </a:solidFill>
                <a:latin typeface="Calibri" pitchFamily="34" charset="0"/>
                <a:ea typeface="Calibri" pitchFamily="34" charset="-122"/>
                <a:cs typeface="Calibri" pitchFamily="34" charset="-120"/>
              </a:rPr>
              <a:t>Jamieboy · Janya Mahesh · Pranitha Goduguluri · Parv Parmar · Ishani Chakraborty</a:t>
            </a:r>
            <a:endParaRPr lang="en-US" sz="1200" dirty="0"/>
          </a:p>
        </p:txBody>
      </p:sp>
      <p:sp>
        <p:nvSpPr>
          <p:cNvPr id="12" name="Text 10"/>
          <p:cNvSpPr/>
          <p:nvPr/>
        </p:nvSpPr>
        <p:spPr>
          <a:xfrm>
            <a:off x="640080" y="5852160"/>
            <a:ext cx="10972800" cy="365760"/>
          </a:xfrm>
          <a:prstGeom prst="rect">
            <a:avLst/>
          </a:prstGeom>
          <a:noFill/>
          <a:ln/>
        </p:spPr>
        <p:txBody>
          <a:bodyPr wrap="square" lIns="0" tIns="0" rIns="0" bIns="0" rtlCol="0" anchor="ctr"/>
          <a:lstStyle/>
          <a:p>
            <a:pPr indent="0" marL="0">
              <a:buNone/>
            </a:pPr>
            <a:r>
              <a:rPr lang="en-US" sz="1200" b="1" dirty="0">
                <a:solidFill>
                  <a:srgbClr val="7FB0FF"/>
                </a:solidFill>
                <a:latin typeface="Calibri" pitchFamily="34" charset="0"/>
                <a:ea typeface="Calibri" pitchFamily="34" charset="-122"/>
                <a:cs typeface="Calibri" pitchFamily="34" charset="-120"/>
              </a:rPr>
              <a:t>Guide   </a:t>
            </a:r>
            <a:pPr indent="0" marL="0">
              <a:buNone/>
            </a:pPr>
            <a:r>
              <a:rPr lang="en-US" sz="1300" dirty="0">
                <a:solidFill>
                  <a:srgbClr val="ECF1F9"/>
                </a:solidFill>
                <a:latin typeface="Calibri" pitchFamily="34" charset="0"/>
                <a:ea typeface="Calibri" pitchFamily="34" charset="-122"/>
                <a:cs typeface="Calibri" pitchFamily="34" charset="-120"/>
              </a:rPr>
              <a:t>Prof. Rajesh Banginwar     </a:t>
            </a:r>
            <a:pPr indent="0" marL="0">
              <a:buNone/>
            </a:pPr>
            <a:r>
              <a:rPr lang="en-US" sz="1200" b="1" dirty="0">
                <a:solidFill>
                  <a:srgbClr val="7FB0FF"/>
                </a:solidFill>
                <a:latin typeface="Calibri" pitchFamily="34" charset="0"/>
                <a:ea typeface="Calibri" pitchFamily="34" charset="-122"/>
                <a:cs typeface="Calibri" pitchFamily="34" charset="-120"/>
              </a:rPr>
              <a:t>·   Hardware   </a:t>
            </a:r>
            <a:pPr indent="0" marL="0">
              <a:buNone/>
            </a:pPr>
            <a:r>
              <a:rPr lang="en-US" sz="1300" dirty="0">
                <a:solidFill>
                  <a:srgbClr val="ECF1F9"/>
                </a:solidFill>
                <a:latin typeface="Calibri" pitchFamily="34" charset="0"/>
                <a:ea typeface="Calibri" pitchFamily="34" charset="-122"/>
                <a:cs typeface="Calibri" pitchFamily="34" charset="-120"/>
              </a:rPr>
              <a:t>Dell Precision 3660 · i9-13900 · 128 GB · RTX 4090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02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01  ·  EXECUTIVE SUMMARY</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Where we are, in three sentences</a:t>
            </a:r>
            <a:endParaRPr lang="en-US" sz="3000" dirty="0"/>
          </a:p>
        </p:txBody>
      </p:sp>
      <p:sp>
        <p:nvSpPr>
          <p:cNvPr id="6" name="Shape 4"/>
          <p:cNvSpPr/>
          <p:nvPr/>
        </p:nvSpPr>
        <p:spPr>
          <a:xfrm>
            <a:off x="457200" y="1417320"/>
            <a:ext cx="11247120" cy="1371600"/>
          </a:xfrm>
          <a:prstGeom prst="rect">
            <a:avLst/>
          </a:prstGeom>
          <a:solidFill>
            <a:srgbClr val="FFFFFF"/>
          </a:solidFill>
          <a:ln w="12700">
            <a:solidFill>
              <a:srgbClr val="C9D6EC"/>
            </a:solidFill>
            <a:prstDash val="solid"/>
          </a:ln>
        </p:spPr>
      </p:sp>
      <p:sp>
        <p:nvSpPr>
          <p:cNvPr id="7" name="Shape 5"/>
          <p:cNvSpPr/>
          <p:nvPr/>
        </p:nvSpPr>
        <p:spPr>
          <a:xfrm>
            <a:off x="457200" y="1417320"/>
            <a:ext cx="109728" cy="1371600"/>
          </a:xfrm>
          <a:prstGeom prst="rect">
            <a:avLst/>
          </a:prstGeom>
          <a:solidFill>
            <a:srgbClr val="E63946"/>
          </a:solidFill>
          <a:ln w="12700">
            <a:solidFill>
              <a:srgbClr val="333333"/>
            </a:solidFill>
            <a:prstDash val="solid"/>
          </a:ln>
        </p:spPr>
      </p:sp>
      <p:sp>
        <p:nvSpPr>
          <p:cNvPr id="8" name="Text 6"/>
          <p:cNvSpPr/>
          <p:nvPr/>
        </p:nvSpPr>
        <p:spPr>
          <a:xfrm>
            <a:off x="822960" y="1554480"/>
            <a:ext cx="1097280" cy="1097280"/>
          </a:xfrm>
          <a:prstGeom prst="rect">
            <a:avLst/>
          </a:prstGeom>
          <a:noFill/>
          <a:ln/>
        </p:spPr>
        <p:txBody>
          <a:bodyPr wrap="square" lIns="0" tIns="0" rIns="0" bIns="0" rtlCol="0" anchor="ctr"/>
          <a:lstStyle/>
          <a:p>
            <a:pPr indent="0" marL="0">
              <a:buNone/>
            </a:pPr>
            <a:r>
              <a:rPr lang="en-US" sz="6000" b="1" dirty="0">
                <a:solidFill>
                  <a:srgbClr val="E63946"/>
                </a:solidFill>
                <a:latin typeface="Georgia" pitchFamily="34" charset="0"/>
                <a:ea typeface="Georgia" pitchFamily="34" charset="-122"/>
                <a:cs typeface="Georgia" pitchFamily="34" charset="-120"/>
              </a:rPr>
              <a:t>01</a:t>
            </a:r>
            <a:endParaRPr lang="en-US" sz="6000" dirty="0"/>
          </a:p>
        </p:txBody>
      </p:sp>
      <p:sp>
        <p:nvSpPr>
          <p:cNvPr id="9" name="Text 7"/>
          <p:cNvSpPr/>
          <p:nvPr/>
        </p:nvSpPr>
        <p:spPr>
          <a:xfrm>
            <a:off x="2011680" y="1600200"/>
            <a:ext cx="9418320" cy="457200"/>
          </a:xfrm>
          <a:prstGeom prst="rect">
            <a:avLst/>
          </a:prstGeom>
          <a:noFill/>
          <a:ln/>
        </p:spPr>
        <p:txBody>
          <a:bodyPr wrap="square" lIns="0" tIns="0" rIns="0" bIns="0" rtlCol="0" anchor="ctr"/>
          <a:lstStyle/>
          <a:p>
            <a:pPr indent="0" marL="0">
              <a:buNone/>
            </a:pPr>
            <a:r>
              <a:rPr lang="en-US" sz="2200" b="1" dirty="0">
                <a:solidFill>
                  <a:srgbClr val="0B1C3A"/>
                </a:solidFill>
                <a:latin typeface="Georgia" pitchFamily="34" charset="0"/>
                <a:ea typeface="Georgia" pitchFamily="34" charset="-122"/>
                <a:cs typeface="Georgia" pitchFamily="34" charset="-120"/>
              </a:rPr>
              <a:t>April was a monitor.</a:t>
            </a:r>
            <a:endParaRPr lang="en-US" sz="2200" dirty="0"/>
          </a:p>
        </p:txBody>
      </p:sp>
      <p:sp>
        <p:nvSpPr>
          <p:cNvPr id="10" name="Text 8"/>
          <p:cNvSpPr/>
          <p:nvPr/>
        </p:nvSpPr>
        <p:spPr>
          <a:xfrm>
            <a:off x="2011680" y="2057400"/>
            <a:ext cx="9418320" cy="64008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We shipped 10 regex rules, an SQLite ledger, and a working ClawHavoc demo. Catch attacks after they fire — useful for forensics, not for prevention.</a:t>
            </a:r>
            <a:endParaRPr lang="en-US" sz="1300" dirty="0"/>
          </a:p>
        </p:txBody>
      </p:sp>
      <p:sp>
        <p:nvSpPr>
          <p:cNvPr id="11" name="Shape 9"/>
          <p:cNvSpPr/>
          <p:nvPr/>
        </p:nvSpPr>
        <p:spPr>
          <a:xfrm>
            <a:off x="457200" y="2971800"/>
            <a:ext cx="11247120" cy="1371600"/>
          </a:xfrm>
          <a:prstGeom prst="rect">
            <a:avLst/>
          </a:prstGeom>
          <a:solidFill>
            <a:srgbClr val="FFFFFF"/>
          </a:solidFill>
          <a:ln w="12700">
            <a:solidFill>
              <a:srgbClr val="C9D6EC"/>
            </a:solidFill>
            <a:prstDash val="solid"/>
          </a:ln>
        </p:spPr>
      </p:sp>
      <p:sp>
        <p:nvSpPr>
          <p:cNvPr id="12" name="Shape 10"/>
          <p:cNvSpPr/>
          <p:nvPr/>
        </p:nvSpPr>
        <p:spPr>
          <a:xfrm>
            <a:off x="457200" y="2971800"/>
            <a:ext cx="109728" cy="1371600"/>
          </a:xfrm>
          <a:prstGeom prst="rect">
            <a:avLst/>
          </a:prstGeom>
          <a:solidFill>
            <a:srgbClr val="2A9D8F"/>
          </a:solidFill>
          <a:ln w="12700">
            <a:solidFill>
              <a:srgbClr val="333333"/>
            </a:solidFill>
            <a:prstDash val="solid"/>
          </a:ln>
        </p:spPr>
      </p:sp>
      <p:sp>
        <p:nvSpPr>
          <p:cNvPr id="13" name="Text 11"/>
          <p:cNvSpPr/>
          <p:nvPr/>
        </p:nvSpPr>
        <p:spPr>
          <a:xfrm>
            <a:off x="822960" y="3108960"/>
            <a:ext cx="1097280" cy="1097280"/>
          </a:xfrm>
          <a:prstGeom prst="rect">
            <a:avLst/>
          </a:prstGeom>
          <a:noFill/>
          <a:ln/>
        </p:spPr>
        <p:txBody>
          <a:bodyPr wrap="square" lIns="0" tIns="0" rIns="0" bIns="0" rtlCol="0" anchor="ctr"/>
          <a:lstStyle/>
          <a:p>
            <a:pPr indent="0" marL="0">
              <a:buNone/>
            </a:pPr>
            <a:r>
              <a:rPr lang="en-US" sz="6000" b="1" dirty="0">
                <a:solidFill>
                  <a:srgbClr val="2A9D8F"/>
                </a:solidFill>
                <a:latin typeface="Georgia" pitchFamily="34" charset="0"/>
                <a:ea typeface="Georgia" pitchFamily="34" charset="-122"/>
                <a:cs typeface="Georgia" pitchFamily="34" charset="-120"/>
              </a:rPr>
              <a:t>02</a:t>
            </a:r>
            <a:endParaRPr lang="en-US" sz="6000" dirty="0"/>
          </a:p>
        </p:txBody>
      </p:sp>
      <p:sp>
        <p:nvSpPr>
          <p:cNvPr id="14" name="Text 12"/>
          <p:cNvSpPr/>
          <p:nvPr/>
        </p:nvSpPr>
        <p:spPr>
          <a:xfrm>
            <a:off x="2011680" y="3154680"/>
            <a:ext cx="9418320" cy="457200"/>
          </a:xfrm>
          <a:prstGeom prst="rect">
            <a:avLst/>
          </a:prstGeom>
          <a:noFill/>
          <a:ln/>
        </p:spPr>
        <p:txBody>
          <a:bodyPr wrap="square" lIns="0" tIns="0" rIns="0" bIns="0" rtlCol="0" anchor="ctr"/>
          <a:lstStyle/>
          <a:p>
            <a:pPr indent="0" marL="0">
              <a:buNone/>
            </a:pPr>
            <a:r>
              <a:rPr lang="en-US" sz="2200" b="1" dirty="0">
                <a:solidFill>
                  <a:srgbClr val="0B1C3A"/>
                </a:solidFill>
                <a:latin typeface="Georgia" pitchFamily="34" charset="0"/>
                <a:ea typeface="Georgia" pitchFamily="34" charset="-122"/>
                <a:cs typeface="Georgia" pitchFamily="34" charset="-120"/>
              </a:rPr>
              <a:t>May is a parliament.</a:t>
            </a:r>
            <a:endParaRPr lang="en-US" sz="2200" dirty="0"/>
          </a:p>
        </p:txBody>
      </p:sp>
      <p:sp>
        <p:nvSpPr>
          <p:cNvPr id="15" name="Text 13"/>
          <p:cNvSpPr/>
          <p:nvPr/>
        </p:nvSpPr>
        <p:spPr>
          <a:xfrm>
            <a:off x="2011680" y="3611880"/>
            <a:ext cx="9418320" cy="64008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Four embedding-based ministers (EXECUTOR · VAULT · CHANNEL · NAVIGATOR), a COMPASS alignment oracle, a deterministic speaker, and a 200-pattern v2 corpus written from MITRE ATT&amp;CK rather than from a known attack.</a:t>
            </a:r>
            <a:endParaRPr lang="en-US" sz="1300" dirty="0"/>
          </a:p>
        </p:txBody>
      </p:sp>
      <p:sp>
        <p:nvSpPr>
          <p:cNvPr id="16" name="Shape 14"/>
          <p:cNvSpPr/>
          <p:nvPr/>
        </p:nvSpPr>
        <p:spPr>
          <a:xfrm>
            <a:off x="457200" y="4526280"/>
            <a:ext cx="11247120" cy="1371600"/>
          </a:xfrm>
          <a:prstGeom prst="rect">
            <a:avLst/>
          </a:prstGeom>
          <a:solidFill>
            <a:srgbClr val="FFFFFF"/>
          </a:solidFill>
          <a:ln w="12700">
            <a:solidFill>
              <a:srgbClr val="C9D6EC"/>
            </a:solidFill>
            <a:prstDash val="solid"/>
          </a:ln>
        </p:spPr>
      </p:sp>
      <p:sp>
        <p:nvSpPr>
          <p:cNvPr id="17" name="Shape 15"/>
          <p:cNvSpPr/>
          <p:nvPr/>
        </p:nvSpPr>
        <p:spPr>
          <a:xfrm>
            <a:off x="457200" y="4526280"/>
            <a:ext cx="109728" cy="1371600"/>
          </a:xfrm>
          <a:prstGeom prst="rect">
            <a:avLst/>
          </a:prstGeom>
          <a:solidFill>
            <a:srgbClr val="E9C46A"/>
          </a:solidFill>
          <a:ln w="12700">
            <a:solidFill>
              <a:srgbClr val="333333"/>
            </a:solidFill>
            <a:prstDash val="solid"/>
          </a:ln>
        </p:spPr>
      </p:sp>
      <p:sp>
        <p:nvSpPr>
          <p:cNvPr id="18" name="Text 16"/>
          <p:cNvSpPr/>
          <p:nvPr/>
        </p:nvSpPr>
        <p:spPr>
          <a:xfrm>
            <a:off x="822960" y="4663440"/>
            <a:ext cx="1097280" cy="1097280"/>
          </a:xfrm>
          <a:prstGeom prst="rect">
            <a:avLst/>
          </a:prstGeom>
          <a:noFill/>
          <a:ln/>
        </p:spPr>
        <p:txBody>
          <a:bodyPr wrap="square" lIns="0" tIns="0" rIns="0" bIns="0" rtlCol="0" anchor="ctr"/>
          <a:lstStyle/>
          <a:p>
            <a:pPr indent="0" marL="0">
              <a:buNone/>
            </a:pPr>
            <a:r>
              <a:rPr lang="en-US" sz="6000" b="1" dirty="0">
                <a:solidFill>
                  <a:srgbClr val="E9C46A"/>
                </a:solidFill>
                <a:latin typeface="Georgia" pitchFamily="34" charset="0"/>
                <a:ea typeface="Georgia" pitchFamily="34" charset="-122"/>
                <a:cs typeface="Georgia" pitchFamily="34" charset="-120"/>
              </a:rPr>
              <a:t>03</a:t>
            </a:r>
            <a:endParaRPr lang="en-US" sz="6000" dirty="0"/>
          </a:p>
        </p:txBody>
      </p:sp>
      <p:sp>
        <p:nvSpPr>
          <p:cNvPr id="19" name="Text 17"/>
          <p:cNvSpPr/>
          <p:nvPr/>
        </p:nvSpPr>
        <p:spPr>
          <a:xfrm>
            <a:off x="2011680" y="4709160"/>
            <a:ext cx="9418320" cy="457200"/>
          </a:xfrm>
          <a:prstGeom prst="rect">
            <a:avLst/>
          </a:prstGeom>
          <a:noFill/>
          <a:ln/>
        </p:spPr>
        <p:txBody>
          <a:bodyPr wrap="square" lIns="0" tIns="0" rIns="0" bIns="0" rtlCol="0" anchor="ctr"/>
          <a:lstStyle/>
          <a:p>
            <a:pPr indent="0" marL="0">
              <a:buNone/>
            </a:pPr>
            <a:r>
              <a:rPr lang="en-US" sz="2200" b="1" dirty="0">
                <a:solidFill>
                  <a:srgbClr val="0B1C3A"/>
                </a:solidFill>
                <a:latin typeface="Georgia" pitchFamily="34" charset="0"/>
                <a:ea typeface="Georgia" pitchFamily="34" charset="-122"/>
                <a:cs typeface="Georgia" pitchFamily="34" charset="-120"/>
              </a:rPr>
              <a:t>June is real-time enforcement.</a:t>
            </a:r>
            <a:endParaRPr lang="en-US" sz="2200" dirty="0"/>
          </a:p>
        </p:txBody>
      </p:sp>
      <p:sp>
        <p:nvSpPr>
          <p:cNvPr id="20" name="Text 18"/>
          <p:cNvSpPr/>
          <p:nvPr/>
        </p:nvSpPr>
        <p:spPr>
          <a:xfrm>
            <a:off x="2011680" y="5166360"/>
            <a:ext cx="9418320" cy="64008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OpenClaw PR-1 fixes the two upstream bugs that prevent before_tool_call from firing. With those landed, every tool call routes through the parliament before execution.</a:t>
            </a:r>
            <a:endParaRPr lang="en-US" sz="1300" dirty="0"/>
          </a:p>
        </p:txBody>
      </p:sp>
      <p:sp>
        <p:nvSpPr>
          <p:cNvPr id="21" name="Text 19"/>
          <p:cNvSpPr/>
          <p:nvPr/>
        </p:nvSpPr>
        <p:spPr>
          <a:xfrm>
            <a:off x="457200" y="6263640"/>
            <a:ext cx="11247120" cy="365760"/>
          </a:xfrm>
          <a:prstGeom prst="rect">
            <a:avLst/>
          </a:prstGeom>
          <a:noFill/>
          <a:ln/>
        </p:spPr>
        <p:txBody>
          <a:bodyPr wrap="square" lIns="0" tIns="0" rIns="0" bIns="0" rtlCol="0" anchor="ctr"/>
          <a:lstStyle/>
          <a:p>
            <a:pPr algn="ctr" indent="0" marL="0">
              <a:buNone/>
            </a:pPr>
            <a:r>
              <a:rPr lang="en-US" sz="1200" i="1" dirty="0">
                <a:solidFill>
                  <a:srgbClr val="5A6B85"/>
                </a:solidFill>
                <a:latin typeface="Calibri" pitchFamily="34" charset="0"/>
                <a:ea typeface="Calibri" pitchFamily="34" charset="-122"/>
                <a:cs typeface="Calibri" pitchFamily="34" charset="-120"/>
              </a:rPr>
              <a:t>The single most important thing right now: fix the OpenClaw bugs so before_tool_call actually fires. Everything else is downstream.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03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02  ·  RECAP — APRIL BASELINE</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What the April demo showed</a:t>
            </a:r>
            <a:endParaRPr lang="en-US" sz="3000" dirty="0"/>
          </a:p>
        </p:txBody>
      </p:sp>
      <p:sp>
        <p:nvSpPr>
          <p:cNvPr id="6" name="Text 4"/>
          <p:cNvSpPr/>
          <p:nvPr/>
        </p:nvSpPr>
        <p:spPr>
          <a:xfrm>
            <a:off x="457200" y="1188720"/>
            <a:ext cx="11247120" cy="36576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The blue deck delivered Phase 1 — a post-hoc detection monitor backed by 10 CVE-mapped regex rules.</a:t>
            </a:r>
            <a:endParaRPr lang="en-US" sz="1400" dirty="0"/>
          </a:p>
        </p:txBody>
      </p:sp>
      <p:sp>
        <p:nvSpPr>
          <p:cNvPr id="7" name="Shape 5"/>
          <p:cNvSpPr/>
          <p:nvPr/>
        </p:nvSpPr>
        <p:spPr>
          <a:xfrm>
            <a:off x="457200" y="1691640"/>
            <a:ext cx="5486400" cy="4572000"/>
          </a:xfrm>
          <a:prstGeom prst="rect">
            <a:avLst/>
          </a:prstGeom>
          <a:solidFill>
            <a:srgbClr val="FFFFFF"/>
          </a:solidFill>
          <a:ln w="12700">
            <a:solidFill>
              <a:srgbClr val="C9D6EC"/>
            </a:solidFill>
            <a:prstDash val="solid"/>
          </a:ln>
        </p:spPr>
      </p:sp>
      <p:sp>
        <p:nvSpPr>
          <p:cNvPr id="8" name="Shape 6"/>
          <p:cNvSpPr/>
          <p:nvPr/>
        </p:nvSpPr>
        <p:spPr>
          <a:xfrm>
            <a:off x="457200" y="1691640"/>
            <a:ext cx="5486400" cy="457200"/>
          </a:xfrm>
          <a:prstGeom prst="rect">
            <a:avLst/>
          </a:prstGeom>
          <a:solidFill>
            <a:srgbClr val="2A9D8F"/>
          </a:solidFill>
          <a:ln w="12700">
            <a:solidFill>
              <a:srgbClr val="333333"/>
            </a:solidFill>
            <a:prstDash val="solid"/>
          </a:ln>
        </p:spPr>
      </p:sp>
      <p:pic>
        <p:nvPicPr>
          <p:cNvPr id="9" name="Image 0" descr="preencoded.png">    </p:cNvPr>
          <p:cNvPicPr>
            <a:picLocks noChangeAspect="1"/>
          </p:cNvPicPr>
          <p:nvPr/>
        </p:nvPicPr>
        <p:blipFill>
          <a:blip r:embed="rId1"/>
          <a:stretch>
            <a:fillRect/>
          </a:stretch>
        </p:blipFill>
        <p:spPr>
          <a:xfrm>
            <a:off x="640080" y="1783080"/>
            <a:ext cx="274320" cy="274320"/>
          </a:xfrm>
          <a:prstGeom prst="rect">
            <a:avLst/>
          </a:prstGeom>
        </p:spPr>
      </p:pic>
      <p:sp>
        <p:nvSpPr>
          <p:cNvPr id="10" name="Text 7"/>
          <p:cNvSpPr/>
          <p:nvPr/>
        </p:nvSpPr>
        <p:spPr>
          <a:xfrm>
            <a:off x="1005840" y="1691640"/>
            <a:ext cx="4937760" cy="457200"/>
          </a:xfrm>
          <a:prstGeom prst="rect">
            <a:avLst/>
          </a:prstGeom>
          <a:noFill/>
          <a:ln/>
        </p:spPr>
        <p:txBody>
          <a:bodyPr wrap="square" lIns="0" tIns="0" rIns="0" bIns="0" rtlCol="0" anchor="ctr"/>
          <a:lstStyle/>
          <a:p>
            <a:pPr indent="0" marL="0">
              <a:buNone/>
            </a:pPr>
            <a:r>
              <a:rPr lang="en-US" sz="1300" b="1" spc="400" kern="0" dirty="0">
                <a:solidFill>
                  <a:srgbClr val="ECF1F9"/>
                </a:solidFill>
                <a:latin typeface="Calibri" pitchFamily="34" charset="0"/>
                <a:ea typeface="Calibri" pitchFamily="34" charset="-122"/>
                <a:cs typeface="Calibri" pitchFamily="34" charset="-120"/>
              </a:rPr>
              <a:t>WHAT SHIPPED</a:t>
            </a:r>
            <a:endParaRPr lang="en-US" sz="1300" dirty="0"/>
          </a:p>
        </p:txBody>
      </p:sp>
      <p:sp>
        <p:nvSpPr>
          <p:cNvPr id="11" name="Text 8"/>
          <p:cNvSpPr/>
          <p:nvPr/>
        </p:nvSpPr>
        <p:spPr>
          <a:xfrm>
            <a:off x="685800" y="233172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10 regex rules</a:t>
            </a:r>
            <a:endParaRPr lang="en-US" sz="1400" dirty="0"/>
          </a:p>
        </p:txBody>
      </p:sp>
      <p:sp>
        <p:nvSpPr>
          <p:cNvPr id="12" name="Text 9"/>
          <p:cNvSpPr/>
          <p:nvPr/>
        </p:nvSpPr>
        <p:spPr>
          <a:xfrm>
            <a:off x="685800" y="262432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Each mapped to a CVE or CWE: external fetch, pipe-to-shell, SSH key access, persistence, secrets, sandbox-disabled.</a:t>
            </a:r>
            <a:endParaRPr lang="en-US" sz="1100" dirty="0"/>
          </a:p>
        </p:txBody>
      </p:sp>
      <p:sp>
        <p:nvSpPr>
          <p:cNvPr id="13" name="Text 10"/>
          <p:cNvSpPr/>
          <p:nvPr/>
        </p:nvSpPr>
        <p:spPr>
          <a:xfrm>
            <a:off x="685800" y="310896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SQLite audit ledger</a:t>
            </a:r>
            <a:endParaRPr lang="en-US" sz="1400" dirty="0"/>
          </a:p>
        </p:txBody>
      </p:sp>
      <p:sp>
        <p:nvSpPr>
          <p:cNvPr id="14" name="Text 11"/>
          <p:cNvSpPr/>
          <p:nvPr/>
        </p:nvSpPr>
        <p:spPr>
          <a:xfrm>
            <a:off x="685800" y="340156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Every detection logged with session, turn, verdict, matched rule, CVE.</a:t>
            </a:r>
            <a:endParaRPr lang="en-US" sz="1100" dirty="0"/>
          </a:p>
        </p:txBody>
      </p:sp>
      <p:sp>
        <p:nvSpPr>
          <p:cNvPr id="15" name="Text 12"/>
          <p:cNvSpPr/>
          <p:nvPr/>
        </p:nvSpPr>
        <p:spPr>
          <a:xfrm>
            <a:off x="685800" y="388620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Stateful retry detection</a:t>
            </a:r>
            <a:endParaRPr lang="en-US" sz="1400" dirty="0"/>
          </a:p>
        </p:txBody>
      </p:sp>
      <p:sp>
        <p:nvSpPr>
          <p:cNvPr id="16" name="Text 13"/>
          <p:cNvSpPr/>
          <p:nvPr/>
        </p:nvSpPr>
        <p:spPr>
          <a:xfrm>
            <a:off x="685800" y="417880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A flag-changed retry of a previously blocked call is recognized.</a:t>
            </a:r>
            <a:endParaRPr lang="en-US" sz="1100" dirty="0"/>
          </a:p>
        </p:txBody>
      </p:sp>
      <p:sp>
        <p:nvSpPr>
          <p:cNvPr id="17" name="Text 14"/>
          <p:cNvSpPr/>
          <p:nvPr/>
        </p:nvSpPr>
        <p:spPr>
          <a:xfrm>
            <a:off x="685800" y="466344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ClawHavoc demo</a:t>
            </a:r>
            <a:endParaRPr lang="en-US" sz="1400" dirty="0"/>
          </a:p>
        </p:txBody>
      </p:sp>
      <p:sp>
        <p:nvSpPr>
          <p:cNvPr id="18" name="Text 15"/>
          <p:cNvSpPr/>
          <p:nvPr/>
        </p:nvSpPr>
        <p:spPr>
          <a:xfrm>
            <a:off x="685800" y="495604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End-to-end playback of CVE-2026-25253: a curl-pipe-bash hidden in a skill's prerequisites.</a:t>
            </a:r>
            <a:endParaRPr lang="en-US" sz="1100" dirty="0"/>
          </a:p>
        </p:txBody>
      </p:sp>
      <p:sp>
        <p:nvSpPr>
          <p:cNvPr id="19" name="Text 16"/>
          <p:cNvSpPr/>
          <p:nvPr/>
        </p:nvSpPr>
        <p:spPr>
          <a:xfrm>
            <a:off x="685800" y="544068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~500 lines of Python</a:t>
            </a:r>
            <a:endParaRPr lang="en-US" sz="1400" dirty="0"/>
          </a:p>
        </p:txBody>
      </p:sp>
      <p:sp>
        <p:nvSpPr>
          <p:cNvPr id="20" name="Text 17"/>
          <p:cNvSpPr/>
          <p:nvPr/>
        </p:nvSpPr>
        <p:spPr>
          <a:xfrm>
            <a:off x="685800" y="573328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Tails session.jsonl that OpenClaw already writes — no patches, no wrappers.</a:t>
            </a:r>
            <a:endParaRPr lang="en-US" sz="1100" dirty="0"/>
          </a:p>
        </p:txBody>
      </p:sp>
      <p:sp>
        <p:nvSpPr>
          <p:cNvPr id="21" name="Shape 18"/>
          <p:cNvSpPr/>
          <p:nvPr/>
        </p:nvSpPr>
        <p:spPr>
          <a:xfrm>
            <a:off x="6263640" y="1691640"/>
            <a:ext cx="5486400" cy="4572000"/>
          </a:xfrm>
          <a:prstGeom prst="rect">
            <a:avLst/>
          </a:prstGeom>
          <a:solidFill>
            <a:srgbClr val="FFFFFF"/>
          </a:solidFill>
          <a:ln w="12700">
            <a:solidFill>
              <a:srgbClr val="C9D6EC"/>
            </a:solidFill>
            <a:prstDash val="solid"/>
          </a:ln>
        </p:spPr>
      </p:sp>
      <p:sp>
        <p:nvSpPr>
          <p:cNvPr id="22" name="Shape 19"/>
          <p:cNvSpPr/>
          <p:nvPr/>
        </p:nvSpPr>
        <p:spPr>
          <a:xfrm>
            <a:off x="6263640" y="1691640"/>
            <a:ext cx="5486400" cy="457200"/>
          </a:xfrm>
          <a:prstGeom prst="rect">
            <a:avLst/>
          </a:prstGeom>
          <a:solidFill>
            <a:srgbClr val="E63946"/>
          </a:solidFill>
          <a:ln w="12700">
            <a:solidFill>
              <a:srgbClr val="333333"/>
            </a:solidFill>
            <a:prstDash val="solid"/>
          </a:ln>
        </p:spPr>
      </p:sp>
      <p:pic>
        <p:nvPicPr>
          <p:cNvPr id="23" name="Image 1" descr="preencoded.png">    </p:cNvPr>
          <p:cNvPicPr>
            <a:picLocks noChangeAspect="1"/>
          </p:cNvPicPr>
          <p:nvPr/>
        </p:nvPicPr>
        <p:blipFill>
          <a:blip r:embed="rId2"/>
          <a:stretch>
            <a:fillRect/>
          </a:stretch>
        </p:blipFill>
        <p:spPr>
          <a:xfrm>
            <a:off x="6446520" y="1783080"/>
            <a:ext cx="274320" cy="274320"/>
          </a:xfrm>
          <a:prstGeom prst="rect">
            <a:avLst/>
          </a:prstGeom>
        </p:spPr>
      </p:pic>
      <p:sp>
        <p:nvSpPr>
          <p:cNvPr id="24" name="Text 20"/>
          <p:cNvSpPr/>
          <p:nvPr/>
        </p:nvSpPr>
        <p:spPr>
          <a:xfrm>
            <a:off x="6812280" y="1691640"/>
            <a:ext cx="4937760" cy="457200"/>
          </a:xfrm>
          <a:prstGeom prst="rect">
            <a:avLst/>
          </a:prstGeom>
          <a:noFill/>
          <a:ln/>
        </p:spPr>
        <p:txBody>
          <a:bodyPr wrap="square" lIns="0" tIns="0" rIns="0" bIns="0" rtlCol="0" anchor="ctr"/>
          <a:lstStyle/>
          <a:p>
            <a:pPr indent="0" marL="0">
              <a:buNone/>
            </a:pPr>
            <a:r>
              <a:rPr lang="en-US" sz="1300" b="1" spc="400" kern="0" dirty="0">
                <a:solidFill>
                  <a:srgbClr val="ECF1F9"/>
                </a:solidFill>
                <a:latin typeface="Calibri" pitchFamily="34" charset="0"/>
                <a:ea typeface="Calibri" pitchFamily="34" charset="-122"/>
                <a:cs typeface="Calibri" pitchFamily="34" charset="-120"/>
              </a:rPr>
              <a:t>WHAT WAS HONESTLY MISSING</a:t>
            </a:r>
            <a:endParaRPr lang="en-US" sz="1300" dirty="0"/>
          </a:p>
        </p:txBody>
      </p:sp>
      <p:sp>
        <p:nvSpPr>
          <p:cNvPr id="25" name="Text 21"/>
          <p:cNvSpPr/>
          <p:nvPr/>
        </p:nvSpPr>
        <p:spPr>
          <a:xfrm>
            <a:off x="6492240" y="233172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No real-time interception</a:t>
            </a:r>
            <a:endParaRPr lang="en-US" sz="1400" dirty="0"/>
          </a:p>
        </p:txBody>
      </p:sp>
      <p:sp>
        <p:nvSpPr>
          <p:cNvPr id="26" name="Text 22"/>
          <p:cNvSpPr/>
          <p:nvPr/>
        </p:nvSpPr>
        <p:spPr>
          <a:xfrm>
            <a:off x="6492240" y="262432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Detection happens after the tool already executed. This is a forensics tool, not a guardrail.</a:t>
            </a:r>
            <a:endParaRPr lang="en-US" sz="1100" dirty="0"/>
          </a:p>
        </p:txBody>
      </p:sp>
      <p:sp>
        <p:nvSpPr>
          <p:cNvPr id="27" name="Text 23"/>
          <p:cNvSpPr/>
          <p:nvPr/>
        </p:nvSpPr>
        <p:spPr>
          <a:xfrm>
            <a:off x="6492240" y="310896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No semantic generalization</a:t>
            </a:r>
            <a:endParaRPr lang="en-US" sz="1400" dirty="0"/>
          </a:p>
        </p:txBody>
      </p:sp>
      <p:sp>
        <p:nvSpPr>
          <p:cNvPr id="28" name="Text 24"/>
          <p:cNvSpPr/>
          <p:nvPr/>
        </p:nvSpPr>
        <p:spPr>
          <a:xfrm>
            <a:off x="6492240" y="340156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Regex on tool names. Does not catch a novel command achieving the same intent.</a:t>
            </a:r>
            <a:endParaRPr lang="en-US" sz="1100" dirty="0"/>
          </a:p>
        </p:txBody>
      </p:sp>
      <p:sp>
        <p:nvSpPr>
          <p:cNvPr id="29" name="Text 25"/>
          <p:cNvSpPr/>
          <p:nvPr/>
        </p:nvSpPr>
        <p:spPr>
          <a:xfrm>
            <a:off x="6492240" y="388620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No benchmark numbers</a:t>
            </a:r>
            <a:endParaRPr lang="en-US" sz="1400" dirty="0"/>
          </a:p>
        </p:txBody>
      </p:sp>
      <p:sp>
        <p:nvSpPr>
          <p:cNvPr id="30" name="Text 26"/>
          <p:cNvSpPr/>
          <p:nvPr/>
        </p:nvSpPr>
        <p:spPr>
          <a:xfrm>
            <a:off x="6492240" y="417880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Zero recall, precision, FPR, or latency measurements.</a:t>
            </a:r>
            <a:endParaRPr lang="en-US" sz="1100" dirty="0"/>
          </a:p>
        </p:txBody>
      </p:sp>
      <p:sp>
        <p:nvSpPr>
          <p:cNvPr id="31" name="Text 27"/>
          <p:cNvSpPr/>
          <p:nvPr/>
        </p:nvSpPr>
        <p:spPr>
          <a:xfrm>
            <a:off x="6492240" y="466344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No proof of corpus generalization</a:t>
            </a:r>
            <a:endParaRPr lang="en-US" sz="1400" dirty="0"/>
          </a:p>
        </p:txBody>
      </p:sp>
      <p:sp>
        <p:nvSpPr>
          <p:cNvPr id="32" name="Text 28"/>
          <p:cNvSpPr/>
          <p:nvPr/>
        </p:nvSpPr>
        <p:spPr>
          <a:xfrm>
            <a:off x="6492240" y="495604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Rules were written staring at known attacks — sophisticated keyword matching, not understanding.</a:t>
            </a:r>
            <a:endParaRPr lang="en-US" sz="1100" dirty="0"/>
          </a:p>
        </p:txBody>
      </p:sp>
      <p:sp>
        <p:nvSpPr>
          <p:cNvPr id="33" name="Text 29"/>
          <p:cNvSpPr/>
          <p:nvPr/>
        </p:nvSpPr>
        <p:spPr>
          <a:xfrm>
            <a:off x="6492240" y="5440680"/>
            <a:ext cx="5120640" cy="274320"/>
          </a:xfrm>
          <a:prstGeom prst="rect">
            <a:avLst/>
          </a:prstGeom>
          <a:noFill/>
          <a:ln/>
        </p:spPr>
        <p:txBody>
          <a:bodyPr wrap="square" lIns="0" tIns="0" rIns="0" bIns="0" rtlCol="0" anchor="ctr"/>
          <a:lstStyle/>
          <a:p>
            <a:pPr indent="0" marL="0">
              <a:buNone/>
            </a:pPr>
            <a:r>
              <a:rPr lang="en-US" sz="1400" b="1" dirty="0">
                <a:solidFill>
                  <a:srgbClr val="0B1C3A"/>
                </a:solidFill>
                <a:latin typeface="Calibri" pitchFamily="34" charset="0"/>
                <a:ea typeface="Calibri" pitchFamily="34" charset="-122"/>
                <a:cs typeface="Calibri" pitchFamily="34" charset="-120"/>
              </a:rPr>
              <a:t>Upstream RFCs were redundant</a:t>
            </a:r>
            <a:endParaRPr lang="en-US" sz="1400" dirty="0"/>
          </a:p>
        </p:txBody>
      </p:sp>
      <p:sp>
        <p:nvSpPr>
          <p:cNvPr id="34" name="Text 30"/>
          <p:cNvSpPr/>
          <p:nvPr/>
        </p:nvSpPr>
        <p:spPr>
          <a:xfrm>
            <a:off x="6492240" y="5733288"/>
            <a:ext cx="5120640" cy="45720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We proposed before_delivery; the OpenClaw SDK already has message_sending. The real bug is elsewhere.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04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03  ·  THE HONEST RECKONING</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The decision we made between April and May</a:t>
            </a:r>
            <a:endParaRPr lang="en-US" sz="3000" dirty="0"/>
          </a:p>
        </p:txBody>
      </p:sp>
      <p:sp>
        <p:nvSpPr>
          <p:cNvPr id="6" name="Text 4"/>
          <p:cNvSpPr/>
          <p:nvPr/>
        </p:nvSpPr>
        <p:spPr>
          <a:xfrm>
            <a:off x="457200" y="1234440"/>
            <a:ext cx="11247120" cy="64008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If we ship a benchmark of regex rules tested on the attacks the regex was written for, we will be cited against the project at review time. So we stopped, listed what was actually wrong, and rebuilt.</a:t>
            </a:r>
            <a:endParaRPr lang="en-US" sz="1400" dirty="0"/>
          </a:p>
        </p:txBody>
      </p:sp>
      <p:sp>
        <p:nvSpPr>
          <p:cNvPr id="7" name="Shape 5"/>
          <p:cNvSpPr/>
          <p:nvPr/>
        </p:nvSpPr>
        <p:spPr>
          <a:xfrm>
            <a:off x="457200" y="2057400"/>
            <a:ext cx="3657600" cy="4206240"/>
          </a:xfrm>
          <a:prstGeom prst="rect">
            <a:avLst/>
          </a:prstGeom>
          <a:solidFill>
            <a:srgbClr val="FFFFFF"/>
          </a:solidFill>
          <a:ln w="12700">
            <a:solidFill>
              <a:srgbClr val="C9D6EC"/>
            </a:solidFill>
            <a:prstDash val="solid"/>
          </a:ln>
        </p:spPr>
      </p:sp>
      <p:sp>
        <p:nvSpPr>
          <p:cNvPr id="8" name="Shape 6"/>
          <p:cNvSpPr/>
          <p:nvPr/>
        </p:nvSpPr>
        <p:spPr>
          <a:xfrm>
            <a:off x="457200" y="2057400"/>
            <a:ext cx="3657600" cy="73152"/>
          </a:xfrm>
          <a:prstGeom prst="rect">
            <a:avLst/>
          </a:prstGeom>
          <a:solidFill>
            <a:srgbClr val="E63946"/>
          </a:solidFill>
          <a:ln w="12700">
            <a:solidFill>
              <a:srgbClr val="333333"/>
            </a:solidFill>
            <a:prstDash val="solid"/>
          </a:ln>
        </p:spPr>
      </p:sp>
      <p:sp>
        <p:nvSpPr>
          <p:cNvPr id="9" name="Text 7"/>
          <p:cNvSpPr/>
          <p:nvPr/>
        </p:nvSpPr>
        <p:spPr>
          <a:xfrm>
            <a:off x="685800" y="2240280"/>
            <a:ext cx="3200400" cy="274320"/>
          </a:xfrm>
          <a:prstGeom prst="rect">
            <a:avLst/>
          </a:prstGeom>
          <a:noFill/>
          <a:ln/>
        </p:spPr>
        <p:txBody>
          <a:bodyPr wrap="square" lIns="0" tIns="0" rIns="0" bIns="0" rtlCol="0" anchor="ctr"/>
          <a:lstStyle/>
          <a:p>
            <a:pPr indent="0" marL="0">
              <a:buNone/>
            </a:pPr>
            <a:r>
              <a:rPr lang="en-US" sz="1000" b="1" spc="400" kern="0" dirty="0">
                <a:solidFill>
                  <a:srgbClr val="E63946"/>
                </a:solidFill>
                <a:latin typeface="Calibri" pitchFamily="34" charset="0"/>
                <a:ea typeface="Calibri" pitchFamily="34" charset="-122"/>
                <a:cs typeface="Calibri" pitchFamily="34" charset="-120"/>
              </a:rPr>
              <a:t>DIAGNOSIS</a:t>
            </a:r>
            <a:endParaRPr lang="en-US" sz="1000" dirty="0"/>
          </a:p>
        </p:txBody>
      </p:sp>
      <p:pic>
        <p:nvPicPr>
          <p:cNvPr id="10" name="Image 0" descr="preencoded.png">    </p:cNvPr>
          <p:cNvPicPr>
            <a:picLocks noChangeAspect="1"/>
          </p:cNvPicPr>
          <p:nvPr/>
        </p:nvPicPr>
        <p:blipFill>
          <a:blip r:embed="rId1"/>
          <a:stretch>
            <a:fillRect/>
          </a:stretch>
        </p:blipFill>
        <p:spPr>
          <a:xfrm>
            <a:off x="685800" y="2606040"/>
            <a:ext cx="365760" cy="365760"/>
          </a:xfrm>
          <a:prstGeom prst="rect">
            <a:avLst/>
          </a:prstGeom>
        </p:spPr>
      </p:pic>
      <p:sp>
        <p:nvSpPr>
          <p:cNvPr id="11" name="Text 8"/>
          <p:cNvSpPr/>
          <p:nvPr/>
        </p:nvSpPr>
        <p:spPr>
          <a:xfrm>
            <a:off x="1188720" y="2587752"/>
            <a:ext cx="2743200" cy="457200"/>
          </a:xfrm>
          <a:prstGeom prst="rect">
            <a:avLst/>
          </a:prstGeom>
          <a:noFill/>
          <a:ln/>
        </p:spPr>
        <p:txBody>
          <a:bodyPr wrap="square" lIns="0" tIns="0" rIns="0" bIns="0" rtlCol="0" anchor="ctr"/>
          <a:lstStyle/>
          <a:p>
            <a:pPr indent="0" marL="0">
              <a:buNone/>
            </a:pPr>
            <a:r>
              <a:rPr lang="en-US" sz="1800" b="1" dirty="0">
                <a:solidFill>
                  <a:srgbClr val="0B1C3A"/>
                </a:solidFill>
                <a:latin typeface="Georgia" pitchFamily="34" charset="0"/>
                <a:ea typeface="Georgia" pitchFamily="34" charset="-122"/>
                <a:cs typeface="Georgia" pitchFamily="34" charset="-120"/>
              </a:rPr>
              <a:t>What was wrong</a:t>
            </a:r>
            <a:endParaRPr lang="en-US" sz="1800" dirty="0"/>
          </a:p>
        </p:txBody>
      </p:sp>
      <p:sp>
        <p:nvSpPr>
          <p:cNvPr id="12" name="Text 9"/>
          <p:cNvSpPr/>
          <p:nvPr/>
        </p:nvSpPr>
        <p:spPr>
          <a:xfrm>
            <a:off x="685800" y="3154680"/>
            <a:ext cx="3291840" cy="301752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Detection ran after execution. CVE-class harm was already done.</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The corpus was authored while looking at known attacks — sophisticated keyword matching.</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The proposed RFC duplicated an SDK feature. Wrong target.</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No FPR measurement. Could not distinguish a tight detector from a trigger-happy one.</a:t>
            </a:r>
            <a:endParaRPr lang="en-US" sz="1100" dirty="0"/>
          </a:p>
        </p:txBody>
      </p:sp>
      <p:sp>
        <p:nvSpPr>
          <p:cNvPr id="13" name="Shape 10"/>
          <p:cNvSpPr/>
          <p:nvPr/>
        </p:nvSpPr>
        <p:spPr>
          <a:xfrm>
            <a:off x="4297680" y="2057400"/>
            <a:ext cx="3657600" cy="4206240"/>
          </a:xfrm>
          <a:prstGeom prst="rect">
            <a:avLst/>
          </a:prstGeom>
          <a:solidFill>
            <a:srgbClr val="FFFFFF"/>
          </a:solidFill>
          <a:ln w="12700">
            <a:solidFill>
              <a:srgbClr val="C9D6EC"/>
            </a:solidFill>
            <a:prstDash val="solid"/>
          </a:ln>
        </p:spPr>
      </p:sp>
      <p:sp>
        <p:nvSpPr>
          <p:cNvPr id="14" name="Shape 11"/>
          <p:cNvSpPr/>
          <p:nvPr/>
        </p:nvSpPr>
        <p:spPr>
          <a:xfrm>
            <a:off x="4297680" y="2057400"/>
            <a:ext cx="3657600" cy="73152"/>
          </a:xfrm>
          <a:prstGeom prst="rect">
            <a:avLst/>
          </a:prstGeom>
          <a:solidFill>
            <a:srgbClr val="E9C46A"/>
          </a:solidFill>
          <a:ln w="12700">
            <a:solidFill>
              <a:srgbClr val="333333"/>
            </a:solidFill>
            <a:prstDash val="solid"/>
          </a:ln>
        </p:spPr>
      </p:sp>
      <p:sp>
        <p:nvSpPr>
          <p:cNvPr id="15" name="Text 12"/>
          <p:cNvSpPr/>
          <p:nvPr/>
        </p:nvSpPr>
        <p:spPr>
          <a:xfrm>
            <a:off x="4526280" y="2240280"/>
            <a:ext cx="3200400" cy="274320"/>
          </a:xfrm>
          <a:prstGeom prst="rect">
            <a:avLst/>
          </a:prstGeom>
          <a:noFill/>
          <a:ln/>
        </p:spPr>
        <p:txBody>
          <a:bodyPr wrap="square" lIns="0" tIns="0" rIns="0" bIns="0" rtlCol="0" anchor="ctr"/>
          <a:lstStyle/>
          <a:p>
            <a:pPr indent="0" marL="0">
              <a:buNone/>
            </a:pPr>
            <a:r>
              <a:rPr lang="en-US" sz="1000" b="1" spc="400" kern="0" dirty="0">
                <a:solidFill>
                  <a:srgbClr val="E9C46A"/>
                </a:solidFill>
                <a:latin typeface="Calibri" pitchFamily="34" charset="0"/>
                <a:ea typeface="Calibri" pitchFamily="34" charset="-122"/>
                <a:cs typeface="Calibri" pitchFamily="34" charset="-120"/>
              </a:rPr>
              <a:t>DECISION</a:t>
            </a:r>
            <a:endParaRPr lang="en-US" sz="1000" dirty="0"/>
          </a:p>
        </p:txBody>
      </p:sp>
      <p:pic>
        <p:nvPicPr>
          <p:cNvPr id="16" name="Image 1" descr="preencoded.png">    </p:cNvPr>
          <p:cNvPicPr>
            <a:picLocks noChangeAspect="1"/>
          </p:cNvPicPr>
          <p:nvPr/>
        </p:nvPicPr>
        <p:blipFill>
          <a:blip r:embed="rId2"/>
          <a:stretch>
            <a:fillRect/>
          </a:stretch>
        </p:blipFill>
        <p:spPr>
          <a:xfrm>
            <a:off x="4526280" y="2606040"/>
            <a:ext cx="365760" cy="365760"/>
          </a:xfrm>
          <a:prstGeom prst="rect">
            <a:avLst/>
          </a:prstGeom>
        </p:spPr>
      </p:pic>
      <p:sp>
        <p:nvSpPr>
          <p:cNvPr id="17" name="Text 13"/>
          <p:cNvSpPr/>
          <p:nvPr/>
        </p:nvSpPr>
        <p:spPr>
          <a:xfrm>
            <a:off x="5029200" y="2587752"/>
            <a:ext cx="2743200" cy="457200"/>
          </a:xfrm>
          <a:prstGeom prst="rect">
            <a:avLst/>
          </a:prstGeom>
          <a:noFill/>
          <a:ln/>
        </p:spPr>
        <p:txBody>
          <a:bodyPr wrap="square" lIns="0" tIns="0" rIns="0" bIns="0" rtlCol="0" anchor="ctr"/>
          <a:lstStyle/>
          <a:p>
            <a:pPr indent="0" marL="0">
              <a:buNone/>
            </a:pPr>
            <a:r>
              <a:rPr lang="en-US" sz="1800" b="1" dirty="0">
                <a:solidFill>
                  <a:srgbClr val="0B1C3A"/>
                </a:solidFill>
                <a:latin typeface="Georgia" pitchFamily="34" charset="0"/>
                <a:ea typeface="Georgia" pitchFamily="34" charset="-122"/>
                <a:cs typeface="Georgia" pitchFamily="34" charset="-120"/>
              </a:rPr>
              <a:t>What we changed</a:t>
            </a:r>
            <a:endParaRPr lang="en-US" sz="1800" dirty="0"/>
          </a:p>
        </p:txBody>
      </p:sp>
      <p:sp>
        <p:nvSpPr>
          <p:cNvPr id="18" name="Text 14"/>
          <p:cNvSpPr/>
          <p:nvPr/>
        </p:nvSpPr>
        <p:spPr>
          <a:xfrm>
            <a:off x="4526280" y="3154680"/>
            <a:ext cx="3291840" cy="301752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Move enforcement from after-tool to before-tool. Real interception or nothing.</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Rewrite the corpus from MITRE ATT&amp;CK and OWASP Agentic — never from a CVE we've seen.</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Drop the new-RFC plan; fix the two existing OpenClaw bugs that block before_tool_call.</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Add a benign-trace gate: FPR &lt; 5% before any attack benchmark runs.</a:t>
            </a:r>
            <a:endParaRPr lang="en-US" sz="1100" dirty="0"/>
          </a:p>
        </p:txBody>
      </p:sp>
      <p:sp>
        <p:nvSpPr>
          <p:cNvPr id="19" name="Shape 15"/>
          <p:cNvSpPr/>
          <p:nvPr/>
        </p:nvSpPr>
        <p:spPr>
          <a:xfrm>
            <a:off x="8138160" y="2057400"/>
            <a:ext cx="3657600" cy="4206240"/>
          </a:xfrm>
          <a:prstGeom prst="rect">
            <a:avLst/>
          </a:prstGeom>
          <a:solidFill>
            <a:srgbClr val="FFFFFF"/>
          </a:solidFill>
          <a:ln w="12700">
            <a:solidFill>
              <a:srgbClr val="C9D6EC"/>
            </a:solidFill>
            <a:prstDash val="solid"/>
          </a:ln>
        </p:spPr>
      </p:sp>
      <p:sp>
        <p:nvSpPr>
          <p:cNvPr id="20" name="Shape 16"/>
          <p:cNvSpPr/>
          <p:nvPr/>
        </p:nvSpPr>
        <p:spPr>
          <a:xfrm>
            <a:off x="8138160" y="2057400"/>
            <a:ext cx="3657600" cy="73152"/>
          </a:xfrm>
          <a:prstGeom prst="rect">
            <a:avLst/>
          </a:prstGeom>
          <a:solidFill>
            <a:srgbClr val="2A9D8F"/>
          </a:solidFill>
          <a:ln w="12700">
            <a:solidFill>
              <a:srgbClr val="333333"/>
            </a:solidFill>
            <a:prstDash val="solid"/>
          </a:ln>
        </p:spPr>
      </p:sp>
      <p:sp>
        <p:nvSpPr>
          <p:cNvPr id="21" name="Text 17"/>
          <p:cNvSpPr/>
          <p:nvPr/>
        </p:nvSpPr>
        <p:spPr>
          <a:xfrm>
            <a:off x="8366760" y="2240280"/>
            <a:ext cx="3200400" cy="274320"/>
          </a:xfrm>
          <a:prstGeom prst="rect">
            <a:avLst/>
          </a:prstGeom>
          <a:noFill/>
          <a:ln/>
        </p:spPr>
        <p:txBody>
          <a:bodyPr wrap="square" lIns="0" tIns="0" rIns="0" bIns="0" rtlCol="0" anchor="ctr"/>
          <a:lstStyle/>
          <a:p>
            <a:pPr indent="0" marL="0">
              <a:buNone/>
            </a:pPr>
            <a:r>
              <a:rPr lang="en-US" sz="1000" b="1" spc="400" kern="0" dirty="0">
                <a:solidFill>
                  <a:srgbClr val="2A9D8F"/>
                </a:solidFill>
                <a:latin typeface="Calibri" pitchFamily="34" charset="0"/>
                <a:ea typeface="Calibri" pitchFamily="34" charset="-122"/>
                <a:cs typeface="Calibri" pitchFamily="34" charset="-120"/>
              </a:rPr>
              <a:t>DELIVERY</a:t>
            </a:r>
            <a:endParaRPr lang="en-US" sz="1000" dirty="0"/>
          </a:p>
        </p:txBody>
      </p:sp>
      <p:pic>
        <p:nvPicPr>
          <p:cNvPr id="22" name="Image 2" descr="preencoded.png">    </p:cNvPr>
          <p:cNvPicPr>
            <a:picLocks noChangeAspect="1"/>
          </p:cNvPicPr>
          <p:nvPr/>
        </p:nvPicPr>
        <p:blipFill>
          <a:blip r:embed="rId3"/>
          <a:stretch>
            <a:fillRect/>
          </a:stretch>
        </p:blipFill>
        <p:spPr>
          <a:xfrm>
            <a:off x="8366760" y="2606040"/>
            <a:ext cx="365760" cy="365760"/>
          </a:xfrm>
          <a:prstGeom prst="rect">
            <a:avLst/>
          </a:prstGeom>
        </p:spPr>
      </p:pic>
      <p:sp>
        <p:nvSpPr>
          <p:cNvPr id="23" name="Text 18"/>
          <p:cNvSpPr/>
          <p:nvPr/>
        </p:nvSpPr>
        <p:spPr>
          <a:xfrm>
            <a:off x="8869680" y="2587752"/>
            <a:ext cx="2743200" cy="457200"/>
          </a:xfrm>
          <a:prstGeom prst="rect">
            <a:avLst/>
          </a:prstGeom>
          <a:noFill/>
          <a:ln/>
        </p:spPr>
        <p:txBody>
          <a:bodyPr wrap="square" lIns="0" tIns="0" rIns="0" bIns="0" rtlCol="0" anchor="ctr"/>
          <a:lstStyle/>
          <a:p>
            <a:pPr indent="0" marL="0">
              <a:buNone/>
            </a:pPr>
            <a:r>
              <a:rPr lang="en-US" sz="1800" b="1" dirty="0">
                <a:solidFill>
                  <a:srgbClr val="0B1C3A"/>
                </a:solidFill>
                <a:latin typeface="Georgia" pitchFamily="34" charset="0"/>
                <a:ea typeface="Georgia" pitchFamily="34" charset="-122"/>
                <a:cs typeface="Georgia" pitchFamily="34" charset="-120"/>
              </a:rPr>
              <a:t>What this slide deck shows</a:t>
            </a:r>
            <a:endParaRPr lang="en-US" sz="1800" dirty="0"/>
          </a:p>
        </p:txBody>
      </p:sp>
      <p:sp>
        <p:nvSpPr>
          <p:cNvPr id="24" name="Text 19"/>
          <p:cNvSpPr/>
          <p:nvPr/>
        </p:nvSpPr>
        <p:spPr>
          <a:xfrm>
            <a:off x="8366760" y="3154680"/>
            <a:ext cx="3291840" cy="301752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Parliament service with five collections and a deterministic speaker.</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200 v2 patterns; merge validates with zero protocol violations.</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PR-1 patch spec for OpenClaw bugs #5513 and #5943, with vitest regressions.</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Reproducibility checklist that orders the validation gates correctly.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05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04  ·  THE CRITICAL-PATH FIX</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Two upstream OpenClaw bugs are blocking everything</a:t>
            </a:r>
            <a:endParaRPr lang="en-US" sz="3000" dirty="0"/>
          </a:p>
        </p:txBody>
      </p:sp>
      <p:sp>
        <p:nvSpPr>
          <p:cNvPr id="6" name="Text 4"/>
          <p:cNvSpPr/>
          <p:nvPr/>
        </p:nvSpPr>
        <p:spPr>
          <a:xfrm>
            <a:off x="457200" y="1234440"/>
            <a:ext cx="11247120" cy="64008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Until before_tool_call actually fires, no security plugin (Kavach included) can be a real guardrail. PR-1 ships both fixes with vitest regressions.</a:t>
            </a:r>
            <a:endParaRPr lang="en-US" sz="1400" dirty="0"/>
          </a:p>
        </p:txBody>
      </p:sp>
      <p:sp>
        <p:nvSpPr>
          <p:cNvPr id="7" name="Shape 5"/>
          <p:cNvSpPr/>
          <p:nvPr/>
        </p:nvSpPr>
        <p:spPr>
          <a:xfrm>
            <a:off x="457200" y="2011680"/>
            <a:ext cx="5486400" cy="4297680"/>
          </a:xfrm>
          <a:prstGeom prst="rect">
            <a:avLst/>
          </a:prstGeom>
          <a:solidFill>
            <a:srgbClr val="FFFFFF"/>
          </a:solidFill>
          <a:ln w="12700">
            <a:solidFill>
              <a:srgbClr val="C9D6EC"/>
            </a:solidFill>
            <a:prstDash val="solid"/>
          </a:ln>
        </p:spPr>
      </p:sp>
      <p:sp>
        <p:nvSpPr>
          <p:cNvPr id="8" name="Shape 6"/>
          <p:cNvSpPr/>
          <p:nvPr/>
        </p:nvSpPr>
        <p:spPr>
          <a:xfrm>
            <a:off x="457200" y="2011680"/>
            <a:ext cx="5486400" cy="640080"/>
          </a:xfrm>
          <a:prstGeom prst="rect">
            <a:avLst/>
          </a:prstGeom>
          <a:solidFill>
            <a:srgbClr val="E63946"/>
          </a:solidFill>
          <a:ln w="12700">
            <a:solidFill>
              <a:srgbClr val="333333"/>
            </a:solidFill>
            <a:prstDash val="solid"/>
          </a:ln>
        </p:spPr>
      </p:sp>
      <p:pic>
        <p:nvPicPr>
          <p:cNvPr id="9" name="Image 0" descr="preencoded.png">    </p:cNvPr>
          <p:cNvPicPr>
            <a:picLocks noChangeAspect="1"/>
          </p:cNvPicPr>
          <p:nvPr/>
        </p:nvPicPr>
        <p:blipFill>
          <a:blip r:embed="rId1"/>
          <a:stretch>
            <a:fillRect/>
          </a:stretch>
        </p:blipFill>
        <p:spPr>
          <a:xfrm>
            <a:off x="640080" y="2148840"/>
            <a:ext cx="365760" cy="365760"/>
          </a:xfrm>
          <a:prstGeom prst="rect">
            <a:avLst/>
          </a:prstGeom>
        </p:spPr>
      </p:pic>
      <p:sp>
        <p:nvSpPr>
          <p:cNvPr id="10" name="Text 7"/>
          <p:cNvSpPr/>
          <p:nvPr/>
        </p:nvSpPr>
        <p:spPr>
          <a:xfrm>
            <a:off x="1097280" y="2011680"/>
            <a:ext cx="1371600" cy="640080"/>
          </a:xfrm>
          <a:prstGeom prst="rect">
            <a:avLst/>
          </a:prstGeom>
          <a:noFill/>
          <a:ln/>
        </p:spPr>
        <p:txBody>
          <a:bodyPr wrap="square" lIns="0" tIns="0" rIns="0" bIns="0" rtlCol="0" anchor="ctr"/>
          <a:lstStyle/>
          <a:p>
            <a:pPr indent="0" marL="0">
              <a:buNone/>
            </a:pPr>
            <a:r>
              <a:rPr lang="en-US" sz="2200" b="1" dirty="0">
                <a:solidFill>
                  <a:srgbClr val="ECF1F9"/>
                </a:solidFill>
                <a:latin typeface="Calibri" pitchFamily="34" charset="0"/>
                <a:ea typeface="Calibri" pitchFamily="34" charset="-122"/>
                <a:cs typeface="Calibri" pitchFamily="34" charset="-120"/>
              </a:rPr>
              <a:t>#5513</a:t>
            </a:r>
            <a:endParaRPr lang="en-US" sz="2200" dirty="0"/>
          </a:p>
        </p:txBody>
      </p:sp>
      <p:sp>
        <p:nvSpPr>
          <p:cNvPr id="11" name="Text 8"/>
          <p:cNvSpPr/>
          <p:nvPr/>
        </p:nvSpPr>
        <p:spPr>
          <a:xfrm>
            <a:off x="2468880" y="2011680"/>
            <a:ext cx="3383280" cy="640080"/>
          </a:xfrm>
          <a:prstGeom prst="rect">
            <a:avLst/>
          </a:prstGeom>
          <a:noFill/>
          <a:ln/>
        </p:spPr>
        <p:txBody>
          <a:bodyPr wrap="square" lIns="0" tIns="0" rIns="0" bIns="0" rtlCol="0" anchor="ctr"/>
          <a:lstStyle/>
          <a:p>
            <a:pPr indent="0" marL="0">
              <a:buNone/>
            </a:pPr>
            <a:r>
              <a:rPr lang="en-US" sz="1300" i="1" dirty="0">
                <a:solidFill>
                  <a:srgbClr val="ECF1F9"/>
                </a:solidFill>
                <a:latin typeface="Calibri" pitchFamily="34" charset="0"/>
                <a:ea typeface="Calibri" pitchFamily="34" charset="-122"/>
                <a:cs typeface="Calibri" pitchFamily="34" charset="-120"/>
              </a:rPr>
              <a:t>Typed-hook runner snapshots too early</a:t>
            </a:r>
            <a:endParaRPr lang="en-US" sz="1300" dirty="0"/>
          </a:p>
        </p:txBody>
      </p:sp>
      <p:sp>
        <p:nvSpPr>
          <p:cNvPr id="12" name="Text 9"/>
          <p:cNvSpPr/>
          <p:nvPr/>
        </p:nvSpPr>
        <p:spPr>
          <a:xfrm>
            <a:off x="685800" y="2788920"/>
            <a:ext cx="5029200" cy="228600"/>
          </a:xfrm>
          <a:prstGeom prst="rect">
            <a:avLst/>
          </a:prstGeom>
          <a:noFill/>
          <a:ln/>
        </p:spPr>
        <p:txBody>
          <a:bodyPr wrap="square" lIns="0" tIns="0" rIns="0" bIns="0" rtlCol="0" anchor="ctr"/>
          <a:lstStyle/>
          <a:p>
            <a:pPr indent="0" marL="0">
              <a:buNone/>
            </a:pPr>
            <a:r>
              <a:rPr lang="en-US" sz="900" b="1" spc="400" kern="0" dirty="0">
                <a:solidFill>
                  <a:srgbClr val="0B1C3A"/>
                </a:solidFill>
                <a:latin typeface="Calibri" pitchFamily="34" charset="0"/>
                <a:ea typeface="Calibri" pitchFamily="34" charset="-122"/>
                <a:cs typeface="Calibri" pitchFamily="34" charset="-120"/>
              </a:rPr>
              <a:t>THE BUG</a:t>
            </a:r>
            <a:endParaRPr lang="en-US" sz="900" dirty="0"/>
          </a:p>
        </p:txBody>
      </p:sp>
      <p:sp>
        <p:nvSpPr>
          <p:cNvPr id="13" name="Text 10"/>
          <p:cNvSpPr/>
          <p:nvPr/>
        </p:nvSpPr>
        <p:spPr>
          <a:xfrm>
            <a:off x="685800" y="301752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initializeGlobalHookRunner() captures registry.typedHooks at construction time. Plugins that register their hooks during the brief register() → start() window are visible in the registry but invisible to the runner.</a:t>
            </a:r>
            <a:endParaRPr lang="en-US" sz="1100" dirty="0"/>
          </a:p>
        </p:txBody>
      </p:sp>
      <p:sp>
        <p:nvSpPr>
          <p:cNvPr id="14" name="Text 11"/>
          <p:cNvSpPr/>
          <p:nvPr/>
        </p:nvSpPr>
        <p:spPr>
          <a:xfrm>
            <a:off x="685800" y="3977640"/>
            <a:ext cx="5029200" cy="228600"/>
          </a:xfrm>
          <a:prstGeom prst="rect">
            <a:avLst/>
          </a:prstGeom>
          <a:noFill/>
          <a:ln/>
        </p:spPr>
        <p:txBody>
          <a:bodyPr wrap="square" lIns="0" tIns="0" rIns="0" bIns="0" rtlCol="0" anchor="ctr"/>
          <a:lstStyle/>
          <a:p>
            <a:pPr indent="0" marL="0">
              <a:buNone/>
            </a:pPr>
            <a:r>
              <a:rPr lang="en-US" sz="900" b="1" spc="400" kern="0" dirty="0">
                <a:solidFill>
                  <a:srgbClr val="E63946"/>
                </a:solidFill>
                <a:latin typeface="Calibri" pitchFamily="34" charset="0"/>
                <a:ea typeface="Calibri" pitchFamily="34" charset="-122"/>
                <a:cs typeface="Calibri" pitchFamily="34" charset="-120"/>
              </a:rPr>
              <a:t>IMPACT</a:t>
            </a:r>
            <a:endParaRPr lang="en-US" sz="900" dirty="0"/>
          </a:p>
        </p:txBody>
      </p:sp>
      <p:sp>
        <p:nvSpPr>
          <p:cNvPr id="15" name="Text 12"/>
          <p:cNvSpPr/>
          <p:nvPr/>
        </p:nvSpPr>
        <p:spPr>
          <a:xfrm>
            <a:off x="685800" y="420624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Result: the security hook is registered, looks fine on paper, and silently never fires.</a:t>
            </a:r>
            <a:endParaRPr lang="en-US" sz="1100" dirty="0"/>
          </a:p>
        </p:txBody>
      </p:sp>
      <p:sp>
        <p:nvSpPr>
          <p:cNvPr id="16" name="Text 13"/>
          <p:cNvSpPr/>
          <p:nvPr/>
        </p:nvSpPr>
        <p:spPr>
          <a:xfrm>
            <a:off x="685800" y="5166360"/>
            <a:ext cx="5029200" cy="228600"/>
          </a:xfrm>
          <a:prstGeom prst="rect">
            <a:avLst/>
          </a:prstGeom>
          <a:noFill/>
          <a:ln/>
        </p:spPr>
        <p:txBody>
          <a:bodyPr wrap="square" lIns="0" tIns="0" rIns="0" bIns="0" rtlCol="0" anchor="ctr"/>
          <a:lstStyle/>
          <a:p>
            <a:pPr indent="0" marL="0">
              <a:buNone/>
            </a:pPr>
            <a:r>
              <a:rPr lang="en-US" sz="900" b="1" spc="400" kern="0" dirty="0">
                <a:solidFill>
                  <a:srgbClr val="2A9D8F"/>
                </a:solidFill>
                <a:latin typeface="Calibri" pitchFamily="34" charset="0"/>
                <a:ea typeface="Calibri" pitchFamily="34" charset="-122"/>
                <a:cs typeface="Calibri" pitchFamily="34" charset="-120"/>
              </a:rPr>
              <a:t>THE FIX</a:t>
            </a:r>
            <a:endParaRPr lang="en-US" sz="900" dirty="0"/>
          </a:p>
        </p:txBody>
      </p:sp>
      <p:sp>
        <p:nvSpPr>
          <p:cNvPr id="17" name="Text 14"/>
          <p:cNvSpPr/>
          <p:nvPr/>
        </p:nvSpPr>
        <p:spPr>
          <a:xfrm>
            <a:off x="685800" y="539496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Replace the cached field with a getter. Read the live registry on every dispatch. Pattern already used by observability-plugin PR #6 (ISI-515).</a:t>
            </a:r>
            <a:endParaRPr lang="en-US" sz="1100" dirty="0"/>
          </a:p>
        </p:txBody>
      </p:sp>
      <p:sp>
        <p:nvSpPr>
          <p:cNvPr id="18" name="Shape 15"/>
          <p:cNvSpPr/>
          <p:nvPr/>
        </p:nvSpPr>
        <p:spPr>
          <a:xfrm>
            <a:off x="6263640" y="2011680"/>
            <a:ext cx="5486400" cy="4297680"/>
          </a:xfrm>
          <a:prstGeom prst="rect">
            <a:avLst/>
          </a:prstGeom>
          <a:solidFill>
            <a:srgbClr val="FFFFFF"/>
          </a:solidFill>
          <a:ln w="12700">
            <a:solidFill>
              <a:srgbClr val="C9D6EC"/>
            </a:solidFill>
            <a:prstDash val="solid"/>
          </a:ln>
        </p:spPr>
      </p:sp>
      <p:sp>
        <p:nvSpPr>
          <p:cNvPr id="19" name="Shape 16"/>
          <p:cNvSpPr/>
          <p:nvPr/>
        </p:nvSpPr>
        <p:spPr>
          <a:xfrm>
            <a:off x="6263640" y="2011680"/>
            <a:ext cx="5486400" cy="640080"/>
          </a:xfrm>
          <a:prstGeom prst="rect">
            <a:avLst/>
          </a:prstGeom>
          <a:solidFill>
            <a:srgbClr val="E63946"/>
          </a:solidFill>
          <a:ln w="12700">
            <a:solidFill>
              <a:srgbClr val="333333"/>
            </a:solidFill>
            <a:prstDash val="solid"/>
          </a:ln>
        </p:spPr>
      </p:sp>
      <p:pic>
        <p:nvPicPr>
          <p:cNvPr id="20" name="Image 1" descr="preencoded.png">    </p:cNvPr>
          <p:cNvPicPr>
            <a:picLocks noChangeAspect="1"/>
          </p:cNvPicPr>
          <p:nvPr/>
        </p:nvPicPr>
        <p:blipFill>
          <a:blip r:embed="rId2"/>
          <a:stretch>
            <a:fillRect/>
          </a:stretch>
        </p:blipFill>
        <p:spPr>
          <a:xfrm>
            <a:off x="6446520" y="2148840"/>
            <a:ext cx="365760" cy="365760"/>
          </a:xfrm>
          <a:prstGeom prst="rect">
            <a:avLst/>
          </a:prstGeom>
        </p:spPr>
      </p:pic>
      <p:sp>
        <p:nvSpPr>
          <p:cNvPr id="21" name="Text 17"/>
          <p:cNvSpPr/>
          <p:nvPr/>
        </p:nvSpPr>
        <p:spPr>
          <a:xfrm>
            <a:off x="6903720" y="2011680"/>
            <a:ext cx="1371600" cy="640080"/>
          </a:xfrm>
          <a:prstGeom prst="rect">
            <a:avLst/>
          </a:prstGeom>
          <a:noFill/>
          <a:ln/>
        </p:spPr>
        <p:txBody>
          <a:bodyPr wrap="square" lIns="0" tIns="0" rIns="0" bIns="0" rtlCol="0" anchor="ctr"/>
          <a:lstStyle/>
          <a:p>
            <a:pPr indent="0" marL="0">
              <a:buNone/>
            </a:pPr>
            <a:r>
              <a:rPr lang="en-US" sz="2200" b="1" dirty="0">
                <a:solidFill>
                  <a:srgbClr val="ECF1F9"/>
                </a:solidFill>
                <a:latin typeface="Calibri" pitchFamily="34" charset="0"/>
                <a:ea typeface="Calibri" pitchFamily="34" charset="-122"/>
                <a:cs typeface="Calibri" pitchFamily="34" charset="-120"/>
              </a:rPr>
              <a:t>#5943</a:t>
            </a:r>
            <a:endParaRPr lang="en-US" sz="2200" dirty="0"/>
          </a:p>
        </p:txBody>
      </p:sp>
      <p:sp>
        <p:nvSpPr>
          <p:cNvPr id="22" name="Text 18"/>
          <p:cNvSpPr/>
          <p:nvPr/>
        </p:nvSpPr>
        <p:spPr>
          <a:xfrm>
            <a:off x="8275320" y="2011680"/>
            <a:ext cx="3383280" cy="640080"/>
          </a:xfrm>
          <a:prstGeom prst="rect">
            <a:avLst/>
          </a:prstGeom>
          <a:noFill/>
          <a:ln/>
        </p:spPr>
        <p:txBody>
          <a:bodyPr wrap="square" lIns="0" tIns="0" rIns="0" bIns="0" rtlCol="0" anchor="ctr"/>
          <a:lstStyle/>
          <a:p>
            <a:pPr indent="0" marL="0">
              <a:buNone/>
            </a:pPr>
            <a:r>
              <a:rPr lang="en-US" sz="1300" i="1" dirty="0">
                <a:solidFill>
                  <a:srgbClr val="ECF1F9"/>
                </a:solidFill>
                <a:latin typeface="Calibri" pitchFamily="34" charset="0"/>
                <a:ea typeface="Calibri" pitchFamily="34" charset="-122"/>
                <a:cs typeface="Calibri" pitchFamily="34" charset="-120"/>
              </a:rPr>
              <a:t>before_tool_call defined but never invoked</a:t>
            </a:r>
            <a:endParaRPr lang="en-US" sz="1300" dirty="0"/>
          </a:p>
        </p:txBody>
      </p:sp>
      <p:sp>
        <p:nvSpPr>
          <p:cNvPr id="23" name="Text 19"/>
          <p:cNvSpPr/>
          <p:nvPr/>
        </p:nvSpPr>
        <p:spPr>
          <a:xfrm>
            <a:off x="6492240" y="2788920"/>
            <a:ext cx="5029200" cy="228600"/>
          </a:xfrm>
          <a:prstGeom prst="rect">
            <a:avLst/>
          </a:prstGeom>
          <a:noFill/>
          <a:ln/>
        </p:spPr>
        <p:txBody>
          <a:bodyPr wrap="square" lIns="0" tIns="0" rIns="0" bIns="0" rtlCol="0" anchor="ctr"/>
          <a:lstStyle/>
          <a:p>
            <a:pPr indent="0" marL="0">
              <a:buNone/>
            </a:pPr>
            <a:r>
              <a:rPr lang="en-US" sz="900" b="1" spc="400" kern="0" dirty="0">
                <a:solidFill>
                  <a:srgbClr val="0B1C3A"/>
                </a:solidFill>
                <a:latin typeface="Calibri" pitchFamily="34" charset="0"/>
                <a:ea typeface="Calibri" pitchFamily="34" charset="-122"/>
                <a:cs typeface="Calibri" pitchFamily="34" charset="-120"/>
              </a:rPr>
              <a:t>THE BUG</a:t>
            </a:r>
            <a:endParaRPr lang="en-US" sz="900" dirty="0"/>
          </a:p>
        </p:txBody>
      </p:sp>
      <p:sp>
        <p:nvSpPr>
          <p:cNvPr id="24" name="Text 20"/>
          <p:cNvSpPr/>
          <p:nvPr/>
        </p:nvSpPr>
        <p:spPr>
          <a:xfrm>
            <a:off x="6492240" y="301752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The hook is declared in src/plugins/hooks.ts and documented as available since v2026.3.28. But executeToolCalls() in pi-embedded-runner/run/attempt.ts (line ~254) never calls it.</a:t>
            </a:r>
            <a:endParaRPr lang="en-US" sz="1100" dirty="0"/>
          </a:p>
        </p:txBody>
      </p:sp>
      <p:sp>
        <p:nvSpPr>
          <p:cNvPr id="25" name="Text 21"/>
          <p:cNvSpPr/>
          <p:nvPr/>
        </p:nvSpPr>
        <p:spPr>
          <a:xfrm>
            <a:off x="6492240" y="3977640"/>
            <a:ext cx="5029200" cy="228600"/>
          </a:xfrm>
          <a:prstGeom prst="rect">
            <a:avLst/>
          </a:prstGeom>
          <a:noFill/>
          <a:ln/>
        </p:spPr>
        <p:txBody>
          <a:bodyPr wrap="square" lIns="0" tIns="0" rIns="0" bIns="0" rtlCol="0" anchor="ctr"/>
          <a:lstStyle/>
          <a:p>
            <a:pPr indent="0" marL="0">
              <a:buNone/>
            </a:pPr>
            <a:r>
              <a:rPr lang="en-US" sz="900" b="1" spc="400" kern="0" dirty="0">
                <a:solidFill>
                  <a:srgbClr val="E63946"/>
                </a:solidFill>
                <a:latin typeface="Calibri" pitchFamily="34" charset="0"/>
                <a:ea typeface="Calibri" pitchFamily="34" charset="-122"/>
                <a:cs typeface="Calibri" pitchFamily="34" charset="-120"/>
              </a:rPr>
              <a:t>IMPACT</a:t>
            </a:r>
            <a:endParaRPr lang="en-US" sz="900" dirty="0"/>
          </a:p>
        </p:txBody>
      </p:sp>
      <p:sp>
        <p:nvSpPr>
          <p:cNvPr id="26" name="Text 22"/>
          <p:cNvSpPr/>
          <p:nvPr/>
        </p:nvSpPr>
        <p:spPr>
          <a:xfrm>
            <a:off x="6492240" y="420624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Result: every tool runs unconditionally, regardless of any registered before_tool_call handler. The contract is unfulfilled.</a:t>
            </a:r>
            <a:endParaRPr lang="en-US" sz="1100" dirty="0"/>
          </a:p>
        </p:txBody>
      </p:sp>
      <p:sp>
        <p:nvSpPr>
          <p:cNvPr id="27" name="Text 23"/>
          <p:cNvSpPr/>
          <p:nvPr/>
        </p:nvSpPr>
        <p:spPr>
          <a:xfrm>
            <a:off x="6492240" y="5166360"/>
            <a:ext cx="5029200" cy="228600"/>
          </a:xfrm>
          <a:prstGeom prst="rect">
            <a:avLst/>
          </a:prstGeom>
          <a:noFill/>
          <a:ln/>
        </p:spPr>
        <p:txBody>
          <a:bodyPr wrap="square" lIns="0" tIns="0" rIns="0" bIns="0" rtlCol="0" anchor="ctr"/>
          <a:lstStyle/>
          <a:p>
            <a:pPr indent="0" marL="0">
              <a:buNone/>
            </a:pPr>
            <a:r>
              <a:rPr lang="en-US" sz="900" b="1" spc="400" kern="0" dirty="0">
                <a:solidFill>
                  <a:srgbClr val="2A9D8F"/>
                </a:solidFill>
                <a:latin typeface="Calibri" pitchFamily="34" charset="0"/>
                <a:ea typeface="Calibri" pitchFamily="34" charset="-122"/>
                <a:cs typeface="Calibri" pitchFamily="34" charset="-120"/>
              </a:rPr>
              <a:t>THE FIX</a:t>
            </a:r>
            <a:endParaRPr lang="en-US" sz="900" dirty="0"/>
          </a:p>
        </p:txBody>
      </p:sp>
      <p:sp>
        <p:nvSpPr>
          <p:cNvPr id="28" name="Text 24"/>
          <p:cNvSpPr/>
          <p:nvPr/>
        </p:nvSpPr>
        <p:spPr>
          <a:xfrm>
            <a:off x="6492240" y="5394960"/>
            <a:ext cx="5029200" cy="9144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Wire dispatch into executeToolCalls() — sequential, deny-first. Honor block, params, and requireApproval. ~30 lines of source.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06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05  ·  PHASE 2 ARCHITECTURE</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The parliament intercepts every tool call before execution</a:t>
            </a:r>
            <a:endParaRPr lang="en-US" sz="3000" dirty="0"/>
          </a:p>
        </p:txBody>
      </p:sp>
      <p:sp>
        <p:nvSpPr>
          <p:cNvPr id="6" name="Shape 4"/>
          <p:cNvSpPr/>
          <p:nvPr/>
        </p:nvSpPr>
        <p:spPr>
          <a:xfrm>
            <a:off x="457200" y="1554480"/>
            <a:ext cx="1463040" cy="640080"/>
          </a:xfrm>
          <a:prstGeom prst="roundRect">
            <a:avLst>
              <a:gd name="adj" fmla="val 8571"/>
            </a:avLst>
          </a:prstGeom>
          <a:solidFill>
            <a:srgbClr val="FFFFFF"/>
          </a:solidFill>
          <a:ln w="12700">
            <a:solidFill>
              <a:srgbClr val="C9D6EC"/>
            </a:solidFill>
            <a:prstDash val="solid"/>
          </a:ln>
        </p:spPr>
      </p:sp>
      <p:sp>
        <p:nvSpPr>
          <p:cNvPr id="7" name="Text 5"/>
          <p:cNvSpPr/>
          <p:nvPr/>
        </p:nvSpPr>
        <p:spPr>
          <a:xfrm>
            <a:off x="457200" y="1600200"/>
            <a:ext cx="1463040" cy="365760"/>
          </a:xfrm>
          <a:prstGeom prst="rect">
            <a:avLst/>
          </a:prstGeom>
          <a:noFill/>
          <a:ln/>
        </p:spPr>
        <p:txBody>
          <a:bodyPr wrap="square" lIns="0" tIns="0" rIns="0" bIns="0" rtlCol="0" anchor="ctr"/>
          <a:lstStyle/>
          <a:p>
            <a:pPr algn="ctr" indent="0" marL="0">
              <a:buNone/>
            </a:pPr>
            <a:r>
              <a:rPr lang="en-US" sz="1200" b="1" dirty="0">
                <a:solidFill>
                  <a:srgbClr val="0B1C3A"/>
                </a:solidFill>
                <a:latin typeface="Calibri" pitchFamily="34" charset="0"/>
                <a:ea typeface="Calibri" pitchFamily="34" charset="-122"/>
                <a:cs typeface="Calibri" pitchFamily="34" charset="-120"/>
              </a:rPr>
              <a:t>User</a:t>
            </a:r>
            <a:endParaRPr lang="en-US" sz="1200" dirty="0"/>
          </a:p>
        </p:txBody>
      </p:sp>
      <p:sp>
        <p:nvSpPr>
          <p:cNvPr id="8" name="Text 6"/>
          <p:cNvSpPr/>
          <p:nvPr/>
        </p:nvSpPr>
        <p:spPr>
          <a:xfrm>
            <a:off x="457200" y="1874520"/>
            <a:ext cx="1463040" cy="27432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prompt</a:t>
            </a:r>
            <a:endParaRPr lang="en-US" sz="900" dirty="0"/>
          </a:p>
        </p:txBody>
      </p:sp>
      <p:sp>
        <p:nvSpPr>
          <p:cNvPr id="9" name="Shape 7"/>
          <p:cNvSpPr/>
          <p:nvPr/>
        </p:nvSpPr>
        <p:spPr>
          <a:xfrm>
            <a:off x="1920240" y="1874520"/>
            <a:ext cx="457200" cy="0"/>
          </a:xfrm>
          <a:prstGeom prst="line">
            <a:avLst/>
          </a:prstGeom>
          <a:noFill/>
          <a:ln w="25400">
            <a:solidFill>
              <a:srgbClr val="1E4FA8"/>
            </a:solidFill>
            <a:prstDash val="solid"/>
            <a:tailEnd type="triangle"/>
          </a:ln>
        </p:spPr>
      </p:sp>
      <p:sp>
        <p:nvSpPr>
          <p:cNvPr id="10" name="Shape 8"/>
          <p:cNvSpPr/>
          <p:nvPr/>
        </p:nvSpPr>
        <p:spPr>
          <a:xfrm>
            <a:off x="2377440" y="1554480"/>
            <a:ext cx="1828800" cy="640080"/>
          </a:xfrm>
          <a:prstGeom prst="roundRect">
            <a:avLst>
              <a:gd name="adj" fmla="val 8571"/>
            </a:avLst>
          </a:prstGeom>
          <a:solidFill>
            <a:srgbClr val="FFFFFF"/>
          </a:solidFill>
          <a:ln w="12700">
            <a:solidFill>
              <a:srgbClr val="C9D6EC"/>
            </a:solidFill>
            <a:prstDash val="solid"/>
          </a:ln>
        </p:spPr>
      </p:sp>
      <p:sp>
        <p:nvSpPr>
          <p:cNvPr id="11" name="Text 9"/>
          <p:cNvSpPr/>
          <p:nvPr/>
        </p:nvSpPr>
        <p:spPr>
          <a:xfrm>
            <a:off x="2377440" y="1600200"/>
            <a:ext cx="1828800" cy="365760"/>
          </a:xfrm>
          <a:prstGeom prst="rect">
            <a:avLst/>
          </a:prstGeom>
          <a:noFill/>
          <a:ln/>
        </p:spPr>
        <p:txBody>
          <a:bodyPr wrap="square" lIns="0" tIns="0" rIns="0" bIns="0" rtlCol="0" anchor="ctr"/>
          <a:lstStyle/>
          <a:p>
            <a:pPr algn="ctr" indent="0" marL="0">
              <a:buNone/>
            </a:pPr>
            <a:r>
              <a:rPr lang="en-US" sz="1200" b="1" dirty="0">
                <a:solidFill>
                  <a:srgbClr val="0B1C3A"/>
                </a:solidFill>
                <a:latin typeface="Calibri" pitchFamily="34" charset="0"/>
                <a:ea typeface="Calibri" pitchFamily="34" charset="-122"/>
                <a:cs typeface="Calibri" pitchFamily="34" charset="-120"/>
              </a:rPr>
              <a:t>OpenClaw Agent</a:t>
            </a:r>
            <a:endParaRPr lang="en-US" sz="1200" dirty="0"/>
          </a:p>
        </p:txBody>
      </p:sp>
      <p:sp>
        <p:nvSpPr>
          <p:cNvPr id="12" name="Text 10"/>
          <p:cNvSpPr/>
          <p:nvPr/>
        </p:nvSpPr>
        <p:spPr>
          <a:xfrm>
            <a:off x="2377440" y="1874520"/>
            <a:ext cx="1828800" cy="27432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Gemma 4 26B</a:t>
            </a:r>
            <a:endParaRPr lang="en-US" sz="900" dirty="0"/>
          </a:p>
        </p:txBody>
      </p:sp>
      <p:sp>
        <p:nvSpPr>
          <p:cNvPr id="13" name="Shape 11"/>
          <p:cNvSpPr/>
          <p:nvPr/>
        </p:nvSpPr>
        <p:spPr>
          <a:xfrm>
            <a:off x="3291840" y="2194560"/>
            <a:ext cx="0" cy="685800"/>
          </a:xfrm>
          <a:prstGeom prst="line">
            <a:avLst/>
          </a:prstGeom>
          <a:noFill/>
          <a:ln w="25400">
            <a:solidFill>
              <a:srgbClr val="E63946"/>
            </a:solidFill>
            <a:prstDash val="solid"/>
            <a:tailEnd type="triangle"/>
          </a:ln>
        </p:spPr>
      </p:sp>
      <p:sp>
        <p:nvSpPr>
          <p:cNvPr id="14" name="Text 12"/>
          <p:cNvSpPr/>
          <p:nvPr/>
        </p:nvSpPr>
        <p:spPr>
          <a:xfrm>
            <a:off x="3383280" y="2286000"/>
            <a:ext cx="1645920" cy="274320"/>
          </a:xfrm>
          <a:prstGeom prst="rect">
            <a:avLst/>
          </a:prstGeom>
          <a:noFill/>
          <a:ln/>
        </p:spPr>
        <p:txBody>
          <a:bodyPr wrap="square" lIns="0" tIns="0" rIns="0" bIns="0" rtlCol="0" anchor="ctr"/>
          <a:lstStyle/>
          <a:p>
            <a:pPr indent="0" marL="0">
              <a:buNone/>
            </a:pPr>
            <a:r>
              <a:rPr lang="en-US" sz="1000" i="1" dirty="0">
                <a:solidFill>
                  <a:srgbClr val="E63946"/>
                </a:solidFill>
                <a:latin typeface="Calibri" pitchFamily="34" charset="0"/>
                <a:ea typeface="Calibri" pitchFamily="34" charset="-122"/>
                <a:cs typeface="Calibri" pitchFamily="34" charset="-120"/>
              </a:rPr>
              <a:t>before_tool_call</a:t>
            </a:r>
            <a:endParaRPr lang="en-US" sz="1000" dirty="0"/>
          </a:p>
        </p:txBody>
      </p:sp>
      <p:sp>
        <p:nvSpPr>
          <p:cNvPr id="15" name="Shape 13"/>
          <p:cNvSpPr/>
          <p:nvPr/>
        </p:nvSpPr>
        <p:spPr>
          <a:xfrm>
            <a:off x="2377440" y="2926080"/>
            <a:ext cx="1828800" cy="640080"/>
          </a:xfrm>
          <a:prstGeom prst="roundRect">
            <a:avLst>
              <a:gd name="adj" fmla="val 8571"/>
            </a:avLst>
          </a:prstGeom>
          <a:solidFill>
            <a:srgbClr val="F0E8D8"/>
          </a:solidFill>
          <a:ln w="12700">
            <a:solidFill>
              <a:srgbClr val="C9D6EC"/>
            </a:solidFill>
            <a:prstDash val="solid"/>
          </a:ln>
        </p:spPr>
      </p:sp>
      <p:sp>
        <p:nvSpPr>
          <p:cNvPr id="16" name="Text 14"/>
          <p:cNvSpPr/>
          <p:nvPr/>
        </p:nvSpPr>
        <p:spPr>
          <a:xfrm>
            <a:off x="2377440" y="2971800"/>
            <a:ext cx="1828800" cy="365760"/>
          </a:xfrm>
          <a:prstGeom prst="rect">
            <a:avLst/>
          </a:prstGeom>
          <a:noFill/>
          <a:ln/>
        </p:spPr>
        <p:txBody>
          <a:bodyPr wrap="square" lIns="0" tIns="0" rIns="0" bIns="0" rtlCol="0" anchor="ctr"/>
          <a:lstStyle/>
          <a:p>
            <a:pPr algn="ctr" indent="0" marL="0">
              <a:buNone/>
            </a:pPr>
            <a:r>
              <a:rPr lang="en-US" sz="1200" b="1" dirty="0">
                <a:solidFill>
                  <a:srgbClr val="0B1C3A"/>
                </a:solidFill>
                <a:latin typeface="Calibri" pitchFamily="34" charset="0"/>
                <a:ea typeface="Calibri" pitchFamily="34" charset="-122"/>
                <a:cs typeface="Calibri" pitchFamily="34" charset="-120"/>
              </a:rPr>
              <a:t>Kavach Plugin</a:t>
            </a:r>
            <a:endParaRPr lang="en-US" sz="1200" dirty="0"/>
          </a:p>
        </p:txBody>
      </p:sp>
      <p:sp>
        <p:nvSpPr>
          <p:cNvPr id="17" name="Text 15"/>
          <p:cNvSpPr/>
          <p:nvPr/>
        </p:nvSpPr>
        <p:spPr>
          <a:xfrm>
            <a:off x="2377440" y="3246120"/>
            <a:ext cx="1828800" cy="27432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TypeScript</a:t>
            </a:r>
            <a:endParaRPr lang="en-US" sz="900" dirty="0"/>
          </a:p>
        </p:txBody>
      </p:sp>
      <p:sp>
        <p:nvSpPr>
          <p:cNvPr id="18" name="Shape 16"/>
          <p:cNvSpPr/>
          <p:nvPr/>
        </p:nvSpPr>
        <p:spPr>
          <a:xfrm>
            <a:off x="4206240" y="3246120"/>
            <a:ext cx="822960" cy="0"/>
          </a:xfrm>
          <a:prstGeom prst="line">
            <a:avLst/>
          </a:prstGeom>
          <a:noFill/>
          <a:ln w="25400">
            <a:solidFill>
              <a:srgbClr val="1E4FA8"/>
            </a:solidFill>
            <a:prstDash val="solid"/>
            <a:tailEnd type="triangle"/>
          </a:ln>
        </p:spPr>
      </p:sp>
      <p:sp>
        <p:nvSpPr>
          <p:cNvPr id="19" name="Text 17"/>
          <p:cNvSpPr/>
          <p:nvPr/>
        </p:nvSpPr>
        <p:spPr>
          <a:xfrm>
            <a:off x="4251960" y="2834640"/>
            <a:ext cx="777240" cy="274320"/>
          </a:xfrm>
          <a:prstGeom prst="rect">
            <a:avLst/>
          </a:prstGeom>
          <a:noFill/>
          <a:ln/>
        </p:spPr>
        <p:txBody>
          <a:bodyPr wrap="square" lIns="0" tIns="0" rIns="0" bIns="0" rtlCol="0" anchor="ctr"/>
          <a:lstStyle/>
          <a:p>
            <a:pPr indent="0" marL="0">
              <a:buNone/>
            </a:pPr>
            <a:r>
              <a:rPr lang="en-US" sz="900" i="1" dirty="0">
                <a:solidFill>
                  <a:srgbClr val="5A6B85"/>
                </a:solidFill>
                <a:latin typeface="Calibri" pitchFamily="34" charset="0"/>
                <a:ea typeface="Calibri" pitchFamily="34" charset="-122"/>
                <a:cs typeface="Calibri" pitchFamily="34" charset="-120"/>
              </a:rPr>
              <a:t>HTTP</a:t>
            </a:r>
            <a:endParaRPr lang="en-US" sz="900" dirty="0"/>
          </a:p>
        </p:txBody>
      </p:sp>
      <p:sp>
        <p:nvSpPr>
          <p:cNvPr id="20" name="Shape 18"/>
          <p:cNvSpPr/>
          <p:nvPr/>
        </p:nvSpPr>
        <p:spPr>
          <a:xfrm>
            <a:off x="5029200" y="2240280"/>
            <a:ext cx="6766560" cy="3931920"/>
          </a:xfrm>
          <a:prstGeom prst="roundRect">
            <a:avLst>
              <a:gd name="adj" fmla="val 2326"/>
            </a:avLst>
          </a:prstGeom>
          <a:solidFill>
            <a:srgbClr val="0B1C3A"/>
          </a:solidFill>
          <a:ln w="12700">
            <a:solidFill>
              <a:srgbClr val="3B7EE5"/>
            </a:solidFill>
            <a:prstDash val="solid"/>
          </a:ln>
        </p:spPr>
      </p:sp>
      <p:sp>
        <p:nvSpPr>
          <p:cNvPr id="21" name="Text 19"/>
          <p:cNvSpPr/>
          <p:nvPr/>
        </p:nvSpPr>
        <p:spPr>
          <a:xfrm>
            <a:off x="5029200" y="2331720"/>
            <a:ext cx="6766560" cy="274320"/>
          </a:xfrm>
          <a:prstGeom prst="rect">
            <a:avLst/>
          </a:prstGeom>
          <a:noFill/>
          <a:ln/>
        </p:spPr>
        <p:txBody>
          <a:bodyPr wrap="square" lIns="0" tIns="0" rIns="0" bIns="0" rtlCol="0" anchor="ctr"/>
          <a:lstStyle/>
          <a:p>
            <a:pPr algn="ctr" indent="0" marL="0">
              <a:buNone/>
            </a:pPr>
            <a:r>
              <a:rPr lang="en-US" sz="1100" b="1" spc="300" kern="0" dirty="0">
                <a:solidFill>
                  <a:srgbClr val="7FB0FF"/>
                </a:solidFill>
                <a:latin typeface="Calibri" pitchFamily="34" charset="0"/>
                <a:ea typeface="Calibri" pitchFamily="34" charset="-122"/>
                <a:cs typeface="Calibri" pitchFamily="34" charset="-120"/>
              </a:rPr>
              <a:t>PARLIAMENT  ·  FastAPI on 127.0.0.1:8088</a:t>
            </a:r>
            <a:endParaRPr lang="en-US" sz="1100" dirty="0"/>
          </a:p>
        </p:txBody>
      </p:sp>
      <p:sp>
        <p:nvSpPr>
          <p:cNvPr id="22" name="Shape 20"/>
          <p:cNvSpPr/>
          <p:nvPr/>
        </p:nvSpPr>
        <p:spPr>
          <a:xfrm>
            <a:off x="5349240" y="2743200"/>
            <a:ext cx="2286000" cy="502920"/>
          </a:xfrm>
          <a:prstGeom prst="roundRect">
            <a:avLst>
              <a:gd name="adj" fmla="val 9091"/>
            </a:avLst>
          </a:prstGeom>
          <a:solidFill>
            <a:srgbClr val="E9C46A"/>
          </a:solidFill>
          <a:ln w="12700">
            <a:solidFill>
              <a:srgbClr val="B8962C"/>
            </a:solidFill>
            <a:prstDash val="solid"/>
          </a:ln>
        </p:spPr>
      </p:sp>
      <p:sp>
        <p:nvSpPr>
          <p:cNvPr id="23" name="Text 21"/>
          <p:cNvSpPr/>
          <p:nvPr/>
        </p:nvSpPr>
        <p:spPr>
          <a:xfrm>
            <a:off x="5349240" y="2743200"/>
            <a:ext cx="2286000" cy="502920"/>
          </a:xfrm>
          <a:prstGeom prst="rect">
            <a:avLst/>
          </a:prstGeom>
          <a:noFill/>
          <a:ln/>
        </p:spPr>
        <p:txBody>
          <a:bodyPr wrap="square" lIns="0" tIns="0" rIns="0" bIns="0" rtlCol="0" anchor="ctr"/>
          <a:lstStyle/>
          <a:p>
            <a:pPr algn="ctr" indent="0" marL="0">
              <a:buNone/>
            </a:pPr>
            <a:r>
              <a:rPr lang="en-US" sz="1100" b="1" dirty="0">
                <a:solidFill>
                  <a:srgbClr val="081530"/>
                </a:solidFill>
                <a:latin typeface="Calibri" pitchFamily="34" charset="0"/>
                <a:ea typeface="Calibri" pitchFamily="34" charset="-122"/>
                <a:cs typeface="Calibri" pitchFamily="34" charset="-120"/>
              </a:rPr>
              <a:t>COMPASS  →  intent ⇄ action</a:t>
            </a:r>
            <a:endParaRPr lang="en-US" sz="1100" dirty="0"/>
          </a:p>
        </p:txBody>
      </p:sp>
      <p:sp>
        <p:nvSpPr>
          <p:cNvPr id="24" name="Shape 22"/>
          <p:cNvSpPr/>
          <p:nvPr/>
        </p:nvSpPr>
        <p:spPr>
          <a:xfrm>
            <a:off x="7772400" y="2743200"/>
            <a:ext cx="2286000" cy="502920"/>
          </a:xfrm>
          <a:prstGeom prst="roundRect">
            <a:avLst>
              <a:gd name="adj" fmla="val 9091"/>
            </a:avLst>
          </a:prstGeom>
          <a:solidFill>
            <a:srgbClr val="7FB0FF"/>
          </a:solidFill>
          <a:ln w="12700">
            <a:solidFill>
              <a:srgbClr val="3B7EE5"/>
            </a:solidFill>
            <a:prstDash val="solid"/>
          </a:ln>
        </p:spPr>
      </p:sp>
      <p:sp>
        <p:nvSpPr>
          <p:cNvPr id="25" name="Text 23"/>
          <p:cNvSpPr/>
          <p:nvPr/>
        </p:nvSpPr>
        <p:spPr>
          <a:xfrm>
            <a:off x="7772400" y="2743200"/>
            <a:ext cx="2286000" cy="502920"/>
          </a:xfrm>
          <a:prstGeom prst="rect">
            <a:avLst/>
          </a:prstGeom>
          <a:noFill/>
          <a:ln/>
        </p:spPr>
        <p:txBody>
          <a:bodyPr wrap="square" lIns="0" tIns="0" rIns="0" bIns="0" rtlCol="0" anchor="ctr"/>
          <a:lstStyle/>
          <a:p>
            <a:pPr algn="ctr" indent="0" marL="0">
              <a:buNone/>
            </a:pPr>
            <a:r>
              <a:rPr lang="en-US" sz="1100" b="1" dirty="0">
                <a:solidFill>
                  <a:srgbClr val="081530"/>
                </a:solidFill>
                <a:latin typeface="Calibri" pitchFamily="34" charset="0"/>
                <a:ea typeface="Calibri" pitchFamily="34" charset="-122"/>
                <a:cs typeface="Calibri" pitchFamily="34" charset="-120"/>
              </a:rPr>
              <a:t>Semantic router</a:t>
            </a:r>
            <a:endParaRPr lang="en-US" sz="1100" dirty="0"/>
          </a:p>
        </p:txBody>
      </p:sp>
      <p:sp>
        <p:nvSpPr>
          <p:cNvPr id="26" name="Shape 24"/>
          <p:cNvSpPr/>
          <p:nvPr/>
        </p:nvSpPr>
        <p:spPr>
          <a:xfrm>
            <a:off x="6492240" y="3291840"/>
            <a:ext cx="0" cy="960120"/>
          </a:xfrm>
          <a:prstGeom prst="line">
            <a:avLst/>
          </a:prstGeom>
          <a:noFill/>
          <a:ln w="25400">
            <a:solidFill>
              <a:srgbClr val="7FB0FF"/>
            </a:solidFill>
            <a:prstDash val="solid"/>
            <a:tailEnd type="triangle"/>
          </a:ln>
        </p:spPr>
      </p:sp>
      <p:sp>
        <p:nvSpPr>
          <p:cNvPr id="27" name="Shape 25"/>
          <p:cNvSpPr/>
          <p:nvPr/>
        </p:nvSpPr>
        <p:spPr>
          <a:xfrm>
            <a:off x="8869680" y="3291840"/>
            <a:ext cx="0" cy="960120"/>
          </a:xfrm>
          <a:prstGeom prst="line">
            <a:avLst/>
          </a:prstGeom>
          <a:noFill/>
          <a:ln w="25400">
            <a:solidFill>
              <a:srgbClr val="7FB0FF"/>
            </a:solidFill>
            <a:prstDash val="solid"/>
            <a:tailEnd type="triangle"/>
          </a:ln>
        </p:spPr>
      </p:sp>
      <p:sp>
        <p:nvSpPr>
          <p:cNvPr id="28" name="Shape 26"/>
          <p:cNvSpPr/>
          <p:nvPr/>
        </p:nvSpPr>
        <p:spPr>
          <a:xfrm>
            <a:off x="5349240" y="4297680"/>
            <a:ext cx="1472184" cy="777240"/>
          </a:xfrm>
          <a:prstGeom prst="roundRect">
            <a:avLst>
              <a:gd name="adj" fmla="val 5882"/>
            </a:avLst>
          </a:prstGeom>
          <a:solidFill>
            <a:srgbClr val="ECF1F9"/>
          </a:solidFill>
          <a:ln w="19050">
            <a:solidFill>
              <a:srgbClr val="C0392B"/>
            </a:solidFill>
            <a:prstDash val="solid"/>
          </a:ln>
        </p:spPr>
      </p:sp>
      <p:sp>
        <p:nvSpPr>
          <p:cNvPr id="29" name="Text 27"/>
          <p:cNvSpPr/>
          <p:nvPr/>
        </p:nvSpPr>
        <p:spPr>
          <a:xfrm>
            <a:off x="5349240" y="4343400"/>
            <a:ext cx="1472184" cy="365760"/>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EXECUTOR</a:t>
            </a:r>
            <a:endParaRPr lang="en-US" sz="1100" dirty="0"/>
          </a:p>
        </p:txBody>
      </p:sp>
      <p:sp>
        <p:nvSpPr>
          <p:cNvPr id="30" name="Text 28"/>
          <p:cNvSpPr/>
          <p:nvPr/>
        </p:nvSpPr>
        <p:spPr>
          <a:xfrm>
            <a:off x="5349240" y="4709160"/>
            <a:ext cx="1472184" cy="32004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code-exec</a:t>
            </a:r>
            <a:endParaRPr lang="en-US" sz="900" dirty="0"/>
          </a:p>
        </p:txBody>
      </p:sp>
      <p:sp>
        <p:nvSpPr>
          <p:cNvPr id="31" name="Shape 29"/>
          <p:cNvSpPr/>
          <p:nvPr/>
        </p:nvSpPr>
        <p:spPr>
          <a:xfrm>
            <a:off x="7004304" y="4297680"/>
            <a:ext cx="1472184" cy="777240"/>
          </a:xfrm>
          <a:prstGeom prst="roundRect">
            <a:avLst>
              <a:gd name="adj" fmla="val 5882"/>
            </a:avLst>
          </a:prstGeom>
          <a:solidFill>
            <a:srgbClr val="ECF1F9"/>
          </a:solidFill>
          <a:ln w="19050">
            <a:solidFill>
              <a:srgbClr val="8E44AD"/>
            </a:solidFill>
            <a:prstDash val="solid"/>
          </a:ln>
        </p:spPr>
      </p:sp>
      <p:sp>
        <p:nvSpPr>
          <p:cNvPr id="32" name="Text 30"/>
          <p:cNvSpPr/>
          <p:nvPr/>
        </p:nvSpPr>
        <p:spPr>
          <a:xfrm>
            <a:off x="7004304" y="4343400"/>
            <a:ext cx="1472184" cy="365760"/>
          </a:xfrm>
          <a:prstGeom prst="rect">
            <a:avLst/>
          </a:prstGeom>
          <a:noFill/>
          <a:ln/>
        </p:spPr>
        <p:txBody>
          <a:bodyPr wrap="square" lIns="0" tIns="0" rIns="0" bIns="0" rtlCol="0" anchor="ctr"/>
          <a:lstStyle/>
          <a:p>
            <a:pPr algn="ctr" indent="0" marL="0">
              <a:buNone/>
            </a:pPr>
            <a:r>
              <a:rPr lang="en-US" sz="1100" b="1" dirty="0">
                <a:solidFill>
                  <a:srgbClr val="8E44AD"/>
                </a:solidFill>
                <a:latin typeface="Calibri" pitchFamily="34" charset="0"/>
                <a:ea typeface="Calibri" pitchFamily="34" charset="-122"/>
                <a:cs typeface="Calibri" pitchFamily="34" charset="-120"/>
              </a:rPr>
              <a:t>VAULT</a:t>
            </a:r>
            <a:endParaRPr lang="en-US" sz="1100" dirty="0"/>
          </a:p>
        </p:txBody>
      </p:sp>
      <p:sp>
        <p:nvSpPr>
          <p:cNvPr id="33" name="Text 31"/>
          <p:cNvSpPr/>
          <p:nvPr/>
        </p:nvSpPr>
        <p:spPr>
          <a:xfrm>
            <a:off x="7004304" y="4709160"/>
            <a:ext cx="1472184" cy="32004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secrets</a:t>
            </a:r>
            <a:endParaRPr lang="en-US" sz="900" dirty="0"/>
          </a:p>
        </p:txBody>
      </p:sp>
      <p:sp>
        <p:nvSpPr>
          <p:cNvPr id="34" name="Shape 32"/>
          <p:cNvSpPr/>
          <p:nvPr/>
        </p:nvSpPr>
        <p:spPr>
          <a:xfrm>
            <a:off x="8659368" y="4297680"/>
            <a:ext cx="1472184" cy="777240"/>
          </a:xfrm>
          <a:prstGeom prst="roundRect">
            <a:avLst>
              <a:gd name="adj" fmla="val 5882"/>
            </a:avLst>
          </a:prstGeom>
          <a:solidFill>
            <a:srgbClr val="ECF1F9"/>
          </a:solidFill>
          <a:ln w="19050">
            <a:solidFill>
              <a:srgbClr val="16A085"/>
            </a:solidFill>
            <a:prstDash val="solid"/>
          </a:ln>
        </p:spPr>
      </p:sp>
      <p:sp>
        <p:nvSpPr>
          <p:cNvPr id="35" name="Text 33"/>
          <p:cNvSpPr/>
          <p:nvPr/>
        </p:nvSpPr>
        <p:spPr>
          <a:xfrm>
            <a:off x="8659368" y="4343400"/>
            <a:ext cx="1472184" cy="365760"/>
          </a:xfrm>
          <a:prstGeom prst="rect">
            <a:avLst/>
          </a:prstGeom>
          <a:noFill/>
          <a:ln/>
        </p:spPr>
        <p:txBody>
          <a:bodyPr wrap="square" lIns="0" tIns="0" rIns="0" bIns="0" rtlCol="0" anchor="ctr"/>
          <a:lstStyle/>
          <a:p>
            <a:pPr algn="ctr" indent="0" marL="0">
              <a:buNone/>
            </a:pPr>
            <a:r>
              <a:rPr lang="en-US" sz="1100" b="1" dirty="0">
                <a:solidFill>
                  <a:srgbClr val="16A085"/>
                </a:solidFill>
                <a:latin typeface="Calibri" pitchFamily="34" charset="0"/>
                <a:ea typeface="Calibri" pitchFamily="34" charset="-122"/>
                <a:cs typeface="Calibri" pitchFamily="34" charset="-120"/>
              </a:rPr>
              <a:t>CHANNEL</a:t>
            </a:r>
            <a:endParaRPr lang="en-US" sz="1100" dirty="0"/>
          </a:p>
        </p:txBody>
      </p:sp>
      <p:sp>
        <p:nvSpPr>
          <p:cNvPr id="36" name="Text 34"/>
          <p:cNvSpPr/>
          <p:nvPr/>
        </p:nvSpPr>
        <p:spPr>
          <a:xfrm>
            <a:off x="8659368" y="4709160"/>
            <a:ext cx="1472184" cy="32004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exfil</a:t>
            </a:r>
            <a:endParaRPr lang="en-US" sz="900" dirty="0"/>
          </a:p>
        </p:txBody>
      </p:sp>
      <p:sp>
        <p:nvSpPr>
          <p:cNvPr id="37" name="Shape 35"/>
          <p:cNvSpPr/>
          <p:nvPr/>
        </p:nvSpPr>
        <p:spPr>
          <a:xfrm>
            <a:off x="10314432" y="4297680"/>
            <a:ext cx="1472184" cy="777240"/>
          </a:xfrm>
          <a:prstGeom prst="roundRect">
            <a:avLst>
              <a:gd name="adj" fmla="val 5882"/>
            </a:avLst>
          </a:prstGeom>
          <a:solidFill>
            <a:srgbClr val="ECF1F9"/>
          </a:solidFill>
          <a:ln w="19050">
            <a:solidFill>
              <a:srgbClr val="D68910"/>
            </a:solidFill>
            <a:prstDash val="solid"/>
          </a:ln>
        </p:spPr>
      </p:sp>
      <p:sp>
        <p:nvSpPr>
          <p:cNvPr id="38" name="Text 36"/>
          <p:cNvSpPr/>
          <p:nvPr/>
        </p:nvSpPr>
        <p:spPr>
          <a:xfrm>
            <a:off x="10314432" y="4343400"/>
            <a:ext cx="1472184" cy="365760"/>
          </a:xfrm>
          <a:prstGeom prst="rect">
            <a:avLst/>
          </a:prstGeom>
          <a:noFill/>
          <a:ln/>
        </p:spPr>
        <p:txBody>
          <a:bodyPr wrap="square" lIns="0" tIns="0" rIns="0" bIns="0" rtlCol="0" anchor="ctr"/>
          <a:lstStyle/>
          <a:p>
            <a:pPr algn="ctr" indent="0" marL="0">
              <a:buNone/>
            </a:pPr>
            <a:r>
              <a:rPr lang="en-US" sz="1100" b="1" dirty="0">
                <a:solidFill>
                  <a:srgbClr val="D68910"/>
                </a:solidFill>
                <a:latin typeface="Calibri" pitchFamily="34" charset="0"/>
                <a:ea typeface="Calibri" pitchFamily="34" charset="-122"/>
                <a:cs typeface="Calibri" pitchFamily="34" charset="-120"/>
              </a:rPr>
              <a:t>NAVIGATOR</a:t>
            </a:r>
            <a:endParaRPr lang="en-US" sz="1100" dirty="0"/>
          </a:p>
        </p:txBody>
      </p:sp>
      <p:sp>
        <p:nvSpPr>
          <p:cNvPr id="39" name="Text 37"/>
          <p:cNvSpPr/>
          <p:nvPr/>
        </p:nvSpPr>
        <p:spPr>
          <a:xfrm>
            <a:off x="10314432" y="4709160"/>
            <a:ext cx="1472184" cy="320040"/>
          </a:xfrm>
          <a:prstGeom prst="rect">
            <a:avLst/>
          </a:prstGeom>
          <a:noFill/>
          <a:ln/>
        </p:spPr>
        <p:txBody>
          <a:bodyPr wrap="square" lIns="0" tIns="0" rIns="0" bIns="0" rtlCol="0" anchor="ctr"/>
          <a:lstStyle/>
          <a:p>
            <a:pPr algn="ctr" indent="0" marL="0">
              <a:buNone/>
            </a:pPr>
            <a:r>
              <a:rPr lang="en-US" sz="900" dirty="0">
                <a:solidFill>
                  <a:srgbClr val="5A6B85"/>
                </a:solidFill>
                <a:latin typeface="Calibri" pitchFamily="34" charset="0"/>
                <a:ea typeface="Calibri" pitchFamily="34" charset="-122"/>
                <a:cs typeface="Calibri" pitchFamily="34" charset="-120"/>
              </a:rPr>
              <a:t>trajectory</a:t>
            </a:r>
            <a:endParaRPr lang="en-US" sz="900" dirty="0"/>
          </a:p>
        </p:txBody>
      </p:sp>
      <p:sp>
        <p:nvSpPr>
          <p:cNvPr id="40" name="Shape 38"/>
          <p:cNvSpPr/>
          <p:nvPr/>
        </p:nvSpPr>
        <p:spPr>
          <a:xfrm>
            <a:off x="6080760" y="5074920"/>
            <a:ext cx="0" cy="365760"/>
          </a:xfrm>
          <a:prstGeom prst="line">
            <a:avLst/>
          </a:prstGeom>
          <a:noFill/>
          <a:ln w="25400">
            <a:solidFill>
              <a:srgbClr val="7FB0FF"/>
            </a:solidFill>
            <a:prstDash val="solid"/>
            <a:tailEnd type="triangle"/>
          </a:ln>
        </p:spPr>
      </p:sp>
      <p:sp>
        <p:nvSpPr>
          <p:cNvPr id="41" name="Shape 39"/>
          <p:cNvSpPr/>
          <p:nvPr/>
        </p:nvSpPr>
        <p:spPr>
          <a:xfrm>
            <a:off x="7735824" y="5074920"/>
            <a:ext cx="0" cy="365760"/>
          </a:xfrm>
          <a:prstGeom prst="line">
            <a:avLst/>
          </a:prstGeom>
          <a:noFill/>
          <a:ln w="25400">
            <a:solidFill>
              <a:srgbClr val="7FB0FF"/>
            </a:solidFill>
            <a:prstDash val="solid"/>
            <a:tailEnd type="triangle"/>
          </a:ln>
        </p:spPr>
      </p:sp>
      <p:sp>
        <p:nvSpPr>
          <p:cNvPr id="42" name="Shape 40"/>
          <p:cNvSpPr/>
          <p:nvPr/>
        </p:nvSpPr>
        <p:spPr>
          <a:xfrm>
            <a:off x="9390888" y="5074920"/>
            <a:ext cx="0" cy="365760"/>
          </a:xfrm>
          <a:prstGeom prst="line">
            <a:avLst/>
          </a:prstGeom>
          <a:noFill/>
          <a:ln w="25400">
            <a:solidFill>
              <a:srgbClr val="7FB0FF"/>
            </a:solidFill>
            <a:prstDash val="solid"/>
            <a:tailEnd type="triangle"/>
          </a:ln>
        </p:spPr>
      </p:sp>
      <p:sp>
        <p:nvSpPr>
          <p:cNvPr id="43" name="Shape 41"/>
          <p:cNvSpPr/>
          <p:nvPr/>
        </p:nvSpPr>
        <p:spPr>
          <a:xfrm>
            <a:off x="11045952" y="5074920"/>
            <a:ext cx="0" cy="365760"/>
          </a:xfrm>
          <a:prstGeom prst="line">
            <a:avLst/>
          </a:prstGeom>
          <a:noFill/>
          <a:ln w="25400">
            <a:solidFill>
              <a:srgbClr val="7FB0FF"/>
            </a:solidFill>
            <a:prstDash val="solid"/>
            <a:tailEnd type="triangle"/>
          </a:ln>
        </p:spPr>
      </p:sp>
      <p:sp>
        <p:nvSpPr>
          <p:cNvPr id="44" name="Shape 42"/>
          <p:cNvSpPr/>
          <p:nvPr/>
        </p:nvSpPr>
        <p:spPr>
          <a:xfrm>
            <a:off x="5349240" y="5486400"/>
            <a:ext cx="6446520" cy="548640"/>
          </a:xfrm>
          <a:prstGeom prst="roundRect">
            <a:avLst>
              <a:gd name="adj" fmla="val 8333"/>
            </a:avLst>
          </a:prstGeom>
          <a:solidFill>
            <a:srgbClr val="2A9D8F"/>
          </a:solidFill>
          <a:ln w="12700">
            <a:solidFill>
              <a:srgbClr val="2A9D8F"/>
            </a:solidFill>
            <a:prstDash val="solid"/>
          </a:ln>
        </p:spPr>
      </p:sp>
      <p:sp>
        <p:nvSpPr>
          <p:cNvPr id="45" name="Text 43"/>
          <p:cNvSpPr/>
          <p:nvPr/>
        </p:nvSpPr>
        <p:spPr>
          <a:xfrm>
            <a:off x="5349240" y="5486400"/>
            <a:ext cx="6446520" cy="54864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SPEAKER  →  BLOCK / ESCALATE / ALLOW</a:t>
            </a:r>
            <a:endParaRPr lang="en-US" sz="1300" dirty="0"/>
          </a:p>
        </p:txBody>
      </p:sp>
      <p:sp>
        <p:nvSpPr>
          <p:cNvPr id="46" name="Text 44"/>
          <p:cNvSpPr/>
          <p:nvPr/>
        </p:nvSpPr>
        <p:spPr>
          <a:xfrm>
            <a:off x="457200" y="4297680"/>
            <a:ext cx="4297680" cy="2011680"/>
          </a:xfrm>
          <a:prstGeom prst="rect">
            <a:avLst/>
          </a:prstGeom>
          <a:noFill/>
          <a:ln/>
        </p:spPr>
        <p:txBody>
          <a:bodyPr wrap="square" lIns="0" tIns="0" rIns="0" bIns="0" rtlCol="0" anchor="ctr"/>
          <a:lstStyle/>
          <a:p>
            <a:pPr indent="0" marL="0">
              <a:spcAft>
                <a:spcPts val="500"/>
              </a:spcAft>
              <a:buNone/>
            </a:pPr>
            <a:r>
              <a:rPr lang="en-US" sz="1100" dirty="0">
                <a:solidFill>
                  <a:srgbClr val="0B1C3A"/>
                </a:solidFill>
                <a:latin typeface="Calibri" pitchFamily="34" charset="0"/>
                <a:ea typeface="Calibri" pitchFamily="34" charset="-122"/>
                <a:cs typeface="Calibri" pitchFamily="34" charset="-120"/>
              </a:rPr>
              <a:t>Five separate ChromaDB collections.</a:t>
            </a:r>
            <a:endParaRPr lang="en-US" sz="1100" dirty="0"/>
          </a:p>
          <a:p>
            <a:pPr indent="0" marL="0">
              <a:spcAft>
                <a:spcPts val="500"/>
              </a:spcAft>
              <a:buNone/>
            </a:pPr>
            <a:r>
              <a:rPr lang="en-US" sz="1100" dirty="0">
                <a:solidFill>
                  <a:srgbClr val="0B1C3A"/>
                </a:solidFill>
                <a:latin typeface="Calibri" pitchFamily="34" charset="0"/>
                <a:ea typeface="Calibri" pitchFamily="34" charset="-122"/>
                <a:cs typeface="Calibri" pitchFamily="34" charset="-120"/>
              </a:rPr>
              <a:t>BGE-base-en-v1.5 with mean pooling and asymmetric query prefix.</a:t>
            </a:r>
            <a:endParaRPr lang="en-US" sz="1100" dirty="0"/>
          </a:p>
          <a:p>
            <a:pPr indent="0" marL="0">
              <a:spcAft>
                <a:spcPts val="500"/>
              </a:spcAft>
              <a:buNone/>
            </a:pPr>
            <a:r>
              <a:rPr lang="en-US" sz="1100" dirty="0">
                <a:solidFill>
                  <a:srgbClr val="0B1C3A"/>
                </a:solidFill>
                <a:latin typeface="Calibri" pitchFamily="34" charset="0"/>
                <a:ea typeface="Calibri" pitchFamily="34" charset="-122"/>
                <a:cs typeface="Calibri" pitchFamily="34" charset="-120"/>
              </a:rPr>
              <a:t>Ministers run in parallel. Speaker is deterministic — no LLM in the hot path.</a:t>
            </a:r>
            <a:endParaRPr lang="en-US" sz="1100" dirty="0"/>
          </a:p>
          <a:p>
            <a:pPr indent="0" marL="0">
              <a:spcAft>
                <a:spcPts val="500"/>
              </a:spcAft>
              <a:buNone/>
            </a:pPr>
            <a:r>
              <a:rPr lang="en-US" sz="1100" dirty="0">
                <a:solidFill>
                  <a:srgbClr val="0B1C3A"/>
                </a:solidFill>
                <a:latin typeface="Calibri" pitchFamily="34" charset="0"/>
                <a:ea typeface="Calibri" pitchFamily="34" charset="-122"/>
                <a:cs typeface="Calibri" pitchFamily="34" charset="-120"/>
              </a:rPr>
              <a:t>Deny-first: any single confident BLOCK suffices.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07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06  ·  MINISTERS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Four specialists, disjoint corpora</a:t>
            </a:r>
            <a:endParaRPr lang="en-US" sz="3000" dirty="0"/>
          </a:p>
        </p:txBody>
      </p:sp>
      <p:sp>
        <p:nvSpPr>
          <p:cNvPr id="6" name="Text 4"/>
          <p:cNvSpPr/>
          <p:nvPr/>
        </p:nvSpPr>
        <p:spPr>
          <a:xfrm>
            <a:off x="457200" y="1234440"/>
            <a:ext cx="11247120" cy="36576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Each minister is a ChromaDB collection embedded with BGE-base. 50 patterns × 3 abstraction levels = 150 documents per collection.</a:t>
            </a:r>
            <a:endParaRPr lang="en-US" sz="1400" dirty="0"/>
          </a:p>
        </p:txBody>
      </p:sp>
      <p:sp>
        <p:nvSpPr>
          <p:cNvPr id="7" name="Shape 5"/>
          <p:cNvSpPr/>
          <p:nvPr/>
        </p:nvSpPr>
        <p:spPr>
          <a:xfrm>
            <a:off x="457200" y="1783080"/>
            <a:ext cx="5486400" cy="2103120"/>
          </a:xfrm>
          <a:prstGeom prst="rect">
            <a:avLst/>
          </a:prstGeom>
          <a:solidFill>
            <a:srgbClr val="FFFFFF"/>
          </a:solidFill>
          <a:ln w="12700">
            <a:solidFill>
              <a:srgbClr val="C9D6EC"/>
            </a:solidFill>
            <a:prstDash val="solid"/>
          </a:ln>
        </p:spPr>
      </p:sp>
      <p:sp>
        <p:nvSpPr>
          <p:cNvPr id="8" name="Shape 6"/>
          <p:cNvSpPr/>
          <p:nvPr/>
        </p:nvSpPr>
        <p:spPr>
          <a:xfrm>
            <a:off x="457200" y="1783080"/>
            <a:ext cx="109728" cy="2103120"/>
          </a:xfrm>
          <a:prstGeom prst="rect">
            <a:avLst/>
          </a:prstGeom>
          <a:solidFill>
            <a:srgbClr val="C0392B"/>
          </a:solidFill>
          <a:ln w="12700">
            <a:solidFill>
              <a:srgbClr val="333333"/>
            </a:solidFill>
            <a:prstDash val="solid"/>
          </a:ln>
        </p:spPr>
      </p:sp>
      <p:sp>
        <p:nvSpPr>
          <p:cNvPr id="9" name="Text 7"/>
          <p:cNvSpPr/>
          <p:nvPr/>
        </p:nvSpPr>
        <p:spPr>
          <a:xfrm>
            <a:off x="731520" y="1920240"/>
            <a:ext cx="4937760" cy="41148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EXECUTOR</a:t>
            </a:r>
            <a:endParaRPr lang="en-US" sz="2200" dirty="0"/>
          </a:p>
        </p:txBody>
      </p:sp>
      <p:sp>
        <p:nvSpPr>
          <p:cNvPr id="10" name="Text 8"/>
          <p:cNvSpPr/>
          <p:nvPr/>
        </p:nvSpPr>
        <p:spPr>
          <a:xfrm>
            <a:off x="731520" y="2331720"/>
            <a:ext cx="4937760" cy="274320"/>
          </a:xfrm>
          <a:prstGeom prst="rect">
            <a:avLst/>
          </a:prstGeom>
          <a:noFill/>
          <a:ln/>
        </p:spPr>
        <p:txBody>
          <a:bodyPr wrap="square" lIns="0" tIns="0" rIns="0" bIns="0" rtlCol="0" anchor="ctr"/>
          <a:lstStyle/>
          <a:p>
            <a:pPr indent="0" marL="0">
              <a:buNone/>
            </a:pPr>
            <a:r>
              <a:rPr lang="en-US" sz="1200" i="1" dirty="0">
                <a:solidFill>
                  <a:srgbClr val="0B1C3A"/>
                </a:solidFill>
                <a:latin typeface="Calibri" pitchFamily="34" charset="0"/>
                <a:ea typeface="Calibri" pitchFamily="34" charset="-122"/>
                <a:cs typeface="Calibri" pitchFamily="34" charset="-120"/>
              </a:rPr>
              <a:t>Code execution, persistence, lifecycle hooks</a:t>
            </a:r>
            <a:endParaRPr lang="en-US" sz="1200" dirty="0"/>
          </a:p>
        </p:txBody>
      </p:sp>
      <p:sp>
        <p:nvSpPr>
          <p:cNvPr id="11" name="Text 9"/>
          <p:cNvSpPr/>
          <p:nvPr/>
        </p:nvSpPr>
        <p:spPr>
          <a:xfrm>
            <a:off x="731520" y="26517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SOURCES</a:t>
            </a:r>
            <a:endParaRPr lang="en-US" sz="800" dirty="0"/>
          </a:p>
        </p:txBody>
      </p:sp>
      <p:sp>
        <p:nvSpPr>
          <p:cNvPr id="12" name="Text 10"/>
          <p:cNvSpPr/>
          <p:nvPr/>
        </p:nvSpPr>
        <p:spPr>
          <a:xfrm>
            <a:off x="731520" y="2816352"/>
            <a:ext cx="4937760" cy="274320"/>
          </a:xfrm>
          <a:prstGeom prst="rect">
            <a:avLst/>
          </a:prstGeom>
          <a:noFill/>
          <a:ln/>
        </p:spPr>
        <p:txBody>
          <a:bodyPr wrap="square" lIns="0" tIns="0" rIns="0" bIns="0" rtlCol="0" anchor="ctr"/>
          <a:lstStyle/>
          <a:p>
            <a:pPr indent="0" marL="0">
              <a:buNone/>
            </a:pPr>
            <a:r>
              <a:rPr lang="en-US" sz="1000" dirty="0">
                <a:solidFill>
                  <a:srgbClr val="0B1C3A"/>
                </a:solidFill>
                <a:latin typeface="Consolas" pitchFamily="34" charset="0"/>
                <a:ea typeface="Consolas" pitchFamily="34" charset="-122"/>
                <a:cs typeface="Consolas" pitchFamily="34" charset="-120"/>
              </a:rPr>
              <a:t>MITRE T1059, T1190, T1195, T1546, T1574  ·  OWASP Agentic A09</a:t>
            </a:r>
            <a:endParaRPr lang="en-US" sz="1000" dirty="0"/>
          </a:p>
        </p:txBody>
      </p:sp>
      <p:sp>
        <p:nvSpPr>
          <p:cNvPr id="13" name="Text 11"/>
          <p:cNvSpPr/>
          <p:nvPr/>
        </p:nvSpPr>
        <p:spPr>
          <a:xfrm>
            <a:off x="731520" y="31089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EXAMPLE PATTERNS</a:t>
            </a:r>
            <a:endParaRPr lang="en-US" sz="800" dirty="0"/>
          </a:p>
        </p:txBody>
      </p:sp>
      <p:sp>
        <p:nvSpPr>
          <p:cNvPr id="14" name="Text 12"/>
          <p:cNvSpPr/>
          <p:nvPr/>
        </p:nvSpPr>
        <p:spPr>
          <a:xfrm>
            <a:off x="731520" y="3291840"/>
            <a:ext cx="4937760" cy="5029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curl-pipe-bash, git-hook install, CI workflow injection, supply-chain dependency swap, kernel-module load, cron drop-in, sudoers edit</a:t>
            </a:r>
            <a:endParaRPr lang="en-US" sz="1000" dirty="0"/>
          </a:p>
        </p:txBody>
      </p:sp>
      <p:sp>
        <p:nvSpPr>
          <p:cNvPr id="15" name="Shape 13"/>
          <p:cNvSpPr/>
          <p:nvPr/>
        </p:nvSpPr>
        <p:spPr>
          <a:xfrm>
            <a:off x="6263640" y="1783080"/>
            <a:ext cx="5486400" cy="2103120"/>
          </a:xfrm>
          <a:prstGeom prst="rect">
            <a:avLst/>
          </a:prstGeom>
          <a:solidFill>
            <a:srgbClr val="FFFFFF"/>
          </a:solidFill>
          <a:ln w="12700">
            <a:solidFill>
              <a:srgbClr val="C9D6EC"/>
            </a:solidFill>
            <a:prstDash val="solid"/>
          </a:ln>
        </p:spPr>
      </p:sp>
      <p:sp>
        <p:nvSpPr>
          <p:cNvPr id="16" name="Shape 14"/>
          <p:cNvSpPr/>
          <p:nvPr/>
        </p:nvSpPr>
        <p:spPr>
          <a:xfrm>
            <a:off x="6263640" y="1783080"/>
            <a:ext cx="109728" cy="2103120"/>
          </a:xfrm>
          <a:prstGeom prst="rect">
            <a:avLst/>
          </a:prstGeom>
          <a:solidFill>
            <a:srgbClr val="8E44AD"/>
          </a:solidFill>
          <a:ln w="12700">
            <a:solidFill>
              <a:srgbClr val="333333"/>
            </a:solidFill>
            <a:prstDash val="solid"/>
          </a:ln>
        </p:spPr>
      </p:sp>
      <p:sp>
        <p:nvSpPr>
          <p:cNvPr id="17" name="Text 15"/>
          <p:cNvSpPr/>
          <p:nvPr/>
        </p:nvSpPr>
        <p:spPr>
          <a:xfrm>
            <a:off x="6537960" y="1920240"/>
            <a:ext cx="4937760" cy="411480"/>
          </a:xfrm>
          <a:prstGeom prst="rect">
            <a:avLst/>
          </a:prstGeom>
          <a:noFill/>
          <a:ln/>
        </p:spPr>
        <p:txBody>
          <a:bodyPr wrap="square" lIns="0" tIns="0" rIns="0" bIns="0" rtlCol="0" anchor="ctr"/>
          <a:lstStyle/>
          <a:p>
            <a:pPr indent="0" marL="0">
              <a:buNone/>
            </a:pPr>
            <a:r>
              <a:rPr lang="en-US" sz="2200" b="1" dirty="0">
                <a:solidFill>
                  <a:srgbClr val="8E44AD"/>
                </a:solidFill>
                <a:latin typeface="Georgia" pitchFamily="34" charset="0"/>
                <a:ea typeface="Georgia" pitchFamily="34" charset="-122"/>
                <a:cs typeface="Georgia" pitchFamily="34" charset="-120"/>
              </a:rPr>
              <a:t>VAULT</a:t>
            </a:r>
            <a:endParaRPr lang="en-US" sz="2200" dirty="0"/>
          </a:p>
        </p:txBody>
      </p:sp>
      <p:sp>
        <p:nvSpPr>
          <p:cNvPr id="18" name="Text 16"/>
          <p:cNvSpPr/>
          <p:nvPr/>
        </p:nvSpPr>
        <p:spPr>
          <a:xfrm>
            <a:off x="6537960" y="2331720"/>
            <a:ext cx="4937760" cy="274320"/>
          </a:xfrm>
          <a:prstGeom prst="rect">
            <a:avLst/>
          </a:prstGeom>
          <a:noFill/>
          <a:ln/>
        </p:spPr>
        <p:txBody>
          <a:bodyPr wrap="square" lIns="0" tIns="0" rIns="0" bIns="0" rtlCol="0" anchor="ctr"/>
          <a:lstStyle/>
          <a:p>
            <a:pPr indent="0" marL="0">
              <a:buNone/>
            </a:pPr>
            <a:r>
              <a:rPr lang="en-US" sz="1200" i="1" dirty="0">
                <a:solidFill>
                  <a:srgbClr val="0B1C3A"/>
                </a:solidFill>
                <a:latin typeface="Calibri" pitchFamily="34" charset="0"/>
                <a:ea typeface="Calibri" pitchFamily="34" charset="-122"/>
                <a:cs typeface="Calibri" pitchFamily="34" charset="-120"/>
              </a:rPr>
              <a:t>Credential and secret theft</a:t>
            </a:r>
            <a:endParaRPr lang="en-US" sz="1200" dirty="0"/>
          </a:p>
        </p:txBody>
      </p:sp>
      <p:sp>
        <p:nvSpPr>
          <p:cNvPr id="19" name="Text 17"/>
          <p:cNvSpPr/>
          <p:nvPr/>
        </p:nvSpPr>
        <p:spPr>
          <a:xfrm>
            <a:off x="6537960" y="26517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SOURCES</a:t>
            </a:r>
            <a:endParaRPr lang="en-US" sz="800" dirty="0"/>
          </a:p>
        </p:txBody>
      </p:sp>
      <p:sp>
        <p:nvSpPr>
          <p:cNvPr id="20" name="Text 18"/>
          <p:cNvSpPr/>
          <p:nvPr/>
        </p:nvSpPr>
        <p:spPr>
          <a:xfrm>
            <a:off x="6537960" y="2816352"/>
            <a:ext cx="4937760" cy="274320"/>
          </a:xfrm>
          <a:prstGeom prst="rect">
            <a:avLst/>
          </a:prstGeom>
          <a:noFill/>
          <a:ln/>
        </p:spPr>
        <p:txBody>
          <a:bodyPr wrap="square" lIns="0" tIns="0" rIns="0" bIns="0" rtlCol="0" anchor="ctr"/>
          <a:lstStyle/>
          <a:p>
            <a:pPr indent="0" marL="0">
              <a:buNone/>
            </a:pPr>
            <a:r>
              <a:rPr lang="en-US" sz="1000" dirty="0">
                <a:solidFill>
                  <a:srgbClr val="0B1C3A"/>
                </a:solidFill>
                <a:latin typeface="Consolas" pitchFamily="34" charset="0"/>
                <a:ea typeface="Consolas" pitchFamily="34" charset="-122"/>
                <a:cs typeface="Consolas" pitchFamily="34" charset="-120"/>
              </a:rPr>
              <a:t>MITRE T1552, T1078, T1539, T1555  ·  OWASP Agentic A02, A06</a:t>
            </a:r>
            <a:endParaRPr lang="en-US" sz="1000" dirty="0"/>
          </a:p>
        </p:txBody>
      </p:sp>
      <p:sp>
        <p:nvSpPr>
          <p:cNvPr id="21" name="Text 19"/>
          <p:cNvSpPr/>
          <p:nvPr/>
        </p:nvSpPr>
        <p:spPr>
          <a:xfrm>
            <a:off x="6537960" y="31089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EXAMPLE PATTERNS</a:t>
            </a:r>
            <a:endParaRPr lang="en-US" sz="800" dirty="0"/>
          </a:p>
        </p:txBody>
      </p:sp>
      <p:sp>
        <p:nvSpPr>
          <p:cNvPr id="22" name="Text 20"/>
          <p:cNvSpPr/>
          <p:nvPr/>
        </p:nvSpPr>
        <p:spPr>
          <a:xfrm>
            <a:off x="6537960" y="3291840"/>
            <a:ext cx="4937760" cy="5029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browser credential DB, ~/.aws/credentials, cloud metadata token, k8s service-account token, SSH agent socket, /etc/shadow, vault dump</a:t>
            </a:r>
            <a:endParaRPr lang="en-US" sz="1000" dirty="0"/>
          </a:p>
        </p:txBody>
      </p:sp>
      <p:sp>
        <p:nvSpPr>
          <p:cNvPr id="23" name="Shape 21"/>
          <p:cNvSpPr/>
          <p:nvPr/>
        </p:nvSpPr>
        <p:spPr>
          <a:xfrm>
            <a:off x="457200" y="4069080"/>
            <a:ext cx="5486400" cy="2103120"/>
          </a:xfrm>
          <a:prstGeom prst="rect">
            <a:avLst/>
          </a:prstGeom>
          <a:solidFill>
            <a:srgbClr val="FFFFFF"/>
          </a:solidFill>
          <a:ln w="12700">
            <a:solidFill>
              <a:srgbClr val="C9D6EC"/>
            </a:solidFill>
            <a:prstDash val="solid"/>
          </a:ln>
        </p:spPr>
      </p:sp>
      <p:sp>
        <p:nvSpPr>
          <p:cNvPr id="24" name="Shape 22"/>
          <p:cNvSpPr/>
          <p:nvPr/>
        </p:nvSpPr>
        <p:spPr>
          <a:xfrm>
            <a:off x="457200" y="4069080"/>
            <a:ext cx="109728" cy="2103120"/>
          </a:xfrm>
          <a:prstGeom prst="rect">
            <a:avLst/>
          </a:prstGeom>
          <a:solidFill>
            <a:srgbClr val="16A085"/>
          </a:solidFill>
          <a:ln w="12700">
            <a:solidFill>
              <a:srgbClr val="333333"/>
            </a:solidFill>
            <a:prstDash val="solid"/>
          </a:ln>
        </p:spPr>
      </p:sp>
      <p:sp>
        <p:nvSpPr>
          <p:cNvPr id="25" name="Text 23"/>
          <p:cNvSpPr/>
          <p:nvPr/>
        </p:nvSpPr>
        <p:spPr>
          <a:xfrm>
            <a:off x="731520" y="4206240"/>
            <a:ext cx="4937760" cy="411480"/>
          </a:xfrm>
          <a:prstGeom prst="rect">
            <a:avLst/>
          </a:prstGeom>
          <a:noFill/>
          <a:ln/>
        </p:spPr>
        <p:txBody>
          <a:bodyPr wrap="square" lIns="0" tIns="0" rIns="0" bIns="0" rtlCol="0" anchor="ctr"/>
          <a:lstStyle/>
          <a:p>
            <a:pPr indent="0" marL="0">
              <a:buNone/>
            </a:pPr>
            <a:r>
              <a:rPr lang="en-US" sz="2200" b="1" dirty="0">
                <a:solidFill>
                  <a:srgbClr val="16A085"/>
                </a:solidFill>
                <a:latin typeface="Georgia" pitchFamily="34" charset="0"/>
                <a:ea typeface="Georgia" pitchFamily="34" charset="-122"/>
                <a:cs typeface="Georgia" pitchFamily="34" charset="-120"/>
              </a:rPr>
              <a:t>CHANNEL</a:t>
            </a:r>
            <a:endParaRPr lang="en-US" sz="2200" dirty="0"/>
          </a:p>
        </p:txBody>
      </p:sp>
      <p:sp>
        <p:nvSpPr>
          <p:cNvPr id="26" name="Text 24"/>
          <p:cNvSpPr/>
          <p:nvPr/>
        </p:nvSpPr>
        <p:spPr>
          <a:xfrm>
            <a:off x="731520" y="4617720"/>
            <a:ext cx="4937760" cy="274320"/>
          </a:xfrm>
          <a:prstGeom prst="rect">
            <a:avLst/>
          </a:prstGeom>
          <a:noFill/>
          <a:ln/>
        </p:spPr>
        <p:txBody>
          <a:bodyPr wrap="square" lIns="0" tIns="0" rIns="0" bIns="0" rtlCol="0" anchor="ctr"/>
          <a:lstStyle/>
          <a:p>
            <a:pPr indent="0" marL="0">
              <a:buNone/>
            </a:pPr>
            <a:r>
              <a:rPr lang="en-US" sz="1200" i="1" dirty="0">
                <a:solidFill>
                  <a:srgbClr val="0B1C3A"/>
                </a:solidFill>
                <a:latin typeface="Calibri" pitchFamily="34" charset="0"/>
                <a:ea typeface="Calibri" pitchFamily="34" charset="-122"/>
                <a:cs typeface="Calibri" pitchFamily="34" charset="-120"/>
              </a:rPr>
              <a:t>Data exfiltration</a:t>
            </a:r>
            <a:endParaRPr lang="en-US" sz="1200" dirty="0"/>
          </a:p>
        </p:txBody>
      </p:sp>
      <p:sp>
        <p:nvSpPr>
          <p:cNvPr id="27" name="Text 25"/>
          <p:cNvSpPr/>
          <p:nvPr/>
        </p:nvSpPr>
        <p:spPr>
          <a:xfrm>
            <a:off x="731520" y="49377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SOURCES</a:t>
            </a:r>
            <a:endParaRPr lang="en-US" sz="800" dirty="0"/>
          </a:p>
        </p:txBody>
      </p:sp>
      <p:sp>
        <p:nvSpPr>
          <p:cNvPr id="28" name="Text 26"/>
          <p:cNvSpPr/>
          <p:nvPr/>
        </p:nvSpPr>
        <p:spPr>
          <a:xfrm>
            <a:off x="731520" y="5102352"/>
            <a:ext cx="4937760" cy="274320"/>
          </a:xfrm>
          <a:prstGeom prst="rect">
            <a:avLst/>
          </a:prstGeom>
          <a:noFill/>
          <a:ln/>
        </p:spPr>
        <p:txBody>
          <a:bodyPr wrap="square" lIns="0" tIns="0" rIns="0" bIns="0" rtlCol="0" anchor="ctr"/>
          <a:lstStyle/>
          <a:p>
            <a:pPr indent="0" marL="0">
              <a:buNone/>
            </a:pPr>
            <a:r>
              <a:rPr lang="en-US" sz="1000" dirty="0">
                <a:solidFill>
                  <a:srgbClr val="0B1C3A"/>
                </a:solidFill>
                <a:latin typeface="Consolas" pitchFamily="34" charset="0"/>
                <a:ea typeface="Consolas" pitchFamily="34" charset="-122"/>
                <a:cs typeface="Consolas" pitchFamily="34" charset="-120"/>
              </a:rPr>
              <a:t>MITRE T1041, T1567, T1071, T1048, T1572  ·  OWASP Agentic A04</a:t>
            </a:r>
            <a:endParaRPr lang="en-US" sz="1000" dirty="0"/>
          </a:p>
        </p:txBody>
      </p:sp>
      <p:sp>
        <p:nvSpPr>
          <p:cNvPr id="29" name="Text 27"/>
          <p:cNvSpPr/>
          <p:nvPr/>
        </p:nvSpPr>
        <p:spPr>
          <a:xfrm>
            <a:off x="731520" y="53949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EXAMPLE PATTERNS</a:t>
            </a:r>
            <a:endParaRPr lang="en-US" sz="800" dirty="0"/>
          </a:p>
        </p:txBody>
      </p:sp>
      <p:sp>
        <p:nvSpPr>
          <p:cNvPr id="30" name="Text 28"/>
          <p:cNvSpPr/>
          <p:nvPr/>
        </p:nvSpPr>
        <p:spPr>
          <a:xfrm>
            <a:off x="731520" y="5577840"/>
            <a:ext cx="4937760" cy="5029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webhook paste, Discord/Slack/Telegram, anonymous S3 bucket, DNS tunnel, reverse shell, rclone sync, image-URL credential exfil</a:t>
            </a:r>
            <a:endParaRPr lang="en-US" sz="1000" dirty="0"/>
          </a:p>
        </p:txBody>
      </p:sp>
      <p:sp>
        <p:nvSpPr>
          <p:cNvPr id="31" name="Shape 29"/>
          <p:cNvSpPr/>
          <p:nvPr/>
        </p:nvSpPr>
        <p:spPr>
          <a:xfrm>
            <a:off x="6263640" y="4069080"/>
            <a:ext cx="5486400" cy="2103120"/>
          </a:xfrm>
          <a:prstGeom prst="rect">
            <a:avLst/>
          </a:prstGeom>
          <a:solidFill>
            <a:srgbClr val="FFFFFF"/>
          </a:solidFill>
          <a:ln w="12700">
            <a:solidFill>
              <a:srgbClr val="C9D6EC"/>
            </a:solidFill>
            <a:prstDash val="solid"/>
          </a:ln>
        </p:spPr>
      </p:sp>
      <p:sp>
        <p:nvSpPr>
          <p:cNvPr id="32" name="Shape 30"/>
          <p:cNvSpPr/>
          <p:nvPr/>
        </p:nvSpPr>
        <p:spPr>
          <a:xfrm>
            <a:off x="6263640" y="4069080"/>
            <a:ext cx="109728" cy="2103120"/>
          </a:xfrm>
          <a:prstGeom prst="rect">
            <a:avLst/>
          </a:prstGeom>
          <a:solidFill>
            <a:srgbClr val="D68910"/>
          </a:solidFill>
          <a:ln w="12700">
            <a:solidFill>
              <a:srgbClr val="333333"/>
            </a:solidFill>
            <a:prstDash val="solid"/>
          </a:ln>
        </p:spPr>
      </p:sp>
      <p:sp>
        <p:nvSpPr>
          <p:cNvPr id="33" name="Text 31"/>
          <p:cNvSpPr/>
          <p:nvPr/>
        </p:nvSpPr>
        <p:spPr>
          <a:xfrm>
            <a:off x="6537960" y="4206240"/>
            <a:ext cx="4937760" cy="411480"/>
          </a:xfrm>
          <a:prstGeom prst="rect">
            <a:avLst/>
          </a:prstGeom>
          <a:noFill/>
          <a:ln/>
        </p:spPr>
        <p:txBody>
          <a:bodyPr wrap="square" lIns="0" tIns="0" rIns="0" bIns="0" rtlCol="0" anchor="ctr"/>
          <a:lstStyle/>
          <a:p>
            <a:pPr indent="0" marL="0">
              <a:buNone/>
            </a:pPr>
            <a:r>
              <a:rPr lang="en-US" sz="2200" b="1" dirty="0">
                <a:solidFill>
                  <a:srgbClr val="D68910"/>
                </a:solidFill>
                <a:latin typeface="Georgia" pitchFamily="34" charset="0"/>
                <a:ea typeface="Georgia" pitchFamily="34" charset="-122"/>
                <a:cs typeface="Georgia" pitchFamily="34" charset="-120"/>
              </a:rPr>
              <a:t>NAVIGATOR</a:t>
            </a:r>
            <a:endParaRPr lang="en-US" sz="2200" dirty="0"/>
          </a:p>
        </p:txBody>
      </p:sp>
      <p:sp>
        <p:nvSpPr>
          <p:cNvPr id="34" name="Text 32"/>
          <p:cNvSpPr/>
          <p:nvPr/>
        </p:nvSpPr>
        <p:spPr>
          <a:xfrm>
            <a:off x="6537960" y="4617720"/>
            <a:ext cx="4937760" cy="274320"/>
          </a:xfrm>
          <a:prstGeom prst="rect">
            <a:avLst/>
          </a:prstGeom>
          <a:noFill/>
          <a:ln/>
        </p:spPr>
        <p:txBody>
          <a:bodyPr wrap="square" lIns="0" tIns="0" rIns="0" bIns="0" rtlCol="0" anchor="ctr"/>
          <a:lstStyle/>
          <a:p>
            <a:pPr indent="0" marL="0">
              <a:buNone/>
            </a:pPr>
            <a:r>
              <a:rPr lang="en-US" sz="1200" i="1" dirty="0">
                <a:solidFill>
                  <a:srgbClr val="0B1C3A"/>
                </a:solidFill>
                <a:latin typeface="Calibri" pitchFamily="34" charset="0"/>
                <a:ea typeface="Calibri" pitchFamily="34" charset="-122"/>
                <a:cs typeface="Calibri" pitchFamily="34" charset="-120"/>
              </a:rPr>
              <a:t>Trajectory drift, intent breaking, scope widening</a:t>
            </a:r>
            <a:endParaRPr lang="en-US" sz="1200" dirty="0"/>
          </a:p>
        </p:txBody>
      </p:sp>
      <p:sp>
        <p:nvSpPr>
          <p:cNvPr id="35" name="Text 33"/>
          <p:cNvSpPr/>
          <p:nvPr/>
        </p:nvSpPr>
        <p:spPr>
          <a:xfrm>
            <a:off x="6537960" y="49377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SOURCES</a:t>
            </a:r>
            <a:endParaRPr lang="en-US" sz="800" dirty="0"/>
          </a:p>
        </p:txBody>
      </p:sp>
      <p:sp>
        <p:nvSpPr>
          <p:cNvPr id="36" name="Text 34"/>
          <p:cNvSpPr/>
          <p:nvPr/>
        </p:nvSpPr>
        <p:spPr>
          <a:xfrm>
            <a:off x="6537960" y="5102352"/>
            <a:ext cx="4937760" cy="274320"/>
          </a:xfrm>
          <a:prstGeom prst="rect">
            <a:avLst/>
          </a:prstGeom>
          <a:noFill/>
          <a:ln/>
        </p:spPr>
        <p:txBody>
          <a:bodyPr wrap="square" lIns="0" tIns="0" rIns="0" bIns="0" rtlCol="0" anchor="ctr"/>
          <a:lstStyle/>
          <a:p>
            <a:pPr indent="0" marL="0">
              <a:buNone/>
            </a:pPr>
            <a:r>
              <a:rPr lang="en-US" sz="1000" dirty="0">
                <a:solidFill>
                  <a:srgbClr val="0B1C3A"/>
                </a:solidFill>
                <a:latin typeface="Consolas" pitchFamily="34" charset="0"/>
                <a:ea typeface="Consolas" pitchFamily="34" charset="-122"/>
                <a:cs typeface="Consolas" pitchFamily="34" charset="-120"/>
              </a:rPr>
              <a:t>MITRE T1083, T1057, T1005, T1135, T1119  ·  OWASP Agentic A01</a:t>
            </a:r>
            <a:endParaRPr lang="en-US" sz="1000" dirty="0"/>
          </a:p>
        </p:txBody>
      </p:sp>
      <p:sp>
        <p:nvSpPr>
          <p:cNvPr id="37" name="Text 35"/>
          <p:cNvSpPr/>
          <p:nvPr/>
        </p:nvSpPr>
        <p:spPr>
          <a:xfrm>
            <a:off x="6537960" y="5394960"/>
            <a:ext cx="4937760" cy="182880"/>
          </a:xfrm>
          <a:prstGeom prst="rect">
            <a:avLst/>
          </a:prstGeom>
          <a:noFill/>
          <a:ln/>
        </p:spPr>
        <p:txBody>
          <a:bodyPr wrap="square" lIns="0" tIns="0" rIns="0" bIns="0" rtlCol="0" anchor="ctr"/>
          <a:lstStyle/>
          <a:p>
            <a:pPr indent="0" marL="0">
              <a:buNone/>
            </a:pPr>
            <a:r>
              <a:rPr lang="en-US" sz="800" b="1" spc="300" kern="0" dirty="0">
                <a:solidFill>
                  <a:srgbClr val="5A6B85"/>
                </a:solidFill>
                <a:latin typeface="Calibri" pitchFamily="34" charset="0"/>
                <a:ea typeface="Calibri" pitchFamily="34" charset="-122"/>
                <a:cs typeface="Calibri" pitchFamily="34" charset="-120"/>
              </a:rPr>
              <a:t>EXAMPLE PATTERNS</a:t>
            </a:r>
            <a:endParaRPr lang="en-US" sz="800" dirty="0"/>
          </a:p>
        </p:txBody>
      </p:sp>
      <p:sp>
        <p:nvSpPr>
          <p:cNvPr id="38" name="Text 36"/>
          <p:cNvSpPr/>
          <p:nvPr/>
        </p:nvSpPr>
        <p:spPr>
          <a:xfrm>
            <a:off x="6537960" y="5577840"/>
            <a:ext cx="4937760" cy="5029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scope widening, task pivot, fs/process recon, secret-pattern grep, encoding obfuscation, fake user follow-up, log clearing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08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07  ·  COMPASS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COMPASS — does the action serve the user's task?</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A session-level alignment oracle. Cosine similarity between the seeded user intent and the proposed action; drift below threshold is corroborating evidence.</a:t>
            </a:r>
            <a:endParaRPr lang="en-US" sz="1400" dirty="0"/>
          </a:p>
        </p:txBody>
      </p:sp>
      <p:sp>
        <p:nvSpPr>
          <p:cNvPr id="7" name="Shape 5"/>
          <p:cNvSpPr/>
          <p:nvPr/>
        </p:nvSpPr>
        <p:spPr>
          <a:xfrm>
            <a:off x="457200" y="1828800"/>
            <a:ext cx="5212080" cy="4434840"/>
          </a:xfrm>
          <a:prstGeom prst="rect">
            <a:avLst/>
          </a:prstGeom>
          <a:solidFill>
            <a:srgbClr val="FFFFFF"/>
          </a:solidFill>
          <a:ln w="12700">
            <a:solidFill>
              <a:srgbClr val="C9D6EC"/>
            </a:solidFill>
            <a:prstDash val="solid"/>
          </a:ln>
        </p:spPr>
      </p:sp>
      <p:sp>
        <p:nvSpPr>
          <p:cNvPr id="8" name="Shape 6"/>
          <p:cNvSpPr/>
          <p:nvPr/>
        </p:nvSpPr>
        <p:spPr>
          <a:xfrm>
            <a:off x="457200" y="1828800"/>
            <a:ext cx="5212080" cy="411480"/>
          </a:xfrm>
          <a:prstGeom prst="rect">
            <a:avLst/>
          </a:prstGeom>
          <a:solidFill>
            <a:srgbClr val="E9C46A"/>
          </a:solidFill>
          <a:ln w="12700">
            <a:solidFill>
              <a:srgbClr val="333333"/>
            </a:solidFill>
            <a:prstDash val="solid"/>
          </a:ln>
        </p:spPr>
      </p:sp>
      <p:sp>
        <p:nvSpPr>
          <p:cNvPr id="9" name="Text 7"/>
          <p:cNvSpPr/>
          <p:nvPr/>
        </p:nvSpPr>
        <p:spPr>
          <a:xfrm>
            <a:off x="640080" y="1828800"/>
            <a:ext cx="4846320" cy="411480"/>
          </a:xfrm>
          <a:prstGeom prst="rect">
            <a:avLst/>
          </a:prstGeom>
          <a:noFill/>
          <a:ln/>
        </p:spPr>
        <p:txBody>
          <a:bodyPr wrap="square" lIns="0" tIns="0" rIns="0" bIns="0" rtlCol="0" anchor="ctr"/>
          <a:lstStyle/>
          <a:p>
            <a:pPr indent="0" marL="0">
              <a:buNone/>
            </a:pPr>
            <a:r>
              <a:rPr lang="en-US" sz="1200" b="1" spc="400" kern="0" dirty="0">
                <a:solidFill>
                  <a:srgbClr val="081530"/>
                </a:solidFill>
                <a:latin typeface="Calibri" pitchFamily="34" charset="0"/>
                <a:ea typeface="Calibri" pitchFamily="34" charset="-122"/>
                <a:cs typeface="Calibri" pitchFamily="34" charset="-120"/>
              </a:rPr>
              <a:t>HOW IT WORKS</a:t>
            </a:r>
            <a:endParaRPr lang="en-US" sz="1200" dirty="0"/>
          </a:p>
        </p:txBody>
      </p:sp>
      <p:sp>
        <p:nvSpPr>
          <p:cNvPr id="10" name="Shape 8"/>
          <p:cNvSpPr/>
          <p:nvPr/>
        </p:nvSpPr>
        <p:spPr>
          <a:xfrm>
            <a:off x="685800" y="2468880"/>
            <a:ext cx="411480" cy="411480"/>
          </a:xfrm>
          <a:prstGeom prst="ellipse">
            <a:avLst/>
          </a:prstGeom>
          <a:solidFill>
            <a:srgbClr val="E9C46A"/>
          </a:solidFill>
          <a:ln w="12700">
            <a:solidFill>
              <a:srgbClr val="333333"/>
            </a:solidFill>
            <a:prstDash val="solid"/>
          </a:ln>
        </p:spPr>
      </p:sp>
      <p:sp>
        <p:nvSpPr>
          <p:cNvPr id="11" name="Text 9"/>
          <p:cNvSpPr/>
          <p:nvPr/>
        </p:nvSpPr>
        <p:spPr>
          <a:xfrm>
            <a:off x="685800" y="2468880"/>
            <a:ext cx="411480" cy="411480"/>
          </a:xfrm>
          <a:prstGeom prst="rect">
            <a:avLst/>
          </a:prstGeom>
          <a:noFill/>
          <a:ln/>
        </p:spPr>
        <p:txBody>
          <a:bodyPr wrap="square" lIns="0" tIns="0" rIns="0" bIns="0" rtlCol="0" anchor="ctr"/>
          <a:lstStyle/>
          <a:p>
            <a:pPr algn="ctr" indent="0" marL="0">
              <a:buNone/>
            </a:pPr>
            <a:r>
              <a:rPr lang="en-US" sz="1400" b="1" dirty="0">
                <a:solidFill>
                  <a:srgbClr val="081530"/>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234440" y="2542032"/>
            <a:ext cx="4206240" cy="45720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User message arrives — embed it as the intent vector v_intent</a:t>
            </a:r>
            <a:endParaRPr lang="en-US" sz="1200" dirty="0"/>
          </a:p>
        </p:txBody>
      </p:sp>
      <p:sp>
        <p:nvSpPr>
          <p:cNvPr id="13" name="Shape 11"/>
          <p:cNvSpPr/>
          <p:nvPr/>
        </p:nvSpPr>
        <p:spPr>
          <a:xfrm>
            <a:off x="685800" y="3182112"/>
            <a:ext cx="411480" cy="411480"/>
          </a:xfrm>
          <a:prstGeom prst="ellipse">
            <a:avLst/>
          </a:prstGeom>
          <a:solidFill>
            <a:srgbClr val="E9C46A"/>
          </a:solidFill>
          <a:ln w="12700">
            <a:solidFill>
              <a:srgbClr val="333333"/>
            </a:solidFill>
            <a:prstDash val="solid"/>
          </a:ln>
        </p:spPr>
      </p:sp>
      <p:sp>
        <p:nvSpPr>
          <p:cNvPr id="14" name="Text 12"/>
          <p:cNvSpPr/>
          <p:nvPr/>
        </p:nvSpPr>
        <p:spPr>
          <a:xfrm>
            <a:off x="685800" y="3182112"/>
            <a:ext cx="411480" cy="411480"/>
          </a:xfrm>
          <a:prstGeom prst="rect">
            <a:avLst/>
          </a:prstGeom>
          <a:noFill/>
          <a:ln/>
        </p:spPr>
        <p:txBody>
          <a:bodyPr wrap="square" lIns="0" tIns="0" rIns="0" bIns="0" rtlCol="0" anchor="ctr"/>
          <a:lstStyle/>
          <a:p>
            <a:pPr algn="ctr" indent="0" marL="0">
              <a:buNone/>
            </a:pPr>
            <a:r>
              <a:rPr lang="en-US" sz="1400" b="1" dirty="0">
                <a:solidFill>
                  <a:srgbClr val="081530"/>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234440" y="3255264"/>
            <a:ext cx="4206240" cy="45720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Each proposed tool call → embed as v_action</a:t>
            </a:r>
            <a:endParaRPr lang="en-US" sz="1200" dirty="0"/>
          </a:p>
        </p:txBody>
      </p:sp>
      <p:sp>
        <p:nvSpPr>
          <p:cNvPr id="16" name="Shape 14"/>
          <p:cNvSpPr/>
          <p:nvPr/>
        </p:nvSpPr>
        <p:spPr>
          <a:xfrm>
            <a:off x="685800" y="3895344"/>
            <a:ext cx="411480" cy="411480"/>
          </a:xfrm>
          <a:prstGeom prst="ellipse">
            <a:avLst/>
          </a:prstGeom>
          <a:solidFill>
            <a:srgbClr val="E9C46A"/>
          </a:solidFill>
          <a:ln w="12700">
            <a:solidFill>
              <a:srgbClr val="333333"/>
            </a:solidFill>
            <a:prstDash val="solid"/>
          </a:ln>
        </p:spPr>
      </p:sp>
      <p:sp>
        <p:nvSpPr>
          <p:cNvPr id="17" name="Text 15"/>
          <p:cNvSpPr/>
          <p:nvPr/>
        </p:nvSpPr>
        <p:spPr>
          <a:xfrm>
            <a:off x="685800" y="3895344"/>
            <a:ext cx="411480" cy="411480"/>
          </a:xfrm>
          <a:prstGeom prst="rect">
            <a:avLst/>
          </a:prstGeom>
          <a:noFill/>
          <a:ln/>
        </p:spPr>
        <p:txBody>
          <a:bodyPr wrap="square" lIns="0" tIns="0" rIns="0" bIns="0" rtlCol="0" anchor="ctr"/>
          <a:lstStyle/>
          <a:p>
            <a:pPr algn="ctr" indent="0" marL="0">
              <a:buNone/>
            </a:pPr>
            <a:r>
              <a:rPr lang="en-US" sz="1400" b="1" dirty="0">
                <a:solidFill>
                  <a:srgbClr val="081530"/>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34440" y="3968496"/>
            <a:ext cx="4206240" cy="45720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sim = cosine(v_intent, v_action)  ·  both BGE-normalized</a:t>
            </a:r>
            <a:endParaRPr lang="en-US" sz="1200" dirty="0"/>
          </a:p>
        </p:txBody>
      </p:sp>
      <p:sp>
        <p:nvSpPr>
          <p:cNvPr id="19" name="Shape 17"/>
          <p:cNvSpPr/>
          <p:nvPr/>
        </p:nvSpPr>
        <p:spPr>
          <a:xfrm>
            <a:off x="685800" y="4608576"/>
            <a:ext cx="411480" cy="411480"/>
          </a:xfrm>
          <a:prstGeom prst="ellipse">
            <a:avLst/>
          </a:prstGeom>
          <a:solidFill>
            <a:srgbClr val="E9C46A"/>
          </a:solidFill>
          <a:ln w="12700">
            <a:solidFill>
              <a:srgbClr val="333333"/>
            </a:solidFill>
            <a:prstDash val="solid"/>
          </a:ln>
        </p:spPr>
      </p:sp>
      <p:sp>
        <p:nvSpPr>
          <p:cNvPr id="20" name="Text 18"/>
          <p:cNvSpPr/>
          <p:nvPr/>
        </p:nvSpPr>
        <p:spPr>
          <a:xfrm>
            <a:off x="685800" y="4608576"/>
            <a:ext cx="411480" cy="411480"/>
          </a:xfrm>
          <a:prstGeom prst="rect">
            <a:avLst/>
          </a:prstGeom>
          <a:noFill/>
          <a:ln/>
        </p:spPr>
        <p:txBody>
          <a:bodyPr wrap="square" lIns="0" tIns="0" rIns="0" bIns="0" rtlCol="0" anchor="ctr"/>
          <a:lstStyle/>
          <a:p>
            <a:pPr algn="ctr" indent="0" marL="0">
              <a:buNone/>
            </a:pPr>
            <a:r>
              <a:rPr lang="en-US" sz="1400" b="1" dirty="0">
                <a:solidFill>
                  <a:srgbClr val="081530"/>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234440" y="4681728"/>
            <a:ext cx="4206240" cy="45720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If sim &lt; threshold → drift detected</a:t>
            </a:r>
            <a:endParaRPr lang="en-US" sz="1200" dirty="0"/>
          </a:p>
        </p:txBody>
      </p:sp>
      <p:sp>
        <p:nvSpPr>
          <p:cNvPr id="22" name="Shape 20"/>
          <p:cNvSpPr/>
          <p:nvPr/>
        </p:nvSpPr>
        <p:spPr>
          <a:xfrm>
            <a:off x="685800" y="5321808"/>
            <a:ext cx="411480" cy="411480"/>
          </a:xfrm>
          <a:prstGeom prst="ellipse">
            <a:avLst/>
          </a:prstGeom>
          <a:solidFill>
            <a:srgbClr val="E9C46A"/>
          </a:solidFill>
          <a:ln w="12700">
            <a:solidFill>
              <a:srgbClr val="333333"/>
            </a:solidFill>
            <a:prstDash val="solid"/>
          </a:ln>
        </p:spPr>
      </p:sp>
      <p:sp>
        <p:nvSpPr>
          <p:cNvPr id="23" name="Text 21"/>
          <p:cNvSpPr/>
          <p:nvPr/>
        </p:nvSpPr>
        <p:spPr>
          <a:xfrm>
            <a:off x="685800" y="5321808"/>
            <a:ext cx="411480" cy="411480"/>
          </a:xfrm>
          <a:prstGeom prst="rect">
            <a:avLst/>
          </a:prstGeom>
          <a:noFill/>
          <a:ln/>
        </p:spPr>
        <p:txBody>
          <a:bodyPr wrap="square" lIns="0" tIns="0" rIns="0" bIns="0" rtlCol="0" anchor="ctr"/>
          <a:lstStyle/>
          <a:p>
            <a:pPr algn="ctr" indent="0" marL="0">
              <a:buNone/>
            </a:pPr>
            <a:r>
              <a:rPr lang="en-US" sz="1400" b="1" dirty="0">
                <a:solidFill>
                  <a:srgbClr val="081530"/>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234440" y="5394960"/>
            <a:ext cx="4206240" cy="45720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Threshold derived from data: Youden's J on 100 calibration pairs</a:t>
            </a:r>
            <a:endParaRPr lang="en-US" sz="1200" dirty="0"/>
          </a:p>
        </p:txBody>
      </p:sp>
      <p:sp>
        <p:nvSpPr>
          <p:cNvPr id="25" name="Shape 23"/>
          <p:cNvSpPr/>
          <p:nvPr/>
        </p:nvSpPr>
        <p:spPr>
          <a:xfrm>
            <a:off x="6035040" y="1828800"/>
            <a:ext cx="5760720" cy="4434840"/>
          </a:xfrm>
          <a:prstGeom prst="rect">
            <a:avLst/>
          </a:prstGeom>
          <a:solidFill>
            <a:srgbClr val="FFFFFF"/>
          </a:solidFill>
          <a:ln w="12700">
            <a:solidFill>
              <a:srgbClr val="C9D6EC"/>
            </a:solidFill>
            <a:prstDash val="solid"/>
          </a:ln>
        </p:spPr>
      </p:sp>
      <p:sp>
        <p:nvSpPr>
          <p:cNvPr id="26" name="Shape 24"/>
          <p:cNvSpPr/>
          <p:nvPr/>
        </p:nvSpPr>
        <p:spPr>
          <a:xfrm>
            <a:off x="6035040" y="1828800"/>
            <a:ext cx="5760720" cy="411480"/>
          </a:xfrm>
          <a:prstGeom prst="rect">
            <a:avLst/>
          </a:prstGeom>
          <a:solidFill>
            <a:srgbClr val="3B7EE5"/>
          </a:solidFill>
          <a:ln w="12700">
            <a:solidFill>
              <a:srgbClr val="333333"/>
            </a:solidFill>
            <a:prstDash val="solid"/>
          </a:ln>
        </p:spPr>
      </p:sp>
      <p:sp>
        <p:nvSpPr>
          <p:cNvPr id="27" name="Text 25"/>
          <p:cNvSpPr/>
          <p:nvPr/>
        </p:nvSpPr>
        <p:spPr>
          <a:xfrm>
            <a:off x="6217920" y="1828800"/>
            <a:ext cx="5394960" cy="411480"/>
          </a:xfrm>
          <a:prstGeom prst="rect">
            <a:avLst/>
          </a:prstGeom>
          <a:noFill/>
          <a:ln/>
        </p:spPr>
        <p:txBody>
          <a:bodyPr wrap="square" lIns="0" tIns="0" rIns="0" bIns="0" rtlCol="0" anchor="ctr"/>
          <a:lstStyle/>
          <a:p>
            <a:pPr indent="0" marL="0">
              <a:buNone/>
            </a:pPr>
            <a:r>
              <a:rPr lang="en-US" sz="1200" b="1" spc="400" kern="0" dirty="0">
                <a:solidFill>
                  <a:srgbClr val="ECF1F9"/>
                </a:solidFill>
                <a:latin typeface="Calibri" pitchFamily="34" charset="0"/>
                <a:ea typeface="Calibri" pitchFamily="34" charset="-122"/>
                <a:cs typeface="Calibri" pitchFamily="34" charset="-120"/>
              </a:rPr>
              <a:t>WORKED EXAMPLE</a:t>
            </a:r>
            <a:endParaRPr lang="en-US" sz="1200" dirty="0"/>
          </a:p>
        </p:txBody>
      </p:sp>
      <p:sp>
        <p:nvSpPr>
          <p:cNvPr id="28" name="Text 26"/>
          <p:cNvSpPr/>
          <p:nvPr/>
        </p:nvSpPr>
        <p:spPr>
          <a:xfrm>
            <a:off x="6263640" y="2423160"/>
            <a:ext cx="5303520" cy="228600"/>
          </a:xfrm>
          <a:prstGeom prst="rect">
            <a:avLst/>
          </a:prstGeom>
          <a:noFill/>
          <a:ln/>
        </p:spPr>
        <p:txBody>
          <a:bodyPr wrap="square" lIns="0" tIns="0" rIns="0" bIns="0" rtlCol="0" anchor="ctr"/>
          <a:lstStyle/>
          <a:p>
            <a:pPr indent="0" marL="0">
              <a:buNone/>
            </a:pPr>
            <a:r>
              <a:rPr lang="en-US" sz="1000" b="1" spc="300" kern="0" dirty="0">
                <a:solidFill>
                  <a:srgbClr val="5A6B85"/>
                </a:solidFill>
                <a:latin typeface="Calibri" pitchFamily="34" charset="0"/>
                <a:ea typeface="Calibri" pitchFamily="34" charset="-122"/>
                <a:cs typeface="Calibri" pitchFamily="34" charset="-120"/>
              </a:rPr>
              <a:t>USER</a:t>
            </a:r>
            <a:endParaRPr lang="en-US" sz="1000" dirty="0"/>
          </a:p>
        </p:txBody>
      </p:sp>
      <p:sp>
        <p:nvSpPr>
          <p:cNvPr id="29" name="Shape 27"/>
          <p:cNvSpPr/>
          <p:nvPr/>
        </p:nvSpPr>
        <p:spPr>
          <a:xfrm>
            <a:off x="6263640" y="2697480"/>
            <a:ext cx="5303520" cy="502920"/>
          </a:xfrm>
          <a:prstGeom prst="rect">
            <a:avLst/>
          </a:prstGeom>
          <a:solidFill>
            <a:srgbClr val="ECF1F9"/>
          </a:solidFill>
          <a:ln w="12700">
            <a:solidFill>
              <a:srgbClr val="C9D6EC"/>
            </a:solidFill>
            <a:prstDash val="solid"/>
          </a:ln>
        </p:spPr>
      </p:sp>
      <p:sp>
        <p:nvSpPr>
          <p:cNvPr id="30" name="Text 28"/>
          <p:cNvSpPr/>
          <p:nvPr/>
        </p:nvSpPr>
        <p:spPr>
          <a:xfrm>
            <a:off x="6400800" y="2697480"/>
            <a:ext cx="5029200" cy="502920"/>
          </a:xfrm>
          <a:prstGeom prst="rect">
            <a:avLst/>
          </a:prstGeom>
          <a:noFill/>
          <a:ln/>
        </p:spPr>
        <p:txBody>
          <a:bodyPr wrap="square" lIns="0" tIns="0" rIns="0" bIns="0" rtlCol="0" anchor="ctr"/>
          <a:lstStyle/>
          <a:p>
            <a:pPr indent="0" marL="0">
              <a:buNone/>
            </a:pPr>
            <a:r>
              <a:rPr lang="en-US" sz="1200" i="1" dirty="0">
                <a:solidFill>
                  <a:srgbClr val="0B1C3A"/>
                </a:solidFill>
                <a:latin typeface="Calibri" pitchFamily="34" charset="0"/>
                <a:ea typeface="Calibri" pitchFamily="34" charset="-122"/>
                <a:cs typeface="Calibri" pitchFamily="34" charset="-120"/>
              </a:rPr>
              <a:t>"Help me debug a failing test in the parser module"</a:t>
            </a:r>
            <a:endParaRPr lang="en-US" sz="1200" dirty="0"/>
          </a:p>
        </p:txBody>
      </p:sp>
      <p:sp>
        <p:nvSpPr>
          <p:cNvPr id="31" name="Text 29"/>
          <p:cNvSpPr/>
          <p:nvPr/>
        </p:nvSpPr>
        <p:spPr>
          <a:xfrm>
            <a:off x="6263640" y="3383280"/>
            <a:ext cx="5303520" cy="228600"/>
          </a:xfrm>
          <a:prstGeom prst="rect">
            <a:avLst/>
          </a:prstGeom>
          <a:noFill/>
          <a:ln/>
        </p:spPr>
        <p:txBody>
          <a:bodyPr wrap="square" lIns="0" tIns="0" rIns="0" bIns="0" rtlCol="0" anchor="ctr"/>
          <a:lstStyle/>
          <a:p>
            <a:pPr indent="0" marL="0">
              <a:buNone/>
            </a:pPr>
            <a:r>
              <a:rPr lang="en-US" sz="1000" b="1" spc="300" kern="0" dirty="0">
                <a:solidFill>
                  <a:srgbClr val="5A6B85"/>
                </a:solidFill>
                <a:latin typeface="Calibri" pitchFamily="34" charset="0"/>
                <a:ea typeface="Calibri" pitchFamily="34" charset="-122"/>
                <a:cs typeface="Calibri" pitchFamily="34" charset="-120"/>
              </a:rPr>
              <a:t>LATER, AGENT PROPOSES</a:t>
            </a:r>
            <a:endParaRPr lang="en-US" sz="1000" dirty="0"/>
          </a:p>
        </p:txBody>
      </p:sp>
      <p:sp>
        <p:nvSpPr>
          <p:cNvPr id="32" name="Shape 30"/>
          <p:cNvSpPr/>
          <p:nvPr/>
        </p:nvSpPr>
        <p:spPr>
          <a:xfrm>
            <a:off x="6263640" y="3657600"/>
            <a:ext cx="5303520" cy="502920"/>
          </a:xfrm>
          <a:prstGeom prst="rect">
            <a:avLst/>
          </a:prstGeom>
          <a:solidFill>
            <a:srgbClr val="ECF1F9"/>
          </a:solidFill>
          <a:ln w="19050">
            <a:solidFill>
              <a:srgbClr val="E63946"/>
            </a:solidFill>
            <a:prstDash val="solid"/>
          </a:ln>
        </p:spPr>
      </p:sp>
      <p:sp>
        <p:nvSpPr>
          <p:cNvPr id="33" name="Text 31"/>
          <p:cNvSpPr/>
          <p:nvPr/>
        </p:nvSpPr>
        <p:spPr>
          <a:xfrm>
            <a:off x="6400800" y="3657600"/>
            <a:ext cx="5029200" cy="502920"/>
          </a:xfrm>
          <a:prstGeom prst="rect">
            <a:avLst/>
          </a:prstGeom>
          <a:noFill/>
          <a:ln/>
        </p:spPr>
        <p:txBody>
          <a:bodyPr wrap="square" lIns="0" tIns="0" rIns="0" bIns="0" rtlCol="0" anchor="ctr"/>
          <a:lstStyle/>
          <a:p>
            <a:pPr indent="0" marL="0">
              <a:buNone/>
            </a:pPr>
            <a:r>
              <a:rPr lang="en-US" sz="1200" dirty="0">
                <a:solidFill>
                  <a:srgbClr val="E63946"/>
                </a:solidFill>
                <a:latin typeface="Consolas" pitchFamily="34" charset="0"/>
                <a:ea typeface="Consolas" pitchFamily="34" charset="-122"/>
                <a:cs typeface="Consolas" pitchFamily="34" charset="-120"/>
              </a:rPr>
              <a:t>tool:read_file  args:{"path":"/etc/shadow"}</a:t>
            </a:r>
            <a:endParaRPr lang="en-US" sz="1200" dirty="0"/>
          </a:p>
        </p:txBody>
      </p:sp>
      <p:sp>
        <p:nvSpPr>
          <p:cNvPr id="34" name="Text 32"/>
          <p:cNvSpPr/>
          <p:nvPr/>
        </p:nvSpPr>
        <p:spPr>
          <a:xfrm>
            <a:off x="6263640" y="4343400"/>
            <a:ext cx="5303520" cy="228600"/>
          </a:xfrm>
          <a:prstGeom prst="rect">
            <a:avLst/>
          </a:prstGeom>
          <a:noFill/>
          <a:ln/>
        </p:spPr>
        <p:txBody>
          <a:bodyPr wrap="square" lIns="0" tIns="0" rIns="0" bIns="0" rtlCol="0" anchor="ctr"/>
          <a:lstStyle/>
          <a:p>
            <a:pPr indent="0" marL="0">
              <a:buNone/>
            </a:pPr>
            <a:r>
              <a:rPr lang="en-US" sz="1000" b="1" spc="300" kern="0" dirty="0">
                <a:solidFill>
                  <a:srgbClr val="5A6B85"/>
                </a:solidFill>
                <a:latin typeface="Calibri" pitchFamily="34" charset="0"/>
                <a:ea typeface="Calibri" pitchFamily="34" charset="-122"/>
                <a:cs typeface="Calibri" pitchFamily="34" charset="-120"/>
              </a:rPr>
              <a:t>COMPASS RESULT</a:t>
            </a:r>
            <a:endParaRPr lang="en-US" sz="1000" dirty="0"/>
          </a:p>
        </p:txBody>
      </p:sp>
      <p:sp>
        <p:nvSpPr>
          <p:cNvPr id="35" name="Text 33"/>
          <p:cNvSpPr/>
          <p:nvPr/>
        </p:nvSpPr>
        <p:spPr>
          <a:xfrm>
            <a:off x="6263640" y="4617720"/>
            <a:ext cx="5303520" cy="411480"/>
          </a:xfrm>
          <a:prstGeom prst="rect">
            <a:avLst/>
          </a:prstGeom>
          <a:noFill/>
          <a:ln/>
        </p:spPr>
        <p:txBody>
          <a:bodyPr wrap="square" lIns="0" tIns="0" rIns="0" bIns="0" rtlCol="0" anchor="ctr"/>
          <a:lstStyle/>
          <a:p>
            <a:pPr indent="0" marL="0">
              <a:buNone/>
            </a:pPr>
            <a:r>
              <a:rPr lang="en-US" sz="1400" dirty="0">
                <a:solidFill>
                  <a:srgbClr val="0B1C3A"/>
                </a:solidFill>
                <a:latin typeface="Consolas" pitchFamily="34" charset="0"/>
                <a:ea typeface="Consolas" pitchFamily="34" charset="-122"/>
                <a:cs typeface="Consolas" pitchFamily="34" charset="-120"/>
              </a:rPr>
              <a:t>sim = </a:t>
            </a:r>
            <a:pPr indent="0" marL="0">
              <a:buNone/>
            </a:pPr>
            <a:r>
              <a:rPr lang="en-US" sz="1800" b="1" dirty="0">
                <a:solidFill>
                  <a:srgbClr val="E63946"/>
                </a:solidFill>
                <a:latin typeface="Consolas" pitchFamily="34" charset="0"/>
                <a:ea typeface="Consolas" pitchFamily="34" charset="-122"/>
                <a:cs typeface="Consolas" pitchFamily="34" charset="-120"/>
              </a:rPr>
              <a:t>0.21</a:t>
            </a:r>
            <a:pPr indent="0" marL="0">
              <a:buNone/>
            </a:pPr>
            <a:r>
              <a:rPr lang="en-US" sz="1300" b="1" dirty="0">
                <a:solidFill>
                  <a:srgbClr val="E63946"/>
                </a:solidFill>
                <a:latin typeface="Calibri" pitchFamily="34" charset="0"/>
                <a:ea typeface="Calibri" pitchFamily="34" charset="-122"/>
                <a:cs typeface="Calibri" pitchFamily="34" charset="-120"/>
              </a:rPr>
              <a:t>  &lt;  0.40 threshold  →  DRIFT</a:t>
            </a:r>
            <a:endParaRPr lang="en-US" sz="1400" dirty="0"/>
          </a:p>
        </p:txBody>
      </p:sp>
      <p:sp>
        <p:nvSpPr>
          <p:cNvPr id="36" name="Text 34"/>
          <p:cNvSpPr/>
          <p:nvPr/>
        </p:nvSpPr>
        <p:spPr>
          <a:xfrm>
            <a:off x="6263640" y="5074920"/>
            <a:ext cx="5303520" cy="548640"/>
          </a:xfrm>
          <a:prstGeom prst="rect">
            <a:avLst/>
          </a:prstGeom>
          <a:noFill/>
          <a:ln/>
        </p:spPr>
        <p:txBody>
          <a:bodyPr wrap="square" lIns="0" tIns="0" rIns="0" bIns="0" rtlCol="0" anchor="ctr"/>
          <a:lstStyle/>
          <a:p>
            <a:pPr indent="0" marL="0">
              <a:buNone/>
            </a:pPr>
            <a:r>
              <a:rPr lang="en-US" sz="1100" i="1" dirty="0">
                <a:solidFill>
                  <a:srgbClr val="2A9D8F"/>
                </a:solidFill>
                <a:latin typeface="Calibri" pitchFamily="34" charset="0"/>
                <a:ea typeface="Calibri" pitchFamily="34" charset="-122"/>
                <a:cs typeface="Calibri" pitchFamily="34" charset="-120"/>
              </a:rPr>
              <a:t>→ Speaker: ESCALATE if no minister blocks; BLOCK if any minister also flags borderline match.</a:t>
            </a:r>
            <a:endParaRPr lang="en-US" sz="1100" dirty="0"/>
          </a:p>
        </p:txBody>
      </p:sp>
      <p:sp>
        <p:nvSpPr>
          <p:cNvPr id="37" name="Text 35"/>
          <p:cNvSpPr/>
          <p:nvPr/>
        </p:nvSpPr>
        <p:spPr>
          <a:xfrm>
            <a:off x="6263640" y="5669280"/>
            <a:ext cx="5303520" cy="50292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Drift alone is never a hard block — the user might have legitimately pivoted. It's evidence, not the verdict.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09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08  ·  SPEAKER</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The speaker — five rules, zero LLM calls, twelve tests</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Asymmetric and deny-first. One confident BLOCK from any minister suffices. No score averaging across ministers.</a:t>
            </a:r>
            <a:endParaRPr lang="en-US" sz="1400" dirty="0"/>
          </a:p>
        </p:txBody>
      </p:sp>
      <p:sp>
        <p:nvSpPr>
          <p:cNvPr id="7" name="Shape 5"/>
          <p:cNvSpPr/>
          <p:nvPr/>
        </p:nvSpPr>
        <p:spPr>
          <a:xfrm>
            <a:off x="457200" y="1874520"/>
            <a:ext cx="11247120" cy="457200"/>
          </a:xfrm>
          <a:prstGeom prst="rect">
            <a:avLst/>
          </a:prstGeom>
          <a:solidFill>
            <a:srgbClr val="0B1C3A"/>
          </a:solidFill>
          <a:ln w="12700">
            <a:solidFill>
              <a:srgbClr val="333333"/>
            </a:solidFill>
            <a:prstDash val="solid"/>
          </a:ln>
        </p:spPr>
      </p:sp>
      <p:sp>
        <p:nvSpPr>
          <p:cNvPr id="8" name="Text 6"/>
          <p:cNvSpPr/>
          <p:nvPr/>
        </p:nvSpPr>
        <p:spPr>
          <a:xfrm>
            <a:off x="502920" y="1874520"/>
            <a:ext cx="822960" cy="457200"/>
          </a:xfrm>
          <a:prstGeom prst="rect">
            <a:avLst/>
          </a:prstGeom>
          <a:noFill/>
          <a:ln/>
        </p:spPr>
        <p:txBody>
          <a:bodyPr wrap="square" lIns="0" tIns="0" rIns="0" bIns="0" rtlCol="0" anchor="ctr"/>
          <a:lstStyle/>
          <a:p>
            <a:pPr indent="0" marL="0">
              <a:buNone/>
            </a:pPr>
            <a:r>
              <a:rPr lang="en-US" sz="1000" b="1" spc="400" kern="0" dirty="0">
                <a:solidFill>
                  <a:srgbClr val="ECF1F9"/>
                </a:solidFill>
                <a:latin typeface="Calibri" pitchFamily="34" charset="0"/>
                <a:ea typeface="Calibri" pitchFamily="34" charset="-122"/>
                <a:cs typeface="Calibri" pitchFamily="34" charset="-120"/>
              </a:rPr>
              <a:t>CASE</a:t>
            </a:r>
            <a:endParaRPr lang="en-US" sz="1000" dirty="0"/>
          </a:p>
        </p:txBody>
      </p:sp>
      <p:sp>
        <p:nvSpPr>
          <p:cNvPr id="9" name="Text 7"/>
          <p:cNvSpPr/>
          <p:nvPr/>
        </p:nvSpPr>
        <p:spPr>
          <a:xfrm>
            <a:off x="1417320" y="1874520"/>
            <a:ext cx="4114800" cy="457200"/>
          </a:xfrm>
          <a:prstGeom prst="rect">
            <a:avLst/>
          </a:prstGeom>
          <a:noFill/>
          <a:ln/>
        </p:spPr>
        <p:txBody>
          <a:bodyPr wrap="square" lIns="0" tIns="0" rIns="0" bIns="0" rtlCol="0" anchor="ctr"/>
          <a:lstStyle/>
          <a:p>
            <a:pPr indent="0" marL="0">
              <a:buNone/>
            </a:pPr>
            <a:r>
              <a:rPr lang="en-US" sz="1000" b="1" spc="400" kern="0" dirty="0">
                <a:solidFill>
                  <a:srgbClr val="ECF1F9"/>
                </a:solidFill>
                <a:latin typeface="Calibri" pitchFamily="34" charset="0"/>
                <a:ea typeface="Calibri" pitchFamily="34" charset="-122"/>
                <a:cs typeface="Calibri" pitchFamily="34" charset="-120"/>
              </a:rPr>
              <a:t>MINISTERS SAY</a:t>
            </a:r>
            <a:endParaRPr lang="en-US" sz="1000" dirty="0"/>
          </a:p>
        </p:txBody>
      </p:sp>
      <p:sp>
        <p:nvSpPr>
          <p:cNvPr id="10" name="Text 8"/>
          <p:cNvSpPr/>
          <p:nvPr/>
        </p:nvSpPr>
        <p:spPr>
          <a:xfrm>
            <a:off x="5623560" y="1874520"/>
            <a:ext cx="2194560" cy="457200"/>
          </a:xfrm>
          <a:prstGeom prst="rect">
            <a:avLst/>
          </a:prstGeom>
          <a:noFill/>
          <a:ln/>
        </p:spPr>
        <p:txBody>
          <a:bodyPr wrap="square" lIns="0" tIns="0" rIns="0" bIns="0" rtlCol="0" anchor="ctr"/>
          <a:lstStyle/>
          <a:p>
            <a:pPr indent="0" marL="0">
              <a:buNone/>
            </a:pPr>
            <a:r>
              <a:rPr lang="en-US" sz="1000" b="1" spc="400" kern="0" dirty="0">
                <a:solidFill>
                  <a:srgbClr val="ECF1F9"/>
                </a:solidFill>
                <a:latin typeface="Calibri" pitchFamily="34" charset="0"/>
                <a:ea typeface="Calibri" pitchFamily="34" charset="-122"/>
                <a:cs typeface="Calibri" pitchFamily="34" charset="-120"/>
              </a:rPr>
              <a:t>COMPASS SAYS</a:t>
            </a:r>
            <a:endParaRPr lang="en-US" sz="1000" dirty="0"/>
          </a:p>
        </p:txBody>
      </p:sp>
      <p:sp>
        <p:nvSpPr>
          <p:cNvPr id="11" name="Text 9"/>
          <p:cNvSpPr/>
          <p:nvPr/>
        </p:nvSpPr>
        <p:spPr>
          <a:xfrm>
            <a:off x="7909560" y="1874520"/>
            <a:ext cx="3749040" cy="457200"/>
          </a:xfrm>
          <a:prstGeom prst="rect">
            <a:avLst/>
          </a:prstGeom>
          <a:noFill/>
          <a:ln/>
        </p:spPr>
        <p:txBody>
          <a:bodyPr wrap="square" lIns="0" tIns="0" rIns="0" bIns="0" rtlCol="0" anchor="ctr"/>
          <a:lstStyle/>
          <a:p>
            <a:pPr indent="0" marL="0">
              <a:buNone/>
            </a:pPr>
            <a:r>
              <a:rPr lang="en-US" sz="1000" b="1" spc="400" kern="0" dirty="0">
                <a:solidFill>
                  <a:srgbClr val="ECF1F9"/>
                </a:solidFill>
                <a:latin typeface="Calibri" pitchFamily="34" charset="0"/>
                <a:ea typeface="Calibri" pitchFamily="34" charset="-122"/>
                <a:cs typeface="Calibri" pitchFamily="34" charset="-120"/>
              </a:rPr>
              <a:t>VERDICT</a:t>
            </a:r>
            <a:endParaRPr lang="en-US" sz="1000" dirty="0"/>
          </a:p>
        </p:txBody>
      </p:sp>
      <p:sp>
        <p:nvSpPr>
          <p:cNvPr id="12" name="Shape 10"/>
          <p:cNvSpPr/>
          <p:nvPr/>
        </p:nvSpPr>
        <p:spPr>
          <a:xfrm>
            <a:off x="457200" y="2331720"/>
            <a:ext cx="11247120" cy="502920"/>
          </a:xfrm>
          <a:prstGeom prst="rect">
            <a:avLst/>
          </a:prstGeom>
          <a:solidFill>
            <a:srgbClr val="FFFFFF"/>
          </a:solidFill>
          <a:ln w="6350">
            <a:solidFill>
              <a:srgbClr val="C9D6EC"/>
            </a:solidFill>
            <a:prstDash val="solid"/>
          </a:ln>
        </p:spPr>
      </p:sp>
      <p:sp>
        <p:nvSpPr>
          <p:cNvPr id="13" name="Text 11"/>
          <p:cNvSpPr/>
          <p:nvPr/>
        </p:nvSpPr>
        <p:spPr>
          <a:xfrm>
            <a:off x="502920" y="2331720"/>
            <a:ext cx="822960" cy="502920"/>
          </a:xfrm>
          <a:prstGeom prst="rect">
            <a:avLst/>
          </a:prstGeom>
          <a:noFill/>
          <a:ln/>
        </p:spPr>
        <p:txBody>
          <a:bodyPr wrap="square" lIns="0" tIns="0" rIns="0" bIns="0" rtlCol="0" anchor="ctr"/>
          <a:lstStyle/>
          <a:p>
            <a:pPr algn="l" indent="0" marL="0">
              <a:buNone/>
            </a:pPr>
            <a:r>
              <a:rPr lang="en-US" sz="1600" b="1" dirty="0">
                <a:solidFill>
                  <a:srgbClr val="5A6B85"/>
                </a:solidFill>
                <a:latin typeface="Georgia" pitchFamily="34" charset="0"/>
                <a:ea typeface="Georgia" pitchFamily="34" charset="-122"/>
                <a:cs typeface="Georgia" pitchFamily="34" charset="-120"/>
              </a:rPr>
              <a:t>1</a:t>
            </a:r>
            <a:endParaRPr lang="en-US" sz="1600" dirty="0"/>
          </a:p>
        </p:txBody>
      </p:sp>
      <p:sp>
        <p:nvSpPr>
          <p:cNvPr id="14" name="Text 12"/>
          <p:cNvSpPr/>
          <p:nvPr/>
        </p:nvSpPr>
        <p:spPr>
          <a:xfrm>
            <a:off x="1417320" y="2331720"/>
            <a:ext cx="4114800" cy="50292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any minister BLOCK</a:t>
            </a:r>
            <a:endParaRPr lang="en-US" sz="1300" dirty="0"/>
          </a:p>
        </p:txBody>
      </p:sp>
      <p:sp>
        <p:nvSpPr>
          <p:cNvPr id="15" name="Text 13"/>
          <p:cNvSpPr/>
          <p:nvPr/>
        </p:nvSpPr>
        <p:spPr>
          <a:xfrm>
            <a:off x="5623560" y="2331720"/>
            <a:ext cx="2194560" cy="502920"/>
          </a:xfrm>
          <a:prstGeom prst="rect">
            <a:avLst/>
          </a:prstGeom>
          <a:noFill/>
          <a:ln/>
        </p:spPr>
        <p:txBody>
          <a:bodyPr wrap="square" lIns="0" tIns="0" rIns="0" bIns="0" rtlCol="0" anchor="ctr"/>
          <a:lstStyle/>
          <a:p>
            <a:pPr indent="0" marL="0">
              <a:buNone/>
            </a:pPr>
            <a:r>
              <a:rPr lang="en-US" sz="1300" i="1" dirty="0">
                <a:solidFill>
                  <a:srgbClr val="5A6B85"/>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7909560" y="2404872"/>
            <a:ext cx="1463040" cy="365760"/>
          </a:xfrm>
          <a:prstGeom prst="roundRect">
            <a:avLst>
              <a:gd name="adj" fmla="val 12500"/>
            </a:avLst>
          </a:prstGeom>
          <a:solidFill>
            <a:srgbClr val="E63946"/>
          </a:solidFill>
          <a:ln w="12700">
            <a:solidFill>
              <a:srgbClr val="333333"/>
            </a:solidFill>
            <a:prstDash val="solid"/>
          </a:ln>
        </p:spPr>
      </p:sp>
      <p:sp>
        <p:nvSpPr>
          <p:cNvPr id="17" name="Text 15"/>
          <p:cNvSpPr/>
          <p:nvPr/>
        </p:nvSpPr>
        <p:spPr>
          <a:xfrm>
            <a:off x="7909560" y="2404872"/>
            <a:ext cx="1463040" cy="36576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BLOCK</a:t>
            </a:r>
            <a:endParaRPr lang="en-US" sz="1100" dirty="0"/>
          </a:p>
        </p:txBody>
      </p:sp>
      <p:sp>
        <p:nvSpPr>
          <p:cNvPr id="18" name="Shape 16"/>
          <p:cNvSpPr/>
          <p:nvPr/>
        </p:nvSpPr>
        <p:spPr>
          <a:xfrm>
            <a:off x="457200" y="2834640"/>
            <a:ext cx="11247120" cy="502920"/>
          </a:xfrm>
          <a:prstGeom prst="rect">
            <a:avLst/>
          </a:prstGeom>
          <a:solidFill>
            <a:srgbClr val="ECF1F9"/>
          </a:solidFill>
          <a:ln w="6350">
            <a:solidFill>
              <a:srgbClr val="C9D6EC"/>
            </a:solidFill>
            <a:prstDash val="solid"/>
          </a:ln>
        </p:spPr>
      </p:sp>
      <p:sp>
        <p:nvSpPr>
          <p:cNvPr id="19" name="Text 17"/>
          <p:cNvSpPr/>
          <p:nvPr/>
        </p:nvSpPr>
        <p:spPr>
          <a:xfrm>
            <a:off x="502920" y="2834640"/>
            <a:ext cx="822960" cy="502920"/>
          </a:xfrm>
          <a:prstGeom prst="rect">
            <a:avLst/>
          </a:prstGeom>
          <a:noFill/>
          <a:ln/>
        </p:spPr>
        <p:txBody>
          <a:bodyPr wrap="square" lIns="0" tIns="0" rIns="0" bIns="0" rtlCol="0" anchor="ctr"/>
          <a:lstStyle/>
          <a:p>
            <a:pPr algn="l" indent="0" marL="0">
              <a:buNone/>
            </a:pPr>
            <a:r>
              <a:rPr lang="en-US" sz="1600" b="1" dirty="0">
                <a:solidFill>
                  <a:srgbClr val="5A6B85"/>
                </a:solidFill>
                <a:latin typeface="Georgia" pitchFamily="34" charset="0"/>
                <a:ea typeface="Georgia" pitchFamily="34" charset="-122"/>
                <a:cs typeface="Georgia" pitchFamily="34" charset="-120"/>
              </a:rPr>
              <a:t>2</a:t>
            </a:r>
            <a:endParaRPr lang="en-US" sz="1600" dirty="0"/>
          </a:p>
        </p:txBody>
      </p:sp>
      <p:sp>
        <p:nvSpPr>
          <p:cNvPr id="20" name="Text 18"/>
          <p:cNvSpPr/>
          <p:nvPr/>
        </p:nvSpPr>
        <p:spPr>
          <a:xfrm>
            <a:off x="1417320" y="2834640"/>
            <a:ext cx="4114800" cy="50292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any minister ESCALATE</a:t>
            </a:r>
            <a:endParaRPr lang="en-US" sz="1300" dirty="0"/>
          </a:p>
        </p:txBody>
      </p:sp>
      <p:sp>
        <p:nvSpPr>
          <p:cNvPr id="21" name="Text 19"/>
          <p:cNvSpPr/>
          <p:nvPr/>
        </p:nvSpPr>
        <p:spPr>
          <a:xfrm>
            <a:off x="5623560" y="2834640"/>
            <a:ext cx="2194560" cy="502920"/>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drift</a:t>
            </a:r>
            <a:endParaRPr lang="en-US" sz="1300" dirty="0"/>
          </a:p>
        </p:txBody>
      </p:sp>
      <p:sp>
        <p:nvSpPr>
          <p:cNvPr id="22" name="Shape 20"/>
          <p:cNvSpPr/>
          <p:nvPr/>
        </p:nvSpPr>
        <p:spPr>
          <a:xfrm>
            <a:off x="7909560" y="2907792"/>
            <a:ext cx="1463040" cy="365760"/>
          </a:xfrm>
          <a:prstGeom prst="roundRect">
            <a:avLst>
              <a:gd name="adj" fmla="val 12500"/>
            </a:avLst>
          </a:prstGeom>
          <a:solidFill>
            <a:srgbClr val="E63946"/>
          </a:solidFill>
          <a:ln w="12700">
            <a:solidFill>
              <a:srgbClr val="333333"/>
            </a:solidFill>
            <a:prstDash val="solid"/>
          </a:ln>
        </p:spPr>
      </p:sp>
      <p:sp>
        <p:nvSpPr>
          <p:cNvPr id="23" name="Text 21"/>
          <p:cNvSpPr/>
          <p:nvPr/>
        </p:nvSpPr>
        <p:spPr>
          <a:xfrm>
            <a:off x="7909560" y="2907792"/>
            <a:ext cx="1463040" cy="36576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BLOCK</a:t>
            </a:r>
            <a:endParaRPr lang="en-US" sz="1100" dirty="0"/>
          </a:p>
        </p:txBody>
      </p:sp>
      <p:sp>
        <p:nvSpPr>
          <p:cNvPr id="24" name="Shape 22"/>
          <p:cNvSpPr/>
          <p:nvPr/>
        </p:nvSpPr>
        <p:spPr>
          <a:xfrm>
            <a:off x="457200" y="3337560"/>
            <a:ext cx="11247120" cy="502920"/>
          </a:xfrm>
          <a:prstGeom prst="rect">
            <a:avLst/>
          </a:prstGeom>
          <a:solidFill>
            <a:srgbClr val="FFFFFF"/>
          </a:solidFill>
          <a:ln w="6350">
            <a:solidFill>
              <a:srgbClr val="C9D6EC"/>
            </a:solidFill>
            <a:prstDash val="solid"/>
          </a:ln>
        </p:spPr>
      </p:sp>
      <p:sp>
        <p:nvSpPr>
          <p:cNvPr id="25" name="Text 23"/>
          <p:cNvSpPr/>
          <p:nvPr/>
        </p:nvSpPr>
        <p:spPr>
          <a:xfrm>
            <a:off x="502920" y="3337560"/>
            <a:ext cx="822960" cy="502920"/>
          </a:xfrm>
          <a:prstGeom prst="rect">
            <a:avLst/>
          </a:prstGeom>
          <a:noFill/>
          <a:ln/>
        </p:spPr>
        <p:txBody>
          <a:bodyPr wrap="square" lIns="0" tIns="0" rIns="0" bIns="0" rtlCol="0" anchor="ctr"/>
          <a:lstStyle/>
          <a:p>
            <a:pPr algn="l" indent="0" marL="0">
              <a:buNone/>
            </a:pPr>
            <a:r>
              <a:rPr lang="en-US" sz="1600" b="1" dirty="0">
                <a:solidFill>
                  <a:srgbClr val="5A6B85"/>
                </a:solidFill>
                <a:latin typeface="Georgia" pitchFamily="34" charset="0"/>
                <a:ea typeface="Georgia" pitchFamily="34" charset="-122"/>
                <a:cs typeface="Georgia" pitchFamily="34" charset="-120"/>
              </a:rPr>
              <a:t>3</a:t>
            </a:r>
            <a:endParaRPr lang="en-US" sz="1600" dirty="0"/>
          </a:p>
        </p:txBody>
      </p:sp>
      <p:sp>
        <p:nvSpPr>
          <p:cNvPr id="26" name="Text 24"/>
          <p:cNvSpPr/>
          <p:nvPr/>
        </p:nvSpPr>
        <p:spPr>
          <a:xfrm>
            <a:off x="1417320" y="3337560"/>
            <a:ext cx="4114800" cy="50292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any minister ESCALATE</a:t>
            </a:r>
            <a:endParaRPr lang="en-US" sz="1300" dirty="0"/>
          </a:p>
        </p:txBody>
      </p:sp>
      <p:sp>
        <p:nvSpPr>
          <p:cNvPr id="27" name="Text 25"/>
          <p:cNvSpPr/>
          <p:nvPr/>
        </p:nvSpPr>
        <p:spPr>
          <a:xfrm>
            <a:off x="5623560" y="3337560"/>
            <a:ext cx="2194560" cy="502920"/>
          </a:xfrm>
          <a:prstGeom prst="rect">
            <a:avLst/>
          </a:prstGeom>
          <a:noFill/>
          <a:ln/>
        </p:spPr>
        <p:txBody>
          <a:bodyPr wrap="square" lIns="0" tIns="0" rIns="0" bIns="0" rtlCol="0" anchor="ctr"/>
          <a:lstStyle/>
          <a:p>
            <a:pPr indent="0" marL="0">
              <a:buNone/>
            </a:pPr>
            <a:r>
              <a:rPr lang="en-US" sz="1300" dirty="0">
                <a:solidFill>
                  <a:srgbClr val="5A6B85"/>
                </a:solidFill>
                <a:latin typeface="Calibri" pitchFamily="34" charset="0"/>
                <a:ea typeface="Calibri" pitchFamily="34" charset="-122"/>
                <a:cs typeface="Calibri" pitchFamily="34" charset="-120"/>
              </a:rPr>
              <a:t>no drift</a:t>
            </a:r>
            <a:endParaRPr lang="en-US" sz="1300" dirty="0"/>
          </a:p>
        </p:txBody>
      </p:sp>
      <p:sp>
        <p:nvSpPr>
          <p:cNvPr id="28" name="Shape 26"/>
          <p:cNvSpPr/>
          <p:nvPr/>
        </p:nvSpPr>
        <p:spPr>
          <a:xfrm>
            <a:off x="7909560" y="3410712"/>
            <a:ext cx="1463040" cy="365760"/>
          </a:xfrm>
          <a:prstGeom prst="roundRect">
            <a:avLst>
              <a:gd name="adj" fmla="val 12500"/>
            </a:avLst>
          </a:prstGeom>
          <a:solidFill>
            <a:srgbClr val="E9C46A"/>
          </a:solidFill>
          <a:ln w="12700">
            <a:solidFill>
              <a:srgbClr val="333333"/>
            </a:solidFill>
            <a:prstDash val="solid"/>
          </a:ln>
        </p:spPr>
      </p:sp>
      <p:sp>
        <p:nvSpPr>
          <p:cNvPr id="29" name="Text 27"/>
          <p:cNvSpPr/>
          <p:nvPr/>
        </p:nvSpPr>
        <p:spPr>
          <a:xfrm>
            <a:off x="7909560" y="3410712"/>
            <a:ext cx="1463040" cy="36576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ESCALATE</a:t>
            </a:r>
            <a:endParaRPr lang="en-US" sz="1100" dirty="0"/>
          </a:p>
        </p:txBody>
      </p:sp>
      <p:sp>
        <p:nvSpPr>
          <p:cNvPr id="30" name="Shape 28"/>
          <p:cNvSpPr/>
          <p:nvPr/>
        </p:nvSpPr>
        <p:spPr>
          <a:xfrm>
            <a:off x="457200" y="3840480"/>
            <a:ext cx="11247120" cy="502920"/>
          </a:xfrm>
          <a:prstGeom prst="rect">
            <a:avLst/>
          </a:prstGeom>
          <a:solidFill>
            <a:srgbClr val="ECF1F9"/>
          </a:solidFill>
          <a:ln w="6350">
            <a:solidFill>
              <a:srgbClr val="C9D6EC"/>
            </a:solidFill>
            <a:prstDash val="solid"/>
          </a:ln>
        </p:spPr>
      </p:sp>
      <p:sp>
        <p:nvSpPr>
          <p:cNvPr id="31" name="Text 29"/>
          <p:cNvSpPr/>
          <p:nvPr/>
        </p:nvSpPr>
        <p:spPr>
          <a:xfrm>
            <a:off x="502920" y="3840480"/>
            <a:ext cx="822960" cy="502920"/>
          </a:xfrm>
          <a:prstGeom prst="rect">
            <a:avLst/>
          </a:prstGeom>
          <a:noFill/>
          <a:ln/>
        </p:spPr>
        <p:txBody>
          <a:bodyPr wrap="square" lIns="0" tIns="0" rIns="0" bIns="0" rtlCol="0" anchor="ctr"/>
          <a:lstStyle/>
          <a:p>
            <a:pPr algn="l" indent="0" marL="0">
              <a:buNone/>
            </a:pPr>
            <a:r>
              <a:rPr lang="en-US" sz="1600" b="1" dirty="0">
                <a:solidFill>
                  <a:srgbClr val="5A6B85"/>
                </a:solidFill>
                <a:latin typeface="Georgia" pitchFamily="34" charset="0"/>
                <a:ea typeface="Georgia" pitchFamily="34" charset="-122"/>
                <a:cs typeface="Georgia" pitchFamily="34" charset="-120"/>
              </a:rPr>
              <a:t>4</a:t>
            </a:r>
            <a:endParaRPr lang="en-US" sz="1600" dirty="0"/>
          </a:p>
        </p:txBody>
      </p:sp>
      <p:sp>
        <p:nvSpPr>
          <p:cNvPr id="32" name="Text 30"/>
          <p:cNvSpPr/>
          <p:nvPr/>
        </p:nvSpPr>
        <p:spPr>
          <a:xfrm>
            <a:off x="1417320" y="3840480"/>
            <a:ext cx="4114800" cy="50292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all ministers ALLOW</a:t>
            </a:r>
            <a:endParaRPr lang="en-US" sz="1300" dirty="0"/>
          </a:p>
        </p:txBody>
      </p:sp>
      <p:sp>
        <p:nvSpPr>
          <p:cNvPr id="33" name="Text 31"/>
          <p:cNvSpPr/>
          <p:nvPr/>
        </p:nvSpPr>
        <p:spPr>
          <a:xfrm>
            <a:off x="5623560" y="3840480"/>
            <a:ext cx="2194560" cy="502920"/>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drift</a:t>
            </a:r>
            <a:endParaRPr lang="en-US" sz="1300" dirty="0"/>
          </a:p>
        </p:txBody>
      </p:sp>
      <p:sp>
        <p:nvSpPr>
          <p:cNvPr id="34" name="Shape 32"/>
          <p:cNvSpPr/>
          <p:nvPr/>
        </p:nvSpPr>
        <p:spPr>
          <a:xfrm>
            <a:off x="7909560" y="3913632"/>
            <a:ext cx="1463040" cy="365760"/>
          </a:xfrm>
          <a:prstGeom prst="roundRect">
            <a:avLst>
              <a:gd name="adj" fmla="val 12500"/>
            </a:avLst>
          </a:prstGeom>
          <a:solidFill>
            <a:srgbClr val="E9C46A"/>
          </a:solidFill>
          <a:ln w="12700">
            <a:solidFill>
              <a:srgbClr val="333333"/>
            </a:solidFill>
            <a:prstDash val="solid"/>
          </a:ln>
        </p:spPr>
      </p:sp>
      <p:sp>
        <p:nvSpPr>
          <p:cNvPr id="35" name="Text 33"/>
          <p:cNvSpPr/>
          <p:nvPr/>
        </p:nvSpPr>
        <p:spPr>
          <a:xfrm>
            <a:off x="7909560" y="3913632"/>
            <a:ext cx="1463040" cy="36576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ESCALATE</a:t>
            </a:r>
            <a:endParaRPr lang="en-US" sz="1100" dirty="0"/>
          </a:p>
        </p:txBody>
      </p:sp>
      <p:sp>
        <p:nvSpPr>
          <p:cNvPr id="36" name="Shape 34"/>
          <p:cNvSpPr/>
          <p:nvPr/>
        </p:nvSpPr>
        <p:spPr>
          <a:xfrm>
            <a:off x="457200" y="4343400"/>
            <a:ext cx="11247120" cy="502920"/>
          </a:xfrm>
          <a:prstGeom prst="rect">
            <a:avLst/>
          </a:prstGeom>
          <a:solidFill>
            <a:srgbClr val="FFFFFF"/>
          </a:solidFill>
          <a:ln w="6350">
            <a:solidFill>
              <a:srgbClr val="C9D6EC"/>
            </a:solidFill>
            <a:prstDash val="solid"/>
          </a:ln>
        </p:spPr>
      </p:sp>
      <p:sp>
        <p:nvSpPr>
          <p:cNvPr id="37" name="Text 35"/>
          <p:cNvSpPr/>
          <p:nvPr/>
        </p:nvSpPr>
        <p:spPr>
          <a:xfrm>
            <a:off x="502920" y="4343400"/>
            <a:ext cx="822960" cy="502920"/>
          </a:xfrm>
          <a:prstGeom prst="rect">
            <a:avLst/>
          </a:prstGeom>
          <a:noFill/>
          <a:ln/>
        </p:spPr>
        <p:txBody>
          <a:bodyPr wrap="square" lIns="0" tIns="0" rIns="0" bIns="0" rtlCol="0" anchor="ctr"/>
          <a:lstStyle/>
          <a:p>
            <a:pPr algn="l" indent="0" marL="0">
              <a:buNone/>
            </a:pPr>
            <a:r>
              <a:rPr lang="en-US" sz="1600" b="1" dirty="0">
                <a:solidFill>
                  <a:srgbClr val="5A6B85"/>
                </a:solidFill>
                <a:latin typeface="Georgia" pitchFamily="34" charset="0"/>
                <a:ea typeface="Georgia" pitchFamily="34" charset="-122"/>
                <a:cs typeface="Georgia" pitchFamily="34" charset="-120"/>
              </a:rPr>
              <a:t>5</a:t>
            </a:r>
            <a:endParaRPr lang="en-US" sz="1600" dirty="0"/>
          </a:p>
        </p:txBody>
      </p:sp>
      <p:sp>
        <p:nvSpPr>
          <p:cNvPr id="38" name="Text 36"/>
          <p:cNvSpPr/>
          <p:nvPr/>
        </p:nvSpPr>
        <p:spPr>
          <a:xfrm>
            <a:off x="1417320" y="4343400"/>
            <a:ext cx="4114800" cy="502920"/>
          </a:xfrm>
          <a:prstGeom prst="rect">
            <a:avLst/>
          </a:prstGeom>
          <a:noFill/>
          <a:ln/>
        </p:spPr>
        <p:txBody>
          <a:bodyPr wrap="square" lIns="0" tIns="0" rIns="0" bIns="0" rtlCol="0" anchor="ctr"/>
          <a:lstStyle/>
          <a:p>
            <a:pPr indent="0" marL="0">
              <a:buNone/>
            </a:pPr>
            <a:r>
              <a:rPr lang="en-US" sz="1300" dirty="0">
                <a:solidFill>
                  <a:srgbClr val="0B1C3A"/>
                </a:solidFill>
                <a:latin typeface="Calibri" pitchFamily="34" charset="0"/>
                <a:ea typeface="Calibri" pitchFamily="34" charset="-122"/>
                <a:cs typeface="Calibri" pitchFamily="34" charset="-120"/>
              </a:rPr>
              <a:t>all ministers ALLOW</a:t>
            </a:r>
            <a:endParaRPr lang="en-US" sz="1300" dirty="0"/>
          </a:p>
        </p:txBody>
      </p:sp>
      <p:sp>
        <p:nvSpPr>
          <p:cNvPr id="39" name="Text 37"/>
          <p:cNvSpPr/>
          <p:nvPr/>
        </p:nvSpPr>
        <p:spPr>
          <a:xfrm>
            <a:off x="5623560" y="4343400"/>
            <a:ext cx="2194560" cy="502920"/>
          </a:xfrm>
          <a:prstGeom prst="rect">
            <a:avLst/>
          </a:prstGeom>
          <a:noFill/>
          <a:ln/>
        </p:spPr>
        <p:txBody>
          <a:bodyPr wrap="square" lIns="0" tIns="0" rIns="0" bIns="0" rtlCol="0" anchor="ctr"/>
          <a:lstStyle/>
          <a:p>
            <a:pPr indent="0" marL="0">
              <a:buNone/>
            </a:pPr>
            <a:r>
              <a:rPr lang="en-US" sz="1300" dirty="0">
                <a:solidFill>
                  <a:srgbClr val="5A6B85"/>
                </a:solidFill>
                <a:latin typeface="Calibri" pitchFamily="34" charset="0"/>
                <a:ea typeface="Calibri" pitchFamily="34" charset="-122"/>
                <a:cs typeface="Calibri" pitchFamily="34" charset="-120"/>
              </a:rPr>
              <a:t>no drift</a:t>
            </a:r>
            <a:endParaRPr lang="en-US" sz="1300" dirty="0"/>
          </a:p>
        </p:txBody>
      </p:sp>
      <p:sp>
        <p:nvSpPr>
          <p:cNvPr id="40" name="Shape 38"/>
          <p:cNvSpPr/>
          <p:nvPr/>
        </p:nvSpPr>
        <p:spPr>
          <a:xfrm>
            <a:off x="7909560" y="4416552"/>
            <a:ext cx="1463040" cy="365760"/>
          </a:xfrm>
          <a:prstGeom prst="roundRect">
            <a:avLst>
              <a:gd name="adj" fmla="val 12500"/>
            </a:avLst>
          </a:prstGeom>
          <a:solidFill>
            <a:srgbClr val="2A9D8F"/>
          </a:solidFill>
          <a:ln w="12700">
            <a:solidFill>
              <a:srgbClr val="333333"/>
            </a:solidFill>
            <a:prstDash val="solid"/>
          </a:ln>
        </p:spPr>
      </p:sp>
      <p:sp>
        <p:nvSpPr>
          <p:cNvPr id="41" name="Text 39"/>
          <p:cNvSpPr/>
          <p:nvPr/>
        </p:nvSpPr>
        <p:spPr>
          <a:xfrm>
            <a:off x="7909560" y="4416552"/>
            <a:ext cx="1463040" cy="36576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ALLOW</a:t>
            </a:r>
            <a:endParaRPr lang="en-US" sz="1100" dirty="0"/>
          </a:p>
        </p:txBody>
      </p:sp>
      <p:sp>
        <p:nvSpPr>
          <p:cNvPr id="42" name="Shape 40"/>
          <p:cNvSpPr/>
          <p:nvPr/>
        </p:nvSpPr>
        <p:spPr>
          <a:xfrm>
            <a:off x="457200" y="5120640"/>
            <a:ext cx="11247120" cy="1143000"/>
          </a:xfrm>
          <a:prstGeom prst="rect">
            <a:avLst/>
          </a:prstGeom>
          <a:solidFill>
            <a:srgbClr val="FFFFFF"/>
          </a:solidFill>
          <a:ln w="12700">
            <a:solidFill>
              <a:srgbClr val="C9D6EC"/>
            </a:solidFill>
            <a:prstDash val="solid"/>
          </a:ln>
        </p:spPr>
      </p:sp>
      <p:pic>
        <p:nvPicPr>
          <p:cNvPr id="43" name="Image 0" descr="preencoded.png">    </p:cNvPr>
          <p:cNvPicPr>
            <a:picLocks noChangeAspect="1"/>
          </p:cNvPicPr>
          <p:nvPr/>
        </p:nvPicPr>
        <p:blipFill>
          <a:blip r:embed="rId1"/>
          <a:stretch>
            <a:fillRect/>
          </a:stretch>
        </p:blipFill>
        <p:spPr>
          <a:xfrm>
            <a:off x="640080" y="5303520"/>
            <a:ext cx="365760" cy="365760"/>
          </a:xfrm>
          <a:prstGeom prst="rect">
            <a:avLst/>
          </a:prstGeom>
        </p:spPr>
      </p:pic>
      <p:sp>
        <p:nvSpPr>
          <p:cNvPr id="44" name="Text 41"/>
          <p:cNvSpPr/>
          <p:nvPr/>
        </p:nvSpPr>
        <p:spPr>
          <a:xfrm>
            <a:off x="1143000" y="5212080"/>
            <a:ext cx="10058400" cy="365760"/>
          </a:xfrm>
          <a:prstGeom prst="rect">
            <a:avLst/>
          </a:prstGeom>
          <a:noFill/>
          <a:ln/>
        </p:spPr>
        <p:txBody>
          <a:bodyPr wrap="square" lIns="0" tIns="0" rIns="0" bIns="0" rtlCol="0" anchor="ctr"/>
          <a:lstStyle/>
          <a:p>
            <a:pPr indent="0" marL="0">
              <a:buNone/>
            </a:pPr>
            <a:r>
              <a:rPr lang="en-US" sz="1600" b="1" dirty="0">
                <a:solidFill>
                  <a:srgbClr val="0B1C3A"/>
                </a:solidFill>
                <a:latin typeface="Georgia" pitchFamily="34" charset="0"/>
                <a:ea typeface="Georgia" pitchFamily="34" charset="-122"/>
                <a:cs typeface="Georgia" pitchFamily="34" charset="-120"/>
              </a:rPr>
              <a:t>12 unit tests covering all five cases plus edge conditions</a:t>
            </a:r>
            <a:endParaRPr lang="en-US" sz="1600" dirty="0"/>
          </a:p>
        </p:txBody>
      </p:sp>
      <p:sp>
        <p:nvSpPr>
          <p:cNvPr id="45" name="Text 42"/>
          <p:cNvSpPr/>
          <p:nvPr/>
        </p:nvSpPr>
        <p:spPr>
          <a:xfrm>
            <a:off x="1143000" y="5623560"/>
            <a:ext cx="10058400" cy="5486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test_speaker.py — pure logic, no embedding model, no ChromaDB. Tests pin down the verdict logic so it cannot silently change. Runs in &lt;100ms. All 12 currently passing.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10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09  ·  CORPUS DISCIPLINE</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The expansion protocol — how we wrote 200 patterns blind</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Patterns sourced from MITRE ATT&amp;CK technique IDs and OWASP Agentic 2026 categories — never from a CVE we'd seen, never with the InjecAgent benchmark visible.</a:t>
            </a:r>
            <a:endParaRPr lang="en-US" sz="1400" dirty="0"/>
          </a:p>
        </p:txBody>
      </p:sp>
      <p:sp>
        <p:nvSpPr>
          <p:cNvPr id="7" name="Shape 5"/>
          <p:cNvSpPr/>
          <p:nvPr/>
        </p:nvSpPr>
        <p:spPr>
          <a:xfrm>
            <a:off x="457200" y="1828800"/>
            <a:ext cx="5029200" cy="4434840"/>
          </a:xfrm>
          <a:prstGeom prst="rect">
            <a:avLst/>
          </a:prstGeom>
          <a:solidFill>
            <a:srgbClr val="FFFFFF"/>
          </a:solidFill>
          <a:ln w="12700">
            <a:solidFill>
              <a:srgbClr val="C9D6EC"/>
            </a:solidFill>
            <a:prstDash val="solid"/>
          </a:ln>
        </p:spPr>
      </p:sp>
      <p:sp>
        <p:nvSpPr>
          <p:cNvPr id="8" name="Shape 6"/>
          <p:cNvSpPr/>
          <p:nvPr/>
        </p:nvSpPr>
        <p:spPr>
          <a:xfrm>
            <a:off x="457200" y="1828800"/>
            <a:ext cx="5029200" cy="411480"/>
          </a:xfrm>
          <a:prstGeom prst="rect">
            <a:avLst/>
          </a:prstGeom>
          <a:solidFill>
            <a:srgbClr val="3B7EE5"/>
          </a:solidFill>
          <a:ln w="12700">
            <a:solidFill>
              <a:srgbClr val="333333"/>
            </a:solidFill>
            <a:prstDash val="solid"/>
          </a:ln>
        </p:spPr>
      </p:sp>
      <p:sp>
        <p:nvSpPr>
          <p:cNvPr id="9" name="Text 7"/>
          <p:cNvSpPr/>
          <p:nvPr/>
        </p:nvSpPr>
        <p:spPr>
          <a:xfrm>
            <a:off x="640080" y="1828800"/>
            <a:ext cx="4663440" cy="41148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THREE LEVELS PER PATTERN</a:t>
            </a:r>
            <a:endParaRPr lang="en-US" sz="1100" dirty="0"/>
          </a:p>
        </p:txBody>
      </p:sp>
      <p:sp>
        <p:nvSpPr>
          <p:cNvPr id="10" name="Shape 8"/>
          <p:cNvSpPr/>
          <p:nvPr/>
        </p:nvSpPr>
        <p:spPr>
          <a:xfrm>
            <a:off x="685800" y="2468880"/>
            <a:ext cx="548640" cy="548640"/>
          </a:xfrm>
          <a:prstGeom prst="roundRect">
            <a:avLst>
              <a:gd name="adj" fmla="val 8333"/>
            </a:avLst>
          </a:prstGeom>
          <a:solidFill>
            <a:srgbClr val="2A9D8F"/>
          </a:solidFill>
          <a:ln w="12700">
            <a:solidFill>
              <a:srgbClr val="333333"/>
            </a:solidFill>
            <a:prstDash val="solid"/>
          </a:ln>
        </p:spPr>
      </p:sp>
      <p:sp>
        <p:nvSpPr>
          <p:cNvPr id="11" name="Text 9"/>
          <p:cNvSpPr/>
          <p:nvPr/>
        </p:nvSpPr>
        <p:spPr>
          <a:xfrm>
            <a:off x="685800" y="2468880"/>
            <a:ext cx="548640" cy="548640"/>
          </a:xfrm>
          <a:prstGeom prst="rect">
            <a:avLst/>
          </a:prstGeom>
          <a:noFill/>
          <a:ln/>
        </p:spPr>
        <p:txBody>
          <a:bodyPr wrap="square" lIns="0" tIns="0" rIns="0" bIns="0" rtlCol="0" anchor="ctr"/>
          <a:lstStyle/>
          <a:p>
            <a:pPr algn="ctr" indent="0" marL="0">
              <a:buNone/>
            </a:pPr>
            <a:r>
              <a:rPr lang="en-US" sz="1800" b="1" dirty="0">
                <a:solidFill>
                  <a:srgbClr val="ECF1F9"/>
                </a:solidFill>
                <a:latin typeface="Georgia" pitchFamily="34" charset="0"/>
                <a:ea typeface="Georgia" pitchFamily="34" charset="-122"/>
                <a:cs typeface="Georgia" pitchFamily="34" charset="-120"/>
              </a:rPr>
              <a:t>L1</a:t>
            </a:r>
            <a:endParaRPr lang="en-US" sz="1800" dirty="0"/>
          </a:p>
        </p:txBody>
      </p:sp>
      <p:sp>
        <p:nvSpPr>
          <p:cNvPr id="12" name="Text 10"/>
          <p:cNvSpPr/>
          <p:nvPr/>
        </p:nvSpPr>
        <p:spPr>
          <a:xfrm>
            <a:off x="1371600" y="2423160"/>
            <a:ext cx="3931920" cy="365760"/>
          </a:xfrm>
          <a:prstGeom prst="rect">
            <a:avLst/>
          </a:prstGeom>
          <a:noFill/>
          <a:ln/>
        </p:spPr>
        <p:txBody>
          <a:bodyPr wrap="square" lIns="0" tIns="0" rIns="0" bIns="0" rtlCol="0" anchor="ctr"/>
          <a:lstStyle/>
          <a:p>
            <a:pPr indent="0" marL="0">
              <a:buNone/>
            </a:pPr>
            <a:r>
              <a:rPr lang="en-US" sz="1600" b="1" dirty="0">
                <a:solidFill>
                  <a:srgbClr val="0B1C3A"/>
                </a:solidFill>
                <a:latin typeface="Georgia" pitchFamily="34" charset="0"/>
                <a:ea typeface="Georgia" pitchFamily="34" charset="-122"/>
                <a:cs typeface="Georgia" pitchFamily="34" charset="-120"/>
              </a:rPr>
              <a:t>Intent</a:t>
            </a:r>
            <a:endParaRPr lang="en-US" sz="1600" dirty="0"/>
          </a:p>
        </p:txBody>
      </p:sp>
      <p:sp>
        <p:nvSpPr>
          <p:cNvPr id="13" name="Text 11"/>
          <p:cNvSpPr/>
          <p:nvPr/>
        </p:nvSpPr>
        <p:spPr>
          <a:xfrm>
            <a:off x="1371600" y="2761488"/>
            <a:ext cx="3931920" cy="77724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What the agent is trying to do. No tool names, no syntax. Catches novel implementations.</a:t>
            </a:r>
            <a:endParaRPr lang="en-US" sz="1100" dirty="0"/>
          </a:p>
        </p:txBody>
      </p:sp>
      <p:sp>
        <p:nvSpPr>
          <p:cNvPr id="14" name="Shape 12"/>
          <p:cNvSpPr/>
          <p:nvPr/>
        </p:nvSpPr>
        <p:spPr>
          <a:xfrm>
            <a:off x="685800" y="3703320"/>
            <a:ext cx="548640" cy="548640"/>
          </a:xfrm>
          <a:prstGeom prst="roundRect">
            <a:avLst>
              <a:gd name="adj" fmla="val 8333"/>
            </a:avLst>
          </a:prstGeom>
          <a:solidFill>
            <a:srgbClr val="3B7EE5"/>
          </a:solidFill>
          <a:ln w="12700">
            <a:solidFill>
              <a:srgbClr val="333333"/>
            </a:solidFill>
            <a:prstDash val="solid"/>
          </a:ln>
        </p:spPr>
      </p:sp>
      <p:sp>
        <p:nvSpPr>
          <p:cNvPr id="15" name="Text 13"/>
          <p:cNvSpPr/>
          <p:nvPr/>
        </p:nvSpPr>
        <p:spPr>
          <a:xfrm>
            <a:off x="685800" y="3703320"/>
            <a:ext cx="548640" cy="548640"/>
          </a:xfrm>
          <a:prstGeom prst="rect">
            <a:avLst/>
          </a:prstGeom>
          <a:noFill/>
          <a:ln/>
        </p:spPr>
        <p:txBody>
          <a:bodyPr wrap="square" lIns="0" tIns="0" rIns="0" bIns="0" rtlCol="0" anchor="ctr"/>
          <a:lstStyle/>
          <a:p>
            <a:pPr algn="ctr" indent="0" marL="0">
              <a:buNone/>
            </a:pPr>
            <a:r>
              <a:rPr lang="en-US" sz="1800" b="1" dirty="0">
                <a:solidFill>
                  <a:srgbClr val="ECF1F9"/>
                </a:solidFill>
                <a:latin typeface="Georgia" pitchFamily="34" charset="0"/>
                <a:ea typeface="Georgia" pitchFamily="34" charset="-122"/>
                <a:cs typeface="Georgia" pitchFamily="34" charset="-120"/>
              </a:rPr>
              <a:t>L2</a:t>
            </a:r>
            <a:endParaRPr lang="en-US" sz="1800" dirty="0"/>
          </a:p>
        </p:txBody>
      </p:sp>
      <p:sp>
        <p:nvSpPr>
          <p:cNvPr id="16" name="Text 14"/>
          <p:cNvSpPr/>
          <p:nvPr/>
        </p:nvSpPr>
        <p:spPr>
          <a:xfrm>
            <a:off x="1371600" y="3657600"/>
            <a:ext cx="3931920" cy="365760"/>
          </a:xfrm>
          <a:prstGeom prst="rect">
            <a:avLst/>
          </a:prstGeom>
          <a:noFill/>
          <a:ln/>
        </p:spPr>
        <p:txBody>
          <a:bodyPr wrap="square" lIns="0" tIns="0" rIns="0" bIns="0" rtlCol="0" anchor="ctr"/>
          <a:lstStyle/>
          <a:p>
            <a:pPr indent="0" marL="0">
              <a:buNone/>
            </a:pPr>
            <a:r>
              <a:rPr lang="en-US" sz="1600" b="1" dirty="0">
                <a:solidFill>
                  <a:srgbClr val="0B1C3A"/>
                </a:solidFill>
                <a:latin typeface="Georgia" pitchFamily="34" charset="0"/>
                <a:ea typeface="Georgia" pitchFamily="34" charset="-122"/>
                <a:cs typeface="Georgia" pitchFamily="34" charset="-120"/>
              </a:rPr>
              <a:t>Mechanism</a:t>
            </a:r>
            <a:endParaRPr lang="en-US" sz="1600" dirty="0"/>
          </a:p>
        </p:txBody>
      </p:sp>
      <p:sp>
        <p:nvSpPr>
          <p:cNvPr id="17" name="Text 15"/>
          <p:cNvSpPr/>
          <p:nvPr/>
        </p:nvSpPr>
        <p:spPr>
          <a:xfrm>
            <a:off x="1371600" y="3995928"/>
            <a:ext cx="3931920" cy="77724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What category of mechanism is used. May reference tool classes (e.g. 'package manager') but not specific commands.</a:t>
            </a:r>
            <a:endParaRPr lang="en-US" sz="1100" dirty="0"/>
          </a:p>
        </p:txBody>
      </p:sp>
      <p:sp>
        <p:nvSpPr>
          <p:cNvPr id="18" name="Shape 16"/>
          <p:cNvSpPr/>
          <p:nvPr/>
        </p:nvSpPr>
        <p:spPr>
          <a:xfrm>
            <a:off x="685800" y="4937760"/>
            <a:ext cx="548640" cy="548640"/>
          </a:xfrm>
          <a:prstGeom prst="roundRect">
            <a:avLst>
              <a:gd name="adj" fmla="val 8333"/>
            </a:avLst>
          </a:prstGeom>
          <a:solidFill>
            <a:srgbClr val="B8962C"/>
          </a:solidFill>
          <a:ln w="12700">
            <a:solidFill>
              <a:srgbClr val="333333"/>
            </a:solidFill>
            <a:prstDash val="solid"/>
          </a:ln>
        </p:spPr>
      </p:sp>
      <p:sp>
        <p:nvSpPr>
          <p:cNvPr id="19" name="Text 17"/>
          <p:cNvSpPr/>
          <p:nvPr/>
        </p:nvSpPr>
        <p:spPr>
          <a:xfrm>
            <a:off x="685800" y="4937760"/>
            <a:ext cx="548640" cy="548640"/>
          </a:xfrm>
          <a:prstGeom prst="rect">
            <a:avLst/>
          </a:prstGeom>
          <a:noFill/>
          <a:ln/>
        </p:spPr>
        <p:txBody>
          <a:bodyPr wrap="square" lIns="0" tIns="0" rIns="0" bIns="0" rtlCol="0" anchor="ctr"/>
          <a:lstStyle/>
          <a:p>
            <a:pPr algn="ctr" indent="0" marL="0">
              <a:buNone/>
            </a:pPr>
            <a:r>
              <a:rPr lang="en-US" sz="1800" b="1" dirty="0">
                <a:solidFill>
                  <a:srgbClr val="ECF1F9"/>
                </a:solidFill>
                <a:latin typeface="Georgia" pitchFamily="34" charset="0"/>
                <a:ea typeface="Georgia" pitchFamily="34" charset="-122"/>
                <a:cs typeface="Georgia" pitchFamily="34" charset="-120"/>
              </a:rPr>
              <a:t>L3</a:t>
            </a:r>
            <a:endParaRPr lang="en-US" sz="1800" dirty="0"/>
          </a:p>
        </p:txBody>
      </p:sp>
      <p:sp>
        <p:nvSpPr>
          <p:cNvPr id="20" name="Text 18"/>
          <p:cNvSpPr/>
          <p:nvPr/>
        </p:nvSpPr>
        <p:spPr>
          <a:xfrm>
            <a:off x="1371600" y="4892040"/>
            <a:ext cx="3931920" cy="365760"/>
          </a:xfrm>
          <a:prstGeom prst="rect">
            <a:avLst/>
          </a:prstGeom>
          <a:noFill/>
          <a:ln/>
        </p:spPr>
        <p:txBody>
          <a:bodyPr wrap="square" lIns="0" tIns="0" rIns="0" bIns="0" rtlCol="0" anchor="ctr"/>
          <a:lstStyle/>
          <a:p>
            <a:pPr indent="0" marL="0">
              <a:buNone/>
            </a:pPr>
            <a:r>
              <a:rPr lang="en-US" sz="1600" b="1" dirty="0">
                <a:solidFill>
                  <a:srgbClr val="0B1C3A"/>
                </a:solidFill>
                <a:latin typeface="Georgia" pitchFamily="34" charset="0"/>
                <a:ea typeface="Georgia" pitchFamily="34" charset="-122"/>
                <a:cs typeface="Georgia" pitchFamily="34" charset="-120"/>
              </a:rPr>
              <a:t>Surface</a:t>
            </a:r>
            <a:endParaRPr lang="en-US" sz="1600" dirty="0"/>
          </a:p>
        </p:txBody>
      </p:sp>
      <p:sp>
        <p:nvSpPr>
          <p:cNvPr id="21" name="Text 19"/>
          <p:cNvSpPr/>
          <p:nvPr/>
        </p:nvSpPr>
        <p:spPr>
          <a:xfrm>
            <a:off x="1371600" y="5230368"/>
            <a:ext cx="3931920" cy="77724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What it looks like at the API/syntax layer. Specific tool names, command flags, paths allowed here.</a:t>
            </a:r>
            <a:endParaRPr lang="en-US" sz="1100" dirty="0"/>
          </a:p>
        </p:txBody>
      </p:sp>
      <p:sp>
        <p:nvSpPr>
          <p:cNvPr id="22" name="Shape 20"/>
          <p:cNvSpPr/>
          <p:nvPr/>
        </p:nvSpPr>
        <p:spPr>
          <a:xfrm>
            <a:off x="5852160" y="1828800"/>
            <a:ext cx="5943600" cy="4434840"/>
          </a:xfrm>
          <a:prstGeom prst="rect">
            <a:avLst/>
          </a:prstGeom>
          <a:solidFill>
            <a:srgbClr val="FFFFFF"/>
          </a:solidFill>
          <a:ln w="12700">
            <a:solidFill>
              <a:srgbClr val="C9D6EC"/>
            </a:solidFill>
            <a:prstDash val="solid"/>
          </a:ln>
        </p:spPr>
      </p:sp>
      <p:sp>
        <p:nvSpPr>
          <p:cNvPr id="23" name="Shape 21"/>
          <p:cNvSpPr/>
          <p:nvPr/>
        </p:nvSpPr>
        <p:spPr>
          <a:xfrm>
            <a:off x="5852160" y="1828800"/>
            <a:ext cx="5943600" cy="411480"/>
          </a:xfrm>
          <a:prstGeom prst="rect">
            <a:avLst/>
          </a:prstGeom>
          <a:solidFill>
            <a:srgbClr val="E63946"/>
          </a:solidFill>
          <a:ln w="12700">
            <a:solidFill>
              <a:srgbClr val="333333"/>
            </a:solidFill>
            <a:prstDash val="solid"/>
          </a:ln>
        </p:spPr>
      </p:sp>
      <p:sp>
        <p:nvSpPr>
          <p:cNvPr id="24" name="Text 22"/>
          <p:cNvSpPr/>
          <p:nvPr/>
        </p:nvSpPr>
        <p:spPr>
          <a:xfrm>
            <a:off x="6035040" y="1828800"/>
            <a:ext cx="5577840" cy="41148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EIGHT NON-NEGOTIABLE RULES</a:t>
            </a:r>
            <a:endParaRPr lang="en-US" sz="1100" dirty="0"/>
          </a:p>
        </p:txBody>
      </p:sp>
      <p:sp>
        <p:nvSpPr>
          <p:cNvPr id="25" name="Text 23"/>
          <p:cNvSpPr/>
          <p:nvPr/>
        </p:nvSpPr>
        <p:spPr>
          <a:xfrm>
            <a:off x="6080760" y="2395728"/>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01</a:t>
            </a:r>
            <a:endParaRPr lang="en-US" sz="1400" dirty="0"/>
          </a:p>
        </p:txBody>
      </p:sp>
      <p:sp>
        <p:nvSpPr>
          <p:cNvPr id="26" name="Text 24"/>
          <p:cNvSpPr/>
          <p:nvPr/>
        </p:nvSpPr>
        <p:spPr>
          <a:xfrm>
            <a:off x="6629400" y="2395728"/>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No CVE, no ClawHavoc, no InjecAgent visible during writing</a:t>
            </a:r>
            <a:endParaRPr lang="en-US" sz="1100" dirty="0"/>
          </a:p>
        </p:txBody>
      </p:sp>
      <p:sp>
        <p:nvSpPr>
          <p:cNvPr id="27" name="Text 25"/>
          <p:cNvSpPr/>
          <p:nvPr/>
        </p:nvSpPr>
        <p:spPr>
          <a:xfrm>
            <a:off x="6080760" y="2871216"/>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02</a:t>
            </a:r>
            <a:endParaRPr lang="en-US" sz="1400" dirty="0"/>
          </a:p>
        </p:txBody>
      </p:sp>
      <p:sp>
        <p:nvSpPr>
          <p:cNvPr id="28" name="Text 26"/>
          <p:cNvSpPr/>
          <p:nvPr/>
        </p:nvSpPr>
        <p:spPr>
          <a:xfrm>
            <a:off x="6629400" y="2871216"/>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Source-first: cite a MITRE technique ID, not a known incident</a:t>
            </a:r>
            <a:endParaRPr lang="en-US" sz="1100" dirty="0"/>
          </a:p>
        </p:txBody>
      </p:sp>
      <p:sp>
        <p:nvSpPr>
          <p:cNvPr id="29" name="Text 27"/>
          <p:cNvSpPr/>
          <p:nvPr/>
        </p:nvSpPr>
        <p:spPr>
          <a:xfrm>
            <a:off x="6080760" y="3346704"/>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03</a:t>
            </a:r>
            <a:endParaRPr lang="en-US" sz="1400" dirty="0"/>
          </a:p>
        </p:txBody>
      </p:sp>
      <p:sp>
        <p:nvSpPr>
          <p:cNvPr id="30" name="Text 28"/>
          <p:cNvSpPr/>
          <p:nvPr/>
        </p:nvSpPr>
        <p:spPr>
          <a:xfrm>
            <a:off x="6629400" y="3346704"/>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Write L1 → L2 → L3 in order. Top-down forces honesty.</a:t>
            </a:r>
            <a:endParaRPr lang="en-US" sz="1100" dirty="0"/>
          </a:p>
        </p:txBody>
      </p:sp>
      <p:sp>
        <p:nvSpPr>
          <p:cNvPr id="31" name="Text 29"/>
          <p:cNvSpPr/>
          <p:nvPr/>
        </p:nvSpPr>
        <p:spPr>
          <a:xfrm>
            <a:off x="6080760" y="3822192"/>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04</a:t>
            </a:r>
            <a:endParaRPr lang="en-US" sz="1400" dirty="0"/>
          </a:p>
        </p:txBody>
      </p:sp>
      <p:sp>
        <p:nvSpPr>
          <p:cNvPr id="32" name="Text 30"/>
          <p:cNvSpPr/>
          <p:nvPr/>
        </p:nvSpPr>
        <p:spPr>
          <a:xfrm>
            <a:off x="6629400" y="3822192"/>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The "tomorrow test" — would L1 catch a novel tool achieving the same intent?</a:t>
            </a:r>
            <a:endParaRPr lang="en-US" sz="1100" dirty="0"/>
          </a:p>
        </p:txBody>
      </p:sp>
      <p:sp>
        <p:nvSpPr>
          <p:cNvPr id="33" name="Text 31"/>
          <p:cNvSpPr/>
          <p:nvPr/>
        </p:nvSpPr>
        <p:spPr>
          <a:xfrm>
            <a:off x="6080760" y="4297680"/>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05</a:t>
            </a:r>
            <a:endParaRPr lang="en-US" sz="1400" dirty="0"/>
          </a:p>
        </p:txBody>
      </p:sp>
      <p:sp>
        <p:nvSpPr>
          <p:cNvPr id="34" name="Text 32"/>
          <p:cNvSpPr/>
          <p:nvPr/>
        </p:nvSpPr>
        <p:spPr>
          <a:xfrm>
            <a:off x="6629400" y="4297680"/>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The "blue team test" — can a benign script trigger this? If yes, rewrite.</a:t>
            </a:r>
            <a:endParaRPr lang="en-US" sz="1100" dirty="0"/>
          </a:p>
        </p:txBody>
      </p:sp>
      <p:sp>
        <p:nvSpPr>
          <p:cNvPr id="35" name="Text 33"/>
          <p:cNvSpPr/>
          <p:nvPr/>
        </p:nvSpPr>
        <p:spPr>
          <a:xfrm>
            <a:off x="6080760" y="4773168"/>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06</a:t>
            </a:r>
            <a:endParaRPr lang="en-US" sz="1400" dirty="0"/>
          </a:p>
        </p:txBody>
      </p:sp>
      <p:sp>
        <p:nvSpPr>
          <p:cNvPr id="36" name="Text 34"/>
          <p:cNvSpPr/>
          <p:nvPr/>
        </p:nvSpPr>
        <p:spPr>
          <a:xfrm>
            <a:off x="6629400" y="4773168"/>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No collaboration during writing; swap files for review</a:t>
            </a:r>
            <a:endParaRPr lang="en-US" sz="1100" dirty="0"/>
          </a:p>
        </p:txBody>
      </p:sp>
      <p:sp>
        <p:nvSpPr>
          <p:cNvPr id="37" name="Text 35"/>
          <p:cNvSpPr/>
          <p:nvPr/>
        </p:nvSpPr>
        <p:spPr>
          <a:xfrm>
            <a:off x="6080760" y="5248656"/>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07</a:t>
            </a:r>
            <a:endParaRPr lang="en-US" sz="1400" dirty="0"/>
          </a:p>
        </p:txBody>
      </p:sp>
      <p:sp>
        <p:nvSpPr>
          <p:cNvPr id="38" name="Text 36"/>
          <p:cNvSpPr/>
          <p:nvPr/>
        </p:nvSpPr>
        <p:spPr>
          <a:xfrm>
            <a:off x="6629400" y="5248656"/>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One pattern, one intent. No "and" connecting two verbs in L1.</a:t>
            </a:r>
            <a:endParaRPr lang="en-US" sz="1100" dirty="0"/>
          </a:p>
        </p:txBody>
      </p:sp>
      <p:sp>
        <p:nvSpPr>
          <p:cNvPr id="39" name="Text 37"/>
          <p:cNvSpPr/>
          <p:nvPr/>
        </p:nvSpPr>
        <p:spPr>
          <a:xfrm>
            <a:off x="6080760" y="5724144"/>
            <a:ext cx="457200" cy="365760"/>
          </a:xfrm>
          <a:prstGeom prst="rect">
            <a:avLst/>
          </a:prstGeom>
          <a:noFill/>
          <a:ln/>
        </p:spPr>
        <p:txBody>
          <a:bodyPr wrap="square" lIns="0" tIns="0" rIns="0" bIns="0" rtlCol="0" anchor="ctr"/>
          <a:lstStyle/>
          <a:p>
            <a:pPr indent="0" marL="0">
              <a:buNone/>
            </a:pPr>
            <a:r>
              <a:rPr lang="en-US" sz="1400" b="1" dirty="0">
                <a:solidFill>
                  <a:srgbClr val="E63946"/>
                </a:solidFill>
                <a:latin typeface="Georgia" pitchFamily="34" charset="0"/>
                <a:ea typeface="Georgia" pitchFamily="34" charset="-122"/>
                <a:cs typeface="Georgia" pitchFamily="34" charset="-120"/>
              </a:rPr>
              <a:t>08</a:t>
            </a:r>
            <a:endParaRPr lang="en-US" sz="1400" dirty="0"/>
          </a:p>
        </p:txBody>
      </p:sp>
      <p:sp>
        <p:nvSpPr>
          <p:cNvPr id="40" name="Text 38"/>
          <p:cNvSpPr/>
          <p:nvPr/>
        </p:nvSpPr>
        <p:spPr>
          <a:xfrm>
            <a:off x="6629400" y="5724144"/>
            <a:ext cx="4937760" cy="457200"/>
          </a:xfrm>
          <a:prstGeom prst="rect">
            <a:avLst/>
          </a:prstGeom>
          <a:noFill/>
          <a:ln/>
        </p:spPr>
        <p:txBody>
          <a:bodyPr wrap="square" lIns="0" tIns="0" rIns="0" bIns="0" rtlCol="0" anchor="ctr"/>
          <a:lstStyle/>
          <a:p>
            <a:pPr indent="0" marL="0">
              <a:buNone/>
            </a:pPr>
            <a:r>
              <a:rPr lang="en-US" sz="1100" dirty="0">
                <a:solidFill>
                  <a:srgbClr val="0B1C3A"/>
                </a:solidFill>
                <a:latin typeface="Calibri" pitchFamily="34" charset="0"/>
                <a:ea typeface="Calibri" pitchFamily="34" charset="-122"/>
                <a:cs typeface="Calibri" pitchFamily="34" charset="-120"/>
              </a:rPr>
              <a:t>Cite freshly — at most one MITRE technique + one OWASP/CWE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11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10  ·  CORPUS BY THE NUMBERS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Where we stand — corpus v2 status</a:t>
            </a:r>
            <a:endParaRPr lang="en-US" sz="3000" dirty="0"/>
          </a:p>
        </p:txBody>
      </p:sp>
      <p:sp>
        <p:nvSpPr>
          <p:cNvPr id="6" name="Shape 4"/>
          <p:cNvSpPr/>
          <p:nvPr/>
        </p:nvSpPr>
        <p:spPr>
          <a:xfrm>
            <a:off x="457200" y="1417320"/>
            <a:ext cx="2743200" cy="1280160"/>
          </a:xfrm>
          <a:prstGeom prst="rect">
            <a:avLst/>
          </a:prstGeom>
          <a:solidFill>
            <a:srgbClr val="FFFFFF"/>
          </a:solidFill>
          <a:ln w="12700">
            <a:solidFill>
              <a:srgbClr val="C9D6EC"/>
            </a:solidFill>
            <a:prstDash val="solid"/>
          </a:ln>
        </p:spPr>
      </p:sp>
      <p:sp>
        <p:nvSpPr>
          <p:cNvPr id="7" name="Shape 5"/>
          <p:cNvSpPr/>
          <p:nvPr/>
        </p:nvSpPr>
        <p:spPr>
          <a:xfrm>
            <a:off x="457200" y="1417320"/>
            <a:ext cx="2743200" cy="54864"/>
          </a:xfrm>
          <a:prstGeom prst="rect">
            <a:avLst/>
          </a:prstGeom>
          <a:solidFill>
            <a:srgbClr val="1E4FA8"/>
          </a:solidFill>
          <a:ln w="12700">
            <a:solidFill>
              <a:srgbClr val="333333"/>
            </a:solidFill>
            <a:prstDash val="solid"/>
          </a:ln>
        </p:spPr>
      </p:sp>
      <p:sp>
        <p:nvSpPr>
          <p:cNvPr id="8" name="Text 6"/>
          <p:cNvSpPr/>
          <p:nvPr/>
        </p:nvSpPr>
        <p:spPr>
          <a:xfrm>
            <a:off x="594360" y="1554480"/>
            <a:ext cx="2468880" cy="640080"/>
          </a:xfrm>
          <a:prstGeom prst="rect">
            <a:avLst/>
          </a:prstGeom>
          <a:noFill/>
          <a:ln/>
        </p:spPr>
        <p:txBody>
          <a:bodyPr wrap="square" lIns="0" tIns="0" rIns="0" bIns="0" rtlCol="0" anchor="ctr"/>
          <a:lstStyle/>
          <a:p>
            <a:pPr algn="l" indent="0" marL="0">
              <a:buNone/>
            </a:pPr>
            <a:r>
              <a:rPr lang="en-US" sz="4400" b="1" dirty="0">
                <a:solidFill>
                  <a:srgbClr val="1E4FA8"/>
                </a:solidFill>
                <a:latin typeface="Georgia" pitchFamily="34" charset="0"/>
                <a:ea typeface="Georgia" pitchFamily="34" charset="-122"/>
                <a:cs typeface="Georgia" pitchFamily="34" charset="-120"/>
              </a:rPr>
              <a:t>200</a:t>
            </a:r>
            <a:endParaRPr lang="en-US" sz="4400" dirty="0"/>
          </a:p>
        </p:txBody>
      </p:sp>
      <p:sp>
        <p:nvSpPr>
          <p:cNvPr id="9" name="Text 7"/>
          <p:cNvSpPr/>
          <p:nvPr/>
        </p:nvSpPr>
        <p:spPr>
          <a:xfrm>
            <a:off x="594360" y="2194560"/>
            <a:ext cx="246888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new v2 patterns</a:t>
            </a:r>
            <a:endParaRPr lang="en-US" sz="1200" dirty="0"/>
          </a:p>
        </p:txBody>
      </p:sp>
      <p:sp>
        <p:nvSpPr>
          <p:cNvPr id="10" name="Text 8"/>
          <p:cNvSpPr/>
          <p:nvPr/>
        </p:nvSpPr>
        <p:spPr>
          <a:xfrm>
            <a:off x="594360" y="2468880"/>
            <a:ext cx="2468880" cy="22860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50 per minister × 4</a:t>
            </a:r>
            <a:endParaRPr lang="en-US" sz="1000" dirty="0"/>
          </a:p>
        </p:txBody>
      </p:sp>
      <p:sp>
        <p:nvSpPr>
          <p:cNvPr id="11" name="Shape 9"/>
          <p:cNvSpPr/>
          <p:nvPr/>
        </p:nvSpPr>
        <p:spPr>
          <a:xfrm>
            <a:off x="3383280" y="1417320"/>
            <a:ext cx="2743200" cy="1280160"/>
          </a:xfrm>
          <a:prstGeom prst="rect">
            <a:avLst/>
          </a:prstGeom>
          <a:solidFill>
            <a:srgbClr val="FFFFFF"/>
          </a:solidFill>
          <a:ln w="12700">
            <a:solidFill>
              <a:srgbClr val="C9D6EC"/>
            </a:solidFill>
            <a:prstDash val="solid"/>
          </a:ln>
        </p:spPr>
      </p:sp>
      <p:sp>
        <p:nvSpPr>
          <p:cNvPr id="12" name="Shape 10"/>
          <p:cNvSpPr/>
          <p:nvPr/>
        </p:nvSpPr>
        <p:spPr>
          <a:xfrm>
            <a:off x="3383280" y="1417320"/>
            <a:ext cx="2743200" cy="54864"/>
          </a:xfrm>
          <a:prstGeom prst="rect">
            <a:avLst/>
          </a:prstGeom>
          <a:solidFill>
            <a:srgbClr val="1E4FA8"/>
          </a:solidFill>
          <a:ln w="12700">
            <a:solidFill>
              <a:srgbClr val="333333"/>
            </a:solidFill>
            <a:prstDash val="solid"/>
          </a:ln>
        </p:spPr>
      </p:sp>
      <p:sp>
        <p:nvSpPr>
          <p:cNvPr id="13" name="Text 11"/>
          <p:cNvSpPr/>
          <p:nvPr/>
        </p:nvSpPr>
        <p:spPr>
          <a:xfrm>
            <a:off x="3520440" y="1554480"/>
            <a:ext cx="2468880" cy="640080"/>
          </a:xfrm>
          <a:prstGeom prst="rect">
            <a:avLst/>
          </a:prstGeom>
          <a:noFill/>
          <a:ln/>
        </p:spPr>
        <p:txBody>
          <a:bodyPr wrap="square" lIns="0" tIns="0" rIns="0" bIns="0" rtlCol="0" anchor="ctr"/>
          <a:lstStyle/>
          <a:p>
            <a:pPr algn="l" indent="0" marL="0">
              <a:buNone/>
            </a:pPr>
            <a:r>
              <a:rPr lang="en-US" sz="4400" b="1" dirty="0">
                <a:solidFill>
                  <a:srgbClr val="1E4FA8"/>
                </a:solidFill>
                <a:latin typeface="Georgia" pitchFamily="34" charset="0"/>
                <a:ea typeface="Georgia" pitchFamily="34" charset="-122"/>
                <a:cs typeface="Georgia" pitchFamily="34" charset="-120"/>
              </a:rPr>
              <a:t>600</a:t>
            </a:r>
            <a:endParaRPr lang="en-US" sz="4400" dirty="0"/>
          </a:p>
        </p:txBody>
      </p:sp>
      <p:sp>
        <p:nvSpPr>
          <p:cNvPr id="14" name="Text 12"/>
          <p:cNvSpPr/>
          <p:nvPr/>
        </p:nvSpPr>
        <p:spPr>
          <a:xfrm>
            <a:off x="3520440" y="2194560"/>
            <a:ext cx="246888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embedded documents</a:t>
            </a:r>
            <a:endParaRPr lang="en-US" sz="1200" dirty="0"/>
          </a:p>
        </p:txBody>
      </p:sp>
      <p:sp>
        <p:nvSpPr>
          <p:cNvPr id="15" name="Text 13"/>
          <p:cNvSpPr/>
          <p:nvPr/>
        </p:nvSpPr>
        <p:spPr>
          <a:xfrm>
            <a:off x="3520440" y="2468880"/>
            <a:ext cx="2468880" cy="22860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L1 + L2 + L3 per pattern</a:t>
            </a:r>
            <a:endParaRPr lang="en-US" sz="1000" dirty="0"/>
          </a:p>
        </p:txBody>
      </p:sp>
      <p:sp>
        <p:nvSpPr>
          <p:cNvPr id="16" name="Shape 14"/>
          <p:cNvSpPr/>
          <p:nvPr/>
        </p:nvSpPr>
        <p:spPr>
          <a:xfrm>
            <a:off x="6309360" y="1417320"/>
            <a:ext cx="2743200" cy="1280160"/>
          </a:xfrm>
          <a:prstGeom prst="rect">
            <a:avLst/>
          </a:prstGeom>
          <a:solidFill>
            <a:srgbClr val="FFFFFF"/>
          </a:solidFill>
          <a:ln w="12700">
            <a:solidFill>
              <a:srgbClr val="C9D6EC"/>
            </a:solidFill>
            <a:prstDash val="solid"/>
          </a:ln>
        </p:spPr>
      </p:sp>
      <p:sp>
        <p:nvSpPr>
          <p:cNvPr id="17" name="Shape 15"/>
          <p:cNvSpPr/>
          <p:nvPr/>
        </p:nvSpPr>
        <p:spPr>
          <a:xfrm>
            <a:off x="6309360" y="1417320"/>
            <a:ext cx="2743200" cy="54864"/>
          </a:xfrm>
          <a:prstGeom prst="rect">
            <a:avLst/>
          </a:prstGeom>
          <a:solidFill>
            <a:srgbClr val="2A9D8F"/>
          </a:solidFill>
          <a:ln w="12700">
            <a:solidFill>
              <a:srgbClr val="333333"/>
            </a:solidFill>
            <a:prstDash val="solid"/>
          </a:ln>
        </p:spPr>
      </p:sp>
      <p:sp>
        <p:nvSpPr>
          <p:cNvPr id="18" name="Text 16"/>
          <p:cNvSpPr/>
          <p:nvPr/>
        </p:nvSpPr>
        <p:spPr>
          <a:xfrm>
            <a:off x="6446520" y="1554480"/>
            <a:ext cx="2468880" cy="640080"/>
          </a:xfrm>
          <a:prstGeom prst="rect">
            <a:avLst/>
          </a:prstGeom>
          <a:noFill/>
          <a:ln/>
        </p:spPr>
        <p:txBody>
          <a:bodyPr wrap="square" lIns="0" tIns="0" rIns="0" bIns="0" rtlCol="0" anchor="ctr"/>
          <a:lstStyle/>
          <a:p>
            <a:pPr algn="l" indent="0" marL="0">
              <a:buNone/>
            </a:pPr>
            <a:r>
              <a:rPr lang="en-US" sz="4400" b="1" dirty="0">
                <a:solidFill>
                  <a:srgbClr val="2A9D8F"/>
                </a:solidFill>
                <a:latin typeface="Georgia" pitchFamily="34" charset="0"/>
                <a:ea typeface="Georgia" pitchFamily="34" charset="-122"/>
                <a:cs typeface="Georgia" pitchFamily="34" charset="-120"/>
              </a:rPr>
              <a:t>0</a:t>
            </a:r>
            <a:endParaRPr lang="en-US" sz="4400" dirty="0"/>
          </a:p>
        </p:txBody>
      </p:sp>
      <p:sp>
        <p:nvSpPr>
          <p:cNvPr id="19" name="Text 17"/>
          <p:cNvSpPr/>
          <p:nvPr/>
        </p:nvSpPr>
        <p:spPr>
          <a:xfrm>
            <a:off x="6446520" y="2194560"/>
            <a:ext cx="246888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validation rejects</a:t>
            </a:r>
            <a:endParaRPr lang="en-US" sz="1200" dirty="0"/>
          </a:p>
        </p:txBody>
      </p:sp>
      <p:sp>
        <p:nvSpPr>
          <p:cNvPr id="20" name="Text 18"/>
          <p:cNvSpPr/>
          <p:nvPr/>
        </p:nvSpPr>
        <p:spPr>
          <a:xfrm>
            <a:off x="6446520" y="2468880"/>
            <a:ext cx="2468880" cy="22860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merge passes clean</a:t>
            </a:r>
            <a:endParaRPr lang="en-US" sz="1000" dirty="0"/>
          </a:p>
        </p:txBody>
      </p:sp>
      <p:sp>
        <p:nvSpPr>
          <p:cNvPr id="21" name="Shape 19"/>
          <p:cNvSpPr/>
          <p:nvPr/>
        </p:nvSpPr>
        <p:spPr>
          <a:xfrm>
            <a:off x="9235440" y="1417320"/>
            <a:ext cx="2743200" cy="1280160"/>
          </a:xfrm>
          <a:prstGeom prst="rect">
            <a:avLst/>
          </a:prstGeom>
          <a:solidFill>
            <a:srgbClr val="FFFFFF"/>
          </a:solidFill>
          <a:ln w="12700">
            <a:solidFill>
              <a:srgbClr val="C9D6EC"/>
            </a:solidFill>
            <a:prstDash val="solid"/>
          </a:ln>
        </p:spPr>
      </p:sp>
      <p:sp>
        <p:nvSpPr>
          <p:cNvPr id="22" name="Shape 20"/>
          <p:cNvSpPr/>
          <p:nvPr/>
        </p:nvSpPr>
        <p:spPr>
          <a:xfrm>
            <a:off x="9235440" y="1417320"/>
            <a:ext cx="2743200" cy="54864"/>
          </a:xfrm>
          <a:prstGeom prst="rect">
            <a:avLst/>
          </a:prstGeom>
          <a:solidFill>
            <a:srgbClr val="2A9D8F"/>
          </a:solidFill>
          <a:ln w="12700">
            <a:solidFill>
              <a:srgbClr val="333333"/>
            </a:solidFill>
            <a:prstDash val="solid"/>
          </a:ln>
        </p:spPr>
      </p:sp>
      <p:sp>
        <p:nvSpPr>
          <p:cNvPr id="23" name="Text 21"/>
          <p:cNvSpPr/>
          <p:nvPr/>
        </p:nvSpPr>
        <p:spPr>
          <a:xfrm>
            <a:off x="9372600" y="1554480"/>
            <a:ext cx="2468880" cy="640080"/>
          </a:xfrm>
          <a:prstGeom prst="rect">
            <a:avLst/>
          </a:prstGeom>
          <a:noFill/>
          <a:ln/>
        </p:spPr>
        <p:txBody>
          <a:bodyPr wrap="square" lIns="0" tIns="0" rIns="0" bIns="0" rtlCol="0" anchor="ctr"/>
          <a:lstStyle/>
          <a:p>
            <a:pPr algn="l" indent="0" marL="0">
              <a:buNone/>
            </a:pPr>
            <a:r>
              <a:rPr lang="en-US" sz="4400" b="1" dirty="0">
                <a:solidFill>
                  <a:srgbClr val="2A9D8F"/>
                </a:solidFill>
                <a:latin typeface="Georgia" pitchFamily="34" charset="0"/>
                <a:ea typeface="Georgia" pitchFamily="34" charset="-122"/>
                <a:cs typeface="Georgia" pitchFamily="34" charset="-120"/>
              </a:rPr>
              <a:t>12 / 12</a:t>
            </a:r>
            <a:endParaRPr lang="en-US" sz="4400" dirty="0"/>
          </a:p>
        </p:txBody>
      </p:sp>
      <p:sp>
        <p:nvSpPr>
          <p:cNvPr id="24" name="Text 22"/>
          <p:cNvSpPr/>
          <p:nvPr/>
        </p:nvSpPr>
        <p:spPr>
          <a:xfrm>
            <a:off x="9372600" y="2194560"/>
            <a:ext cx="246888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speaker tests pass</a:t>
            </a:r>
            <a:endParaRPr lang="en-US" sz="1200" dirty="0"/>
          </a:p>
        </p:txBody>
      </p:sp>
      <p:sp>
        <p:nvSpPr>
          <p:cNvPr id="25" name="Text 23"/>
          <p:cNvSpPr/>
          <p:nvPr/>
        </p:nvSpPr>
        <p:spPr>
          <a:xfrm>
            <a:off x="9372600" y="2468880"/>
            <a:ext cx="2468880" cy="22860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verdict logic pinned</a:t>
            </a:r>
            <a:endParaRPr lang="en-US" sz="1000" dirty="0"/>
          </a:p>
        </p:txBody>
      </p:sp>
      <p:sp>
        <p:nvSpPr>
          <p:cNvPr id="26" name="Text 24"/>
          <p:cNvSpPr/>
          <p:nvPr/>
        </p:nvSpPr>
        <p:spPr>
          <a:xfrm>
            <a:off x="457200" y="2971800"/>
            <a:ext cx="11247120" cy="365760"/>
          </a:xfrm>
          <a:prstGeom prst="rect">
            <a:avLst/>
          </a:prstGeom>
          <a:noFill/>
          <a:ln/>
        </p:spPr>
        <p:txBody>
          <a:bodyPr wrap="square" lIns="0" tIns="0" rIns="0" bIns="0" rtlCol="0" anchor="ctr"/>
          <a:lstStyle/>
          <a:p>
            <a:pPr indent="0" marL="0">
              <a:buNone/>
            </a:pPr>
            <a:r>
              <a:rPr lang="en-US" sz="1600" b="1" dirty="0">
                <a:solidFill>
                  <a:srgbClr val="0B1C3A"/>
                </a:solidFill>
                <a:latin typeface="Georgia" pitchFamily="34" charset="0"/>
                <a:ea typeface="Georgia" pitchFamily="34" charset="-122"/>
                <a:cs typeface="Georgia" pitchFamily="34" charset="-120"/>
              </a:rPr>
              <a:t>Pattern distribution per minister  ·  v2 corpus</a:t>
            </a:r>
            <a:endParaRPr lang="en-US" sz="1600" dirty="0"/>
          </a:p>
        </p:txBody>
      </p:sp>
      <p:graphicFrame>
        <p:nvGraphicFramePr>
          <p:cNvPr id="27" name="Chart 0" descr=""/>
          <p:cNvGraphicFramePr/>
          <p:nvPr/>
        </p:nvGraphicFramePr>
        <p:xfrm>
          <a:off x="457200" y="3383280"/>
          <a:ext cx="6858000" cy="283464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7589520" y="3383280"/>
            <a:ext cx="4206240" cy="2834640"/>
          </a:xfrm>
          <a:prstGeom prst="rect">
            <a:avLst/>
          </a:prstGeom>
          <a:solidFill>
            <a:srgbClr val="FFFFFF"/>
          </a:solidFill>
          <a:ln w="12700">
            <a:solidFill>
              <a:srgbClr val="C9D6EC"/>
            </a:solidFill>
            <a:prstDash val="solid"/>
          </a:ln>
        </p:spPr>
      </p:sp>
      <p:sp>
        <p:nvSpPr>
          <p:cNvPr id="29" name="Text 26"/>
          <p:cNvSpPr/>
          <p:nvPr/>
        </p:nvSpPr>
        <p:spPr>
          <a:xfrm>
            <a:off x="7726680" y="3474720"/>
            <a:ext cx="4023360" cy="228600"/>
          </a:xfrm>
          <a:prstGeom prst="rect">
            <a:avLst/>
          </a:prstGeom>
          <a:noFill/>
          <a:ln/>
        </p:spPr>
        <p:txBody>
          <a:bodyPr wrap="square" lIns="0" tIns="0" rIns="0" bIns="0" rtlCol="0" anchor="ctr"/>
          <a:lstStyle/>
          <a:p>
            <a:pPr indent="0" marL="0">
              <a:buNone/>
            </a:pPr>
            <a:r>
              <a:rPr lang="en-US" sz="1000" b="1" spc="300" kern="0" dirty="0">
                <a:solidFill>
                  <a:srgbClr val="5A6B85"/>
                </a:solidFill>
                <a:latin typeface="Calibri" pitchFamily="34" charset="0"/>
                <a:ea typeface="Calibri" pitchFamily="34" charset="-122"/>
                <a:cs typeface="Calibri" pitchFamily="34" charset="-120"/>
              </a:rPr>
              <a:t>SOURCE TAXONOMIES</a:t>
            </a:r>
            <a:endParaRPr lang="en-US" sz="1000" dirty="0"/>
          </a:p>
        </p:txBody>
      </p:sp>
      <p:pic>
        <p:nvPicPr>
          <p:cNvPr id="30" name="Image 0" descr="preencoded.png">    </p:cNvPr>
          <p:cNvPicPr>
            <a:picLocks noChangeAspect="1"/>
          </p:cNvPicPr>
          <p:nvPr/>
        </p:nvPicPr>
        <p:blipFill>
          <a:blip r:embed="rId2"/>
          <a:stretch>
            <a:fillRect/>
          </a:stretch>
        </p:blipFill>
        <p:spPr>
          <a:xfrm>
            <a:off x="7772400" y="3822192"/>
            <a:ext cx="274320" cy="274320"/>
          </a:xfrm>
          <a:prstGeom prst="rect">
            <a:avLst/>
          </a:prstGeom>
        </p:spPr>
      </p:pic>
      <p:sp>
        <p:nvSpPr>
          <p:cNvPr id="31" name="Text 27"/>
          <p:cNvSpPr/>
          <p:nvPr/>
        </p:nvSpPr>
        <p:spPr>
          <a:xfrm>
            <a:off x="8183880" y="3749040"/>
            <a:ext cx="356616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MITRE ATT&amp;CK</a:t>
            </a:r>
            <a:endParaRPr lang="en-US" sz="1200" dirty="0"/>
          </a:p>
        </p:txBody>
      </p:sp>
      <p:sp>
        <p:nvSpPr>
          <p:cNvPr id="32" name="Text 28"/>
          <p:cNvSpPr/>
          <p:nvPr/>
        </p:nvSpPr>
        <p:spPr>
          <a:xfrm>
            <a:off x="8183880" y="4005072"/>
            <a:ext cx="3566160" cy="27432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63 unique technique IDs</a:t>
            </a:r>
            <a:endParaRPr lang="en-US" sz="1100" dirty="0"/>
          </a:p>
        </p:txBody>
      </p:sp>
      <p:pic>
        <p:nvPicPr>
          <p:cNvPr id="33" name="Image 1" descr="preencoded.png">    </p:cNvPr>
          <p:cNvPicPr>
            <a:picLocks noChangeAspect="1"/>
          </p:cNvPicPr>
          <p:nvPr/>
        </p:nvPicPr>
        <p:blipFill>
          <a:blip r:embed="rId3"/>
          <a:stretch>
            <a:fillRect/>
          </a:stretch>
        </p:blipFill>
        <p:spPr>
          <a:xfrm>
            <a:off x="7772400" y="4416552"/>
            <a:ext cx="274320" cy="274320"/>
          </a:xfrm>
          <a:prstGeom prst="rect">
            <a:avLst/>
          </a:prstGeom>
        </p:spPr>
      </p:pic>
      <p:sp>
        <p:nvSpPr>
          <p:cNvPr id="34" name="Text 29"/>
          <p:cNvSpPr/>
          <p:nvPr/>
        </p:nvSpPr>
        <p:spPr>
          <a:xfrm>
            <a:off x="8183880" y="4343400"/>
            <a:ext cx="356616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OWASP Agentic 2026</a:t>
            </a:r>
            <a:endParaRPr lang="en-US" sz="1200" dirty="0"/>
          </a:p>
        </p:txBody>
      </p:sp>
      <p:sp>
        <p:nvSpPr>
          <p:cNvPr id="35" name="Text 30"/>
          <p:cNvSpPr/>
          <p:nvPr/>
        </p:nvSpPr>
        <p:spPr>
          <a:xfrm>
            <a:off x="8183880" y="4599432"/>
            <a:ext cx="3566160" cy="27432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all six A0X categories</a:t>
            </a:r>
            <a:endParaRPr lang="en-US" sz="1100" dirty="0"/>
          </a:p>
        </p:txBody>
      </p:sp>
      <p:pic>
        <p:nvPicPr>
          <p:cNvPr id="36" name="Image 2" descr="preencoded.png">    </p:cNvPr>
          <p:cNvPicPr>
            <a:picLocks noChangeAspect="1"/>
          </p:cNvPicPr>
          <p:nvPr/>
        </p:nvPicPr>
        <p:blipFill>
          <a:blip r:embed="rId4"/>
          <a:stretch>
            <a:fillRect/>
          </a:stretch>
        </p:blipFill>
        <p:spPr>
          <a:xfrm>
            <a:off x="7772400" y="5010912"/>
            <a:ext cx="274320" cy="274320"/>
          </a:xfrm>
          <a:prstGeom prst="rect">
            <a:avLst/>
          </a:prstGeom>
        </p:spPr>
      </p:pic>
      <p:sp>
        <p:nvSpPr>
          <p:cNvPr id="37" name="Text 31"/>
          <p:cNvSpPr/>
          <p:nvPr/>
        </p:nvSpPr>
        <p:spPr>
          <a:xfrm>
            <a:off x="8183880" y="4937760"/>
            <a:ext cx="356616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CWE</a:t>
            </a:r>
            <a:endParaRPr lang="en-US" sz="1200" dirty="0"/>
          </a:p>
        </p:txBody>
      </p:sp>
      <p:sp>
        <p:nvSpPr>
          <p:cNvPr id="38" name="Text 32"/>
          <p:cNvSpPr/>
          <p:nvPr/>
        </p:nvSpPr>
        <p:spPr>
          <a:xfrm>
            <a:off x="8183880" y="5193792"/>
            <a:ext cx="3566160" cy="27432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11 weakness classes</a:t>
            </a:r>
            <a:endParaRPr lang="en-US" sz="1100" dirty="0"/>
          </a:p>
        </p:txBody>
      </p:sp>
      <p:pic>
        <p:nvPicPr>
          <p:cNvPr id="39" name="Image 3" descr="preencoded.png">    </p:cNvPr>
          <p:cNvPicPr>
            <a:picLocks noChangeAspect="1"/>
          </p:cNvPicPr>
          <p:nvPr/>
        </p:nvPicPr>
        <p:blipFill>
          <a:blip r:embed="rId5"/>
          <a:stretch>
            <a:fillRect/>
          </a:stretch>
        </p:blipFill>
        <p:spPr>
          <a:xfrm>
            <a:off x="7772400" y="5605272"/>
            <a:ext cx="274320" cy="274320"/>
          </a:xfrm>
          <a:prstGeom prst="rect">
            <a:avLst/>
          </a:prstGeom>
        </p:spPr>
      </p:pic>
      <p:sp>
        <p:nvSpPr>
          <p:cNvPr id="40" name="Text 33"/>
          <p:cNvSpPr/>
          <p:nvPr/>
        </p:nvSpPr>
        <p:spPr>
          <a:xfrm>
            <a:off x="8183880" y="5532120"/>
            <a:ext cx="3566160" cy="274320"/>
          </a:xfrm>
          <a:prstGeom prst="rect">
            <a:avLst/>
          </a:prstGeom>
          <a:noFill/>
          <a:ln/>
        </p:spPr>
        <p:txBody>
          <a:bodyPr wrap="square" lIns="0" tIns="0" rIns="0" bIns="0" rtlCol="0" anchor="ctr"/>
          <a:lstStyle/>
          <a:p>
            <a:pPr indent="0" marL="0">
              <a:buNone/>
            </a:pPr>
            <a:r>
              <a:rPr lang="en-US" sz="1200" b="1" dirty="0">
                <a:solidFill>
                  <a:srgbClr val="0B1C3A"/>
                </a:solidFill>
                <a:latin typeface="Calibri" pitchFamily="34" charset="0"/>
                <a:ea typeface="Calibri" pitchFamily="34" charset="-122"/>
                <a:cs typeface="Calibri" pitchFamily="34" charset="-120"/>
              </a:rPr>
              <a:t>Citation breadth</a:t>
            </a:r>
            <a:endParaRPr lang="en-US" sz="1200" dirty="0"/>
          </a:p>
        </p:txBody>
      </p:sp>
      <p:sp>
        <p:nvSpPr>
          <p:cNvPr id="41" name="Text 34"/>
          <p:cNvSpPr/>
          <p:nvPr/>
        </p:nvSpPr>
        <p:spPr>
          <a:xfrm>
            <a:off x="8183880" y="5788152"/>
            <a:ext cx="3566160" cy="27432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no source &gt; 12 patterns</a:t>
            </a:r>
            <a:endParaRPr lang="en-US" sz="1100" dirty="0"/>
          </a:p>
        </p:txBody>
      </p:sp>
      <p:sp>
        <p:nvSpPr>
          <p:cNvPr id="42" name="Text 35"/>
          <p:cNvSpPr/>
          <p:nvPr/>
        </p:nvSpPr>
        <p:spPr>
          <a:xfrm>
            <a:off x="457200" y="6327648"/>
            <a:ext cx="7680960" cy="274320"/>
          </a:xfrm>
          <a:prstGeom prst="rect">
            <a:avLst/>
          </a:prstGeom>
          <a:noFill/>
          <a:ln/>
        </p:spPr>
        <p:txBody>
          <a:bodyPr wrap="square" lIns="0" tIns="0" rIns="0" bIns="0" rtlCol="0" anchor="ctr"/>
          <a:lstStyle/>
          <a:p>
            <a:pPr algn="l" indent="0" marL="0">
              <a:buNone/>
            </a:pPr>
            <a:r>
              <a:rPr lang="en-US" sz="1000" i="1" dirty="0">
                <a:solidFill>
                  <a:srgbClr val="5A6B85"/>
                </a:solidFill>
                <a:latin typeface="Calibri" pitchFamily="34" charset="0"/>
                <a:ea typeface="Calibri" pitchFamily="34" charset="-122"/>
                <a:cs typeface="Calibri" pitchFamily="34" charset="-120"/>
              </a:rPr>
              <a:t>Validator: word-bounded reject list catches L1 tool-name leakage. Two real protocol violations found in our own writing during the merge — fixed before commit.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12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11  ·  VALIDATION GATES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The ten-step validation sequence</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Run in order. Each step has a pass condition. Skipping or reordering produces benchmark numbers that don't mean what we'll claim they mean.</a:t>
            </a:r>
            <a:endParaRPr lang="en-US" sz="1400" dirty="0"/>
          </a:p>
        </p:txBody>
      </p:sp>
      <p:sp>
        <p:nvSpPr>
          <p:cNvPr id="7" name="Shape 5"/>
          <p:cNvSpPr/>
          <p:nvPr/>
        </p:nvSpPr>
        <p:spPr>
          <a:xfrm>
            <a:off x="457200" y="1874520"/>
            <a:ext cx="2148840" cy="2011680"/>
          </a:xfrm>
          <a:prstGeom prst="rect">
            <a:avLst/>
          </a:prstGeom>
          <a:solidFill>
            <a:srgbClr val="FFFFFF"/>
          </a:solidFill>
          <a:ln w="12700">
            <a:solidFill>
              <a:srgbClr val="C9D6EC"/>
            </a:solidFill>
            <a:prstDash val="solid"/>
          </a:ln>
        </p:spPr>
      </p:sp>
      <p:sp>
        <p:nvSpPr>
          <p:cNvPr id="8" name="Shape 6"/>
          <p:cNvSpPr/>
          <p:nvPr/>
        </p:nvSpPr>
        <p:spPr>
          <a:xfrm>
            <a:off x="457200" y="1874520"/>
            <a:ext cx="2148840" cy="54864"/>
          </a:xfrm>
          <a:prstGeom prst="rect">
            <a:avLst/>
          </a:prstGeom>
          <a:solidFill>
            <a:srgbClr val="3B7EE5"/>
          </a:solidFill>
          <a:ln w="12700">
            <a:solidFill>
              <a:srgbClr val="333333"/>
            </a:solidFill>
            <a:prstDash val="solid"/>
          </a:ln>
        </p:spPr>
      </p:sp>
      <p:sp>
        <p:nvSpPr>
          <p:cNvPr id="9" name="Text 7"/>
          <p:cNvSpPr/>
          <p:nvPr/>
        </p:nvSpPr>
        <p:spPr>
          <a:xfrm>
            <a:off x="457200" y="201168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0</a:t>
            </a:r>
            <a:endParaRPr lang="en-US" sz="3600" dirty="0"/>
          </a:p>
        </p:txBody>
      </p:sp>
      <p:sp>
        <p:nvSpPr>
          <p:cNvPr id="10" name="Text 8"/>
          <p:cNvSpPr/>
          <p:nvPr/>
        </p:nvSpPr>
        <p:spPr>
          <a:xfrm>
            <a:off x="566928" y="274320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Environment</a:t>
            </a:r>
            <a:endParaRPr lang="en-US" sz="1300" dirty="0"/>
          </a:p>
        </p:txBody>
      </p:sp>
      <p:sp>
        <p:nvSpPr>
          <p:cNvPr id="11" name="Text 9"/>
          <p:cNvSpPr/>
          <p:nvPr/>
        </p:nvSpPr>
        <p:spPr>
          <a:xfrm>
            <a:off x="594360" y="310896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venv + pip install requirements.txt</a:t>
            </a:r>
            <a:endParaRPr lang="en-US" sz="1000" dirty="0"/>
          </a:p>
        </p:txBody>
      </p:sp>
      <p:sp>
        <p:nvSpPr>
          <p:cNvPr id="12" name="Shape 10"/>
          <p:cNvSpPr/>
          <p:nvPr/>
        </p:nvSpPr>
        <p:spPr>
          <a:xfrm>
            <a:off x="2743200" y="1874520"/>
            <a:ext cx="2148840" cy="2011680"/>
          </a:xfrm>
          <a:prstGeom prst="rect">
            <a:avLst/>
          </a:prstGeom>
          <a:solidFill>
            <a:srgbClr val="FFFFFF"/>
          </a:solidFill>
          <a:ln w="12700">
            <a:solidFill>
              <a:srgbClr val="C9D6EC"/>
            </a:solidFill>
            <a:prstDash val="solid"/>
          </a:ln>
        </p:spPr>
      </p:sp>
      <p:sp>
        <p:nvSpPr>
          <p:cNvPr id="13" name="Shape 11"/>
          <p:cNvSpPr/>
          <p:nvPr/>
        </p:nvSpPr>
        <p:spPr>
          <a:xfrm>
            <a:off x="2743200" y="1874520"/>
            <a:ext cx="2148840" cy="54864"/>
          </a:xfrm>
          <a:prstGeom prst="rect">
            <a:avLst/>
          </a:prstGeom>
          <a:solidFill>
            <a:srgbClr val="3B7EE5"/>
          </a:solidFill>
          <a:ln w="12700">
            <a:solidFill>
              <a:srgbClr val="333333"/>
            </a:solidFill>
            <a:prstDash val="solid"/>
          </a:ln>
        </p:spPr>
      </p:sp>
      <p:sp>
        <p:nvSpPr>
          <p:cNvPr id="14" name="Text 12"/>
          <p:cNvSpPr/>
          <p:nvPr/>
        </p:nvSpPr>
        <p:spPr>
          <a:xfrm>
            <a:off x="2743200" y="201168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1</a:t>
            </a:r>
            <a:endParaRPr lang="en-US" sz="3600" dirty="0"/>
          </a:p>
        </p:txBody>
      </p:sp>
      <p:sp>
        <p:nvSpPr>
          <p:cNvPr id="15" name="Text 13"/>
          <p:cNvSpPr/>
          <p:nvPr/>
        </p:nvSpPr>
        <p:spPr>
          <a:xfrm>
            <a:off x="2852928" y="274320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Merge corpus</a:t>
            </a:r>
            <a:endParaRPr lang="en-US" sz="1300" dirty="0"/>
          </a:p>
        </p:txBody>
      </p:sp>
      <p:sp>
        <p:nvSpPr>
          <p:cNvPr id="16" name="Text 14"/>
          <p:cNvSpPr/>
          <p:nvPr/>
        </p:nvSpPr>
        <p:spPr>
          <a:xfrm>
            <a:off x="2880360" y="310896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v1 + v2 → kavach_corpus_v2.json (zero rejects)</a:t>
            </a:r>
            <a:endParaRPr lang="en-US" sz="1000" dirty="0"/>
          </a:p>
        </p:txBody>
      </p:sp>
      <p:sp>
        <p:nvSpPr>
          <p:cNvPr id="17" name="Shape 15"/>
          <p:cNvSpPr/>
          <p:nvPr/>
        </p:nvSpPr>
        <p:spPr>
          <a:xfrm>
            <a:off x="5029200" y="1874520"/>
            <a:ext cx="2148840" cy="2011680"/>
          </a:xfrm>
          <a:prstGeom prst="rect">
            <a:avLst/>
          </a:prstGeom>
          <a:solidFill>
            <a:srgbClr val="FFFFFF"/>
          </a:solidFill>
          <a:ln w="12700">
            <a:solidFill>
              <a:srgbClr val="C9D6EC"/>
            </a:solidFill>
            <a:prstDash val="solid"/>
          </a:ln>
        </p:spPr>
      </p:sp>
      <p:sp>
        <p:nvSpPr>
          <p:cNvPr id="18" name="Shape 16"/>
          <p:cNvSpPr/>
          <p:nvPr/>
        </p:nvSpPr>
        <p:spPr>
          <a:xfrm>
            <a:off x="5029200" y="1874520"/>
            <a:ext cx="2148840" cy="54864"/>
          </a:xfrm>
          <a:prstGeom prst="rect">
            <a:avLst/>
          </a:prstGeom>
          <a:solidFill>
            <a:srgbClr val="3B7EE5"/>
          </a:solidFill>
          <a:ln w="12700">
            <a:solidFill>
              <a:srgbClr val="333333"/>
            </a:solidFill>
            <a:prstDash val="solid"/>
          </a:ln>
        </p:spPr>
      </p:sp>
      <p:sp>
        <p:nvSpPr>
          <p:cNvPr id="19" name="Text 17"/>
          <p:cNvSpPr/>
          <p:nvPr/>
        </p:nvSpPr>
        <p:spPr>
          <a:xfrm>
            <a:off x="5029200" y="201168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2</a:t>
            </a:r>
            <a:endParaRPr lang="en-US" sz="3600" dirty="0"/>
          </a:p>
        </p:txBody>
      </p:sp>
      <p:sp>
        <p:nvSpPr>
          <p:cNvPr id="20" name="Text 18"/>
          <p:cNvSpPr/>
          <p:nvPr/>
        </p:nvSpPr>
        <p:spPr>
          <a:xfrm>
            <a:off x="5138928" y="274320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Load ChromaDB</a:t>
            </a:r>
            <a:endParaRPr lang="en-US" sz="1300" dirty="0"/>
          </a:p>
        </p:txBody>
      </p:sp>
      <p:sp>
        <p:nvSpPr>
          <p:cNvPr id="21" name="Text 19"/>
          <p:cNvSpPr/>
          <p:nvPr/>
        </p:nvSpPr>
        <p:spPr>
          <a:xfrm>
            <a:off x="5166360" y="310896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5 collections, ~600 docs, BGE mean pooling</a:t>
            </a:r>
            <a:endParaRPr lang="en-US" sz="1000" dirty="0"/>
          </a:p>
        </p:txBody>
      </p:sp>
      <p:sp>
        <p:nvSpPr>
          <p:cNvPr id="22" name="Shape 20"/>
          <p:cNvSpPr/>
          <p:nvPr/>
        </p:nvSpPr>
        <p:spPr>
          <a:xfrm>
            <a:off x="7315200" y="1874520"/>
            <a:ext cx="2148840" cy="2011680"/>
          </a:xfrm>
          <a:prstGeom prst="rect">
            <a:avLst/>
          </a:prstGeom>
          <a:solidFill>
            <a:srgbClr val="FFFFFF"/>
          </a:solidFill>
          <a:ln w="12700">
            <a:solidFill>
              <a:srgbClr val="C9D6EC"/>
            </a:solidFill>
            <a:prstDash val="solid"/>
          </a:ln>
        </p:spPr>
      </p:sp>
      <p:sp>
        <p:nvSpPr>
          <p:cNvPr id="23" name="Shape 21"/>
          <p:cNvSpPr/>
          <p:nvPr/>
        </p:nvSpPr>
        <p:spPr>
          <a:xfrm>
            <a:off x="7315200" y="1874520"/>
            <a:ext cx="2148840" cy="54864"/>
          </a:xfrm>
          <a:prstGeom prst="rect">
            <a:avLst/>
          </a:prstGeom>
          <a:solidFill>
            <a:srgbClr val="3B7EE5"/>
          </a:solidFill>
          <a:ln w="12700">
            <a:solidFill>
              <a:srgbClr val="333333"/>
            </a:solidFill>
            <a:prstDash val="solid"/>
          </a:ln>
        </p:spPr>
      </p:sp>
      <p:sp>
        <p:nvSpPr>
          <p:cNvPr id="24" name="Text 22"/>
          <p:cNvSpPr/>
          <p:nvPr/>
        </p:nvSpPr>
        <p:spPr>
          <a:xfrm>
            <a:off x="7315200" y="201168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3</a:t>
            </a:r>
            <a:endParaRPr lang="en-US" sz="3600" dirty="0"/>
          </a:p>
        </p:txBody>
      </p:sp>
      <p:sp>
        <p:nvSpPr>
          <p:cNvPr id="25" name="Text 23"/>
          <p:cNvSpPr/>
          <p:nvPr/>
        </p:nvSpPr>
        <p:spPr>
          <a:xfrm>
            <a:off x="7424928" y="274320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Calibrate COMPASS</a:t>
            </a:r>
            <a:endParaRPr lang="en-US" sz="1300" dirty="0"/>
          </a:p>
        </p:txBody>
      </p:sp>
      <p:sp>
        <p:nvSpPr>
          <p:cNvPr id="26" name="Text 24"/>
          <p:cNvSpPr/>
          <p:nvPr/>
        </p:nvSpPr>
        <p:spPr>
          <a:xfrm>
            <a:off x="7452360" y="310896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Youden's J on 100 pairs → threshold updated</a:t>
            </a:r>
            <a:endParaRPr lang="en-US" sz="1000" dirty="0"/>
          </a:p>
        </p:txBody>
      </p:sp>
      <p:sp>
        <p:nvSpPr>
          <p:cNvPr id="27" name="Shape 25"/>
          <p:cNvSpPr/>
          <p:nvPr/>
        </p:nvSpPr>
        <p:spPr>
          <a:xfrm>
            <a:off x="9601200" y="1874520"/>
            <a:ext cx="2148840" cy="2011680"/>
          </a:xfrm>
          <a:prstGeom prst="rect">
            <a:avLst/>
          </a:prstGeom>
          <a:solidFill>
            <a:srgbClr val="FFFFFF"/>
          </a:solidFill>
          <a:ln w="12700">
            <a:solidFill>
              <a:srgbClr val="C9D6EC"/>
            </a:solidFill>
            <a:prstDash val="solid"/>
          </a:ln>
        </p:spPr>
      </p:sp>
      <p:sp>
        <p:nvSpPr>
          <p:cNvPr id="28" name="Shape 26"/>
          <p:cNvSpPr/>
          <p:nvPr/>
        </p:nvSpPr>
        <p:spPr>
          <a:xfrm>
            <a:off x="9601200" y="1874520"/>
            <a:ext cx="2148840" cy="54864"/>
          </a:xfrm>
          <a:prstGeom prst="rect">
            <a:avLst/>
          </a:prstGeom>
          <a:solidFill>
            <a:srgbClr val="3B7EE5"/>
          </a:solidFill>
          <a:ln w="12700">
            <a:solidFill>
              <a:srgbClr val="333333"/>
            </a:solidFill>
            <a:prstDash val="solid"/>
          </a:ln>
        </p:spPr>
      </p:sp>
      <p:sp>
        <p:nvSpPr>
          <p:cNvPr id="29" name="Text 27"/>
          <p:cNvSpPr/>
          <p:nvPr/>
        </p:nvSpPr>
        <p:spPr>
          <a:xfrm>
            <a:off x="9601200" y="201168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4</a:t>
            </a:r>
            <a:endParaRPr lang="en-US" sz="3600" dirty="0"/>
          </a:p>
        </p:txBody>
      </p:sp>
      <p:sp>
        <p:nvSpPr>
          <p:cNvPr id="30" name="Text 28"/>
          <p:cNvSpPr/>
          <p:nvPr/>
        </p:nvSpPr>
        <p:spPr>
          <a:xfrm>
            <a:off x="9710928" y="274320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Smoke test</a:t>
            </a:r>
            <a:endParaRPr lang="en-US" sz="1300" dirty="0"/>
          </a:p>
        </p:txBody>
      </p:sp>
      <p:sp>
        <p:nvSpPr>
          <p:cNvPr id="31" name="Text 29"/>
          <p:cNvSpPr/>
          <p:nvPr/>
        </p:nvSpPr>
        <p:spPr>
          <a:xfrm>
            <a:off x="9738360" y="310896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7 end-to-end checks; latency p95 &lt; 300ms</a:t>
            </a:r>
            <a:endParaRPr lang="en-US" sz="1000" dirty="0"/>
          </a:p>
        </p:txBody>
      </p:sp>
      <p:sp>
        <p:nvSpPr>
          <p:cNvPr id="32" name="Shape 30"/>
          <p:cNvSpPr/>
          <p:nvPr/>
        </p:nvSpPr>
        <p:spPr>
          <a:xfrm>
            <a:off x="457200" y="4069080"/>
            <a:ext cx="2148840" cy="2011680"/>
          </a:xfrm>
          <a:prstGeom prst="rect">
            <a:avLst/>
          </a:prstGeom>
          <a:solidFill>
            <a:srgbClr val="FFFFFF"/>
          </a:solidFill>
          <a:ln w="12700">
            <a:solidFill>
              <a:srgbClr val="C9D6EC"/>
            </a:solidFill>
            <a:prstDash val="solid"/>
          </a:ln>
        </p:spPr>
      </p:sp>
      <p:sp>
        <p:nvSpPr>
          <p:cNvPr id="33" name="Shape 31"/>
          <p:cNvSpPr/>
          <p:nvPr/>
        </p:nvSpPr>
        <p:spPr>
          <a:xfrm>
            <a:off x="457200" y="4069080"/>
            <a:ext cx="2148840" cy="54864"/>
          </a:xfrm>
          <a:prstGeom prst="rect">
            <a:avLst/>
          </a:prstGeom>
          <a:solidFill>
            <a:srgbClr val="E63946"/>
          </a:solidFill>
          <a:ln w="12700">
            <a:solidFill>
              <a:srgbClr val="333333"/>
            </a:solidFill>
            <a:prstDash val="solid"/>
          </a:ln>
        </p:spPr>
      </p:sp>
      <p:sp>
        <p:nvSpPr>
          <p:cNvPr id="34" name="Text 32"/>
          <p:cNvSpPr/>
          <p:nvPr/>
        </p:nvSpPr>
        <p:spPr>
          <a:xfrm>
            <a:off x="457200" y="4206240"/>
            <a:ext cx="2148840" cy="640080"/>
          </a:xfrm>
          <a:prstGeom prst="rect">
            <a:avLst/>
          </a:prstGeom>
          <a:noFill/>
          <a:ln/>
        </p:spPr>
        <p:txBody>
          <a:bodyPr wrap="square" lIns="0" tIns="0" rIns="0" bIns="0" rtlCol="0" anchor="ctr"/>
          <a:lstStyle/>
          <a:p>
            <a:pPr algn="ctr" indent="0" marL="0">
              <a:buNone/>
            </a:pPr>
            <a:r>
              <a:rPr lang="en-US" sz="3600" b="1" dirty="0">
                <a:solidFill>
                  <a:srgbClr val="E63946"/>
                </a:solidFill>
                <a:latin typeface="Georgia" pitchFamily="34" charset="0"/>
                <a:ea typeface="Georgia" pitchFamily="34" charset="-122"/>
                <a:cs typeface="Georgia" pitchFamily="34" charset="-120"/>
              </a:rPr>
              <a:t>5</a:t>
            </a:r>
            <a:endParaRPr lang="en-US" sz="3600" dirty="0"/>
          </a:p>
        </p:txBody>
      </p:sp>
      <p:sp>
        <p:nvSpPr>
          <p:cNvPr id="35" name="Text 33"/>
          <p:cNvSpPr/>
          <p:nvPr/>
        </p:nvSpPr>
        <p:spPr>
          <a:xfrm>
            <a:off x="566928" y="493776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Benign FPR gate</a:t>
            </a:r>
            <a:endParaRPr lang="en-US" sz="1300" dirty="0"/>
          </a:p>
        </p:txBody>
      </p:sp>
      <p:sp>
        <p:nvSpPr>
          <p:cNvPr id="36" name="Text 34"/>
          <p:cNvSpPr/>
          <p:nvPr/>
        </p:nvSpPr>
        <p:spPr>
          <a:xfrm>
            <a:off x="594360" y="530352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 5% on 50 hand-curated benign sessions</a:t>
            </a:r>
            <a:endParaRPr lang="en-US" sz="1000" dirty="0"/>
          </a:p>
        </p:txBody>
      </p:sp>
      <p:sp>
        <p:nvSpPr>
          <p:cNvPr id="37" name="Shape 35"/>
          <p:cNvSpPr/>
          <p:nvPr/>
        </p:nvSpPr>
        <p:spPr>
          <a:xfrm>
            <a:off x="1737360" y="4160520"/>
            <a:ext cx="777240" cy="228600"/>
          </a:xfrm>
          <a:prstGeom prst="roundRect">
            <a:avLst>
              <a:gd name="adj" fmla="val 16000"/>
            </a:avLst>
          </a:prstGeom>
          <a:solidFill>
            <a:srgbClr val="E63946"/>
          </a:solidFill>
          <a:ln w="12700">
            <a:solidFill>
              <a:srgbClr val="333333"/>
            </a:solidFill>
            <a:prstDash val="solid"/>
          </a:ln>
        </p:spPr>
      </p:sp>
      <p:sp>
        <p:nvSpPr>
          <p:cNvPr id="38" name="Text 36"/>
          <p:cNvSpPr/>
          <p:nvPr/>
        </p:nvSpPr>
        <p:spPr>
          <a:xfrm>
            <a:off x="1737360" y="4160520"/>
            <a:ext cx="777240" cy="228600"/>
          </a:xfrm>
          <a:prstGeom prst="rect">
            <a:avLst/>
          </a:prstGeom>
          <a:noFill/>
          <a:ln/>
        </p:spPr>
        <p:txBody>
          <a:bodyPr wrap="square" lIns="0" tIns="0" rIns="0" bIns="0" rtlCol="0" anchor="ctr"/>
          <a:lstStyle/>
          <a:p>
            <a:pPr algn="ctr" indent="0" marL="0">
              <a:buNone/>
            </a:pPr>
            <a:r>
              <a:rPr lang="en-US" sz="800" b="1" spc="200" kern="0" dirty="0">
                <a:solidFill>
                  <a:srgbClr val="ECF1F9"/>
                </a:solidFill>
                <a:latin typeface="Calibri" pitchFamily="34" charset="0"/>
                <a:ea typeface="Calibri" pitchFamily="34" charset="-122"/>
                <a:cs typeface="Calibri" pitchFamily="34" charset="-120"/>
              </a:rPr>
              <a:t>HARD GATE</a:t>
            </a:r>
            <a:endParaRPr lang="en-US" sz="800" dirty="0"/>
          </a:p>
        </p:txBody>
      </p:sp>
      <p:sp>
        <p:nvSpPr>
          <p:cNvPr id="39" name="Shape 37"/>
          <p:cNvSpPr/>
          <p:nvPr/>
        </p:nvSpPr>
        <p:spPr>
          <a:xfrm>
            <a:off x="2743200" y="4069080"/>
            <a:ext cx="2148840" cy="2011680"/>
          </a:xfrm>
          <a:prstGeom prst="rect">
            <a:avLst/>
          </a:prstGeom>
          <a:solidFill>
            <a:srgbClr val="FFFFFF"/>
          </a:solidFill>
          <a:ln w="12700">
            <a:solidFill>
              <a:srgbClr val="C9D6EC"/>
            </a:solidFill>
            <a:prstDash val="solid"/>
          </a:ln>
        </p:spPr>
      </p:sp>
      <p:sp>
        <p:nvSpPr>
          <p:cNvPr id="40" name="Shape 38"/>
          <p:cNvSpPr/>
          <p:nvPr/>
        </p:nvSpPr>
        <p:spPr>
          <a:xfrm>
            <a:off x="2743200" y="4069080"/>
            <a:ext cx="2148840" cy="54864"/>
          </a:xfrm>
          <a:prstGeom prst="rect">
            <a:avLst/>
          </a:prstGeom>
          <a:solidFill>
            <a:srgbClr val="3B7EE5"/>
          </a:solidFill>
          <a:ln w="12700">
            <a:solidFill>
              <a:srgbClr val="333333"/>
            </a:solidFill>
            <a:prstDash val="solid"/>
          </a:ln>
        </p:spPr>
      </p:sp>
      <p:sp>
        <p:nvSpPr>
          <p:cNvPr id="41" name="Text 39"/>
          <p:cNvSpPr/>
          <p:nvPr/>
        </p:nvSpPr>
        <p:spPr>
          <a:xfrm>
            <a:off x="2743200" y="420624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6</a:t>
            </a:r>
            <a:endParaRPr lang="en-US" sz="3600" dirty="0"/>
          </a:p>
        </p:txBody>
      </p:sp>
      <p:sp>
        <p:nvSpPr>
          <p:cNvPr id="42" name="Text 40"/>
          <p:cNvSpPr/>
          <p:nvPr/>
        </p:nvSpPr>
        <p:spPr>
          <a:xfrm>
            <a:off x="2852928" y="493776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InjecAgent run</a:t>
            </a:r>
            <a:endParaRPr lang="en-US" sz="1300" dirty="0"/>
          </a:p>
        </p:txBody>
      </p:sp>
      <p:sp>
        <p:nvSpPr>
          <p:cNvPr id="43" name="Text 41"/>
          <p:cNvSpPr/>
          <p:nvPr/>
        </p:nvSpPr>
        <p:spPr>
          <a:xfrm>
            <a:off x="2880360" y="530352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1054 cases cold; record verdict + latency</a:t>
            </a:r>
            <a:endParaRPr lang="en-US" sz="1000" dirty="0"/>
          </a:p>
        </p:txBody>
      </p:sp>
      <p:sp>
        <p:nvSpPr>
          <p:cNvPr id="44" name="Shape 42"/>
          <p:cNvSpPr/>
          <p:nvPr/>
        </p:nvSpPr>
        <p:spPr>
          <a:xfrm>
            <a:off x="5029200" y="4069080"/>
            <a:ext cx="2148840" cy="2011680"/>
          </a:xfrm>
          <a:prstGeom prst="rect">
            <a:avLst/>
          </a:prstGeom>
          <a:solidFill>
            <a:srgbClr val="FFFFFF"/>
          </a:solidFill>
          <a:ln w="12700">
            <a:solidFill>
              <a:srgbClr val="C9D6EC"/>
            </a:solidFill>
            <a:prstDash val="solid"/>
          </a:ln>
        </p:spPr>
      </p:sp>
      <p:sp>
        <p:nvSpPr>
          <p:cNvPr id="45" name="Shape 43"/>
          <p:cNvSpPr/>
          <p:nvPr/>
        </p:nvSpPr>
        <p:spPr>
          <a:xfrm>
            <a:off x="5029200" y="4069080"/>
            <a:ext cx="2148840" cy="54864"/>
          </a:xfrm>
          <a:prstGeom prst="rect">
            <a:avLst/>
          </a:prstGeom>
          <a:solidFill>
            <a:srgbClr val="3B7EE5"/>
          </a:solidFill>
          <a:ln w="12700">
            <a:solidFill>
              <a:srgbClr val="333333"/>
            </a:solidFill>
            <a:prstDash val="solid"/>
          </a:ln>
        </p:spPr>
      </p:sp>
      <p:sp>
        <p:nvSpPr>
          <p:cNvPr id="46" name="Text 44"/>
          <p:cNvSpPr/>
          <p:nvPr/>
        </p:nvSpPr>
        <p:spPr>
          <a:xfrm>
            <a:off x="5029200" y="420624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7</a:t>
            </a:r>
            <a:endParaRPr lang="en-US" sz="3600" dirty="0"/>
          </a:p>
        </p:txBody>
      </p:sp>
      <p:sp>
        <p:nvSpPr>
          <p:cNvPr id="47" name="Text 45"/>
          <p:cNvSpPr/>
          <p:nvPr/>
        </p:nvSpPr>
        <p:spPr>
          <a:xfrm>
            <a:off x="5138928" y="493776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Threshold sweep</a:t>
            </a:r>
            <a:endParaRPr lang="en-US" sz="1300" dirty="0"/>
          </a:p>
        </p:txBody>
      </p:sp>
      <p:sp>
        <p:nvSpPr>
          <p:cNvPr id="48" name="Text 46"/>
          <p:cNvSpPr/>
          <p:nvPr/>
        </p:nvSpPr>
        <p:spPr>
          <a:xfrm>
            <a:off x="5166360" y="530352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ROC + Youden's J per minister</a:t>
            </a:r>
            <a:endParaRPr lang="en-US" sz="1000" dirty="0"/>
          </a:p>
        </p:txBody>
      </p:sp>
      <p:sp>
        <p:nvSpPr>
          <p:cNvPr id="49" name="Shape 47"/>
          <p:cNvSpPr/>
          <p:nvPr/>
        </p:nvSpPr>
        <p:spPr>
          <a:xfrm>
            <a:off x="7315200" y="4069080"/>
            <a:ext cx="2148840" cy="2011680"/>
          </a:xfrm>
          <a:prstGeom prst="rect">
            <a:avLst/>
          </a:prstGeom>
          <a:solidFill>
            <a:srgbClr val="FFFFFF"/>
          </a:solidFill>
          <a:ln w="12700">
            <a:solidFill>
              <a:srgbClr val="C9D6EC"/>
            </a:solidFill>
            <a:prstDash val="solid"/>
          </a:ln>
        </p:spPr>
      </p:sp>
      <p:sp>
        <p:nvSpPr>
          <p:cNvPr id="50" name="Shape 48"/>
          <p:cNvSpPr/>
          <p:nvPr/>
        </p:nvSpPr>
        <p:spPr>
          <a:xfrm>
            <a:off x="7315200" y="4069080"/>
            <a:ext cx="2148840" cy="54864"/>
          </a:xfrm>
          <a:prstGeom prst="rect">
            <a:avLst/>
          </a:prstGeom>
          <a:solidFill>
            <a:srgbClr val="3B7EE5"/>
          </a:solidFill>
          <a:ln w="12700">
            <a:solidFill>
              <a:srgbClr val="333333"/>
            </a:solidFill>
            <a:prstDash val="solid"/>
          </a:ln>
        </p:spPr>
      </p:sp>
      <p:sp>
        <p:nvSpPr>
          <p:cNvPr id="51" name="Text 49"/>
          <p:cNvSpPr/>
          <p:nvPr/>
        </p:nvSpPr>
        <p:spPr>
          <a:xfrm>
            <a:off x="7315200" y="420624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8</a:t>
            </a:r>
            <a:endParaRPr lang="en-US" sz="3600" dirty="0"/>
          </a:p>
        </p:txBody>
      </p:sp>
      <p:sp>
        <p:nvSpPr>
          <p:cNvPr id="52" name="Text 50"/>
          <p:cNvSpPr/>
          <p:nvPr/>
        </p:nvSpPr>
        <p:spPr>
          <a:xfrm>
            <a:off x="7424928" y="493776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OpenClaw demo</a:t>
            </a:r>
            <a:endParaRPr lang="en-US" sz="1300" dirty="0"/>
          </a:p>
        </p:txBody>
      </p:sp>
      <p:sp>
        <p:nvSpPr>
          <p:cNvPr id="53" name="Text 51"/>
          <p:cNvSpPr/>
          <p:nvPr/>
        </p:nvSpPr>
        <p:spPr>
          <a:xfrm>
            <a:off x="7452360" y="530352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ClawHavoc-style attack blocked at tool boundary</a:t>
            </a:r>
            <a:endParaRPr lang="en-US" sz="1000" dirty="0"/>
          </a:p>
        </p:txBody>
      </p:sp>
      <p:sp>
        <p:nvSpPr>
          <p:cNvPr id="54" name="Shape 52"/>
          <p:cNvSpPr/>
          <p:nvPr/>
        </p:nvSpPr>
        <p:spPr>
          <a:xfrm>
            <a:off x="9601200" y="4069080"/>
            <a:ext cx="2148840" cy="2011680"/>
          </a:xfrm>
          <a:prstGeom prst="rect">
            <a:avLst/>
          </a:prstGeom>
          <a:solidFill>
            <a:srgbClr val="FFFFFF"/>
          </a:solidFill>
          <a:ln w="12700">
            <a:solidFill>
              <a:srgbClr val="C9D6EC"/>
            </a:solidFill>
            <a:prstDash val="solid"/>
          </a:ln>
        </p:spPr>
      </p:sp>
      <p:sp>
        <p:nvSpPr>
          <p:cNvPr id="55" name="Shape 53"/>
          <p:cNvSpPr/>
          <p:nvPr/>
        </p:nvSpPr>
        <p:spPr>
          <a:xfrm>
            <a:off x="9601200" y="4069080"/>
            <a:ext cx="2148840" cy="54864"/>
          </a:xfrm>
          <a:prstGeom prst="rect">
            <a:avLst/>
          </a:prstGeom>
          <a:solidFill>
            <a:srgbClr val="3B7EE5"/>
          </a:solidFill>
          <a:ln w="12700">
            <a:solidFill>
              <a:srgbClr val="333333"/>
            </a:solidFill>
            <a:prstDash val="solid"/>
          </a:ln>
        </p:spPr>
      </p:sp>
      <p:sp>
        <p:nvSpPr>
          <p:cNvPr id="56" name="Text 54"/>
          <p:cNvSpPr/>
          <p:nvPr/>
        </p:nvSpPr>
        <p:spPr>
          <a:xfrm>
            <a:off x="9601200" y="4206240"/>
            <a:ext cx="2148840" cy="640080"/>
          </a:xfrm>
          <a:prstGeom prst="rect">
            <a:avLst/>
          </a:prstGeom>
          <a:noFill/>
          <a:ln/>
        </p:spPr>
        <p:txBody>
          <a:bodyPr wrap="square" lIns="0" tIns="0" rIns="0" bIns="0" rtlCol="0" anchor="ctr"/>
          <a:lstStyle/>
          <a:p>
            <a:pPr algn="ctr" indent="0" marL="0">
              <a:buNone/>
            </a:pPr>
            <a:r>
              <a:rPr lang="en-US" sz="3600" b="1" dirty="0">
                <a:solidFill>
                  <a:srgbClr val="3B7EE5"/>
                </a:solidFill>
                <a:latin typeface="Georgia" pitchFamily="34" charset="0"/>
                <a:ea typeface="Georgia" pitchFamily="34" charset="-122"/>
                <a:cs typeface="Georgia" pitchFamily="34" charset="-120"/>
              </a:rPr>
              <a:t>9</a:t>
            </a:r>
            <a:endParaRPr lang="en-US" sz="3600" dirty="0"/>
          </a:p>
        </p:txBody>
      </p:sp>
      <p:sp>
        <p:nvSpPr>
          <p:cNvPr id="57" name="Text 55"/>
          <p:cNvSpPr/>
          <p:nvPr/>
        </p:nvSpPr>
        <p:spPr>
          <a:xfrm>
            <a:off x="9710928" y="4937760"/>
            <a:ext cx="1929384" cy="365760"/>
          </a:xfrm>
          <a:prstGeom prst="rect">
            <a:avLst/>
          </a:prstGeom>
          <a:noFill/>
          <a:ln/>
        </p:spPr>
        <p:txBody>
          <a:bodyPr wrap="square" lIns="0" tIns="0" rIns="0" bIns="0" rtlCol="0" anchor="ctr"/>
          <a:lstStyle/>
          <a:p>
            <a:pPr algn="ctr" indent="0" marL="0">
              <a:buNone/>
            </a:pPr>
            <a:r>
              <a:rPr lang="en-US" sz="1300" b="1" dirty="0">
                <a:solidFill>
                  <a:srgbClr val="0B1C3A"/>
                </a:solidFill>
                <a:latin typeface="Georgia" pitchFamily="34" charset="0"/>
                <a:ea typeface="Georgia" pitchFamily="34" charset="-122"/>
                <a:cs typeface="Georgia" pitchFamily="34" charset="-120"/>
              </a:rPr>
              <a:t>Latency budget</a:t>
            </a:r>
            <a:endParaRPr lang="en-US" sz="1300" dirty="0"/>
          </a:p>
        </p:txBody>
      </p:sp>
      <p:sp>
        <p:nvSpPr>
          <p:cNvPr id="58" name="Text 56"/>
          <p:cNvSpPr/>
          <p:nvPr/>
        </p:nvSpPr>
        <p:spPr>
          <a:xfrm>
            <a:off x="9738360" y="5303520"/>
            <a:ext cx="1874520" cy="640080"/>
          </a:xfrm>
          <a:prstGeom prst="rect">
            <a:avLst/>
          </a:prstGeom>
          <a:noFill/>
          <a:ln/>
        </p:spPr>
        <p:txBody>
          <a:bodyPr wrap="square" lIns="0" tIns="0" rIns="0" bIns="0" rtlCol="0" anchor="ctr"/>
          <a:lstStyle/>
          <a:p>
            <a:pPr algn="ctr" indent="0" marL="0">
              <a:buNone/>
            </a:pPr>
            <a:r>
              <a:rPr lang="en-US" sz="1000" dirty="0">
                <a:solidFill>
                  <a:srgbClr val="0B1C3A"/>
                </a:solidFill>
                <a:latin typeface="Calibri" pitchFamily="34" charset="0"/>
                <a:ea typeface="Calibri" pitchFamily="34" charset="-122"/>
                <a:cs typeface="Calibri" pitchFamily="34" charset="-120"/>
              </a:rPr>
              <a:t>p50/p95/p99 by stage for the paper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13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12  ·  THE BENIGN FPR GATE</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2800" b="1" dirty="0">
                <a:solidFill>
                  <a:srgbClr val="0B1C3A"/>
                </a:solidFill>
                <a:latin typeface="Georgia" pitchFamily="34" charset="0"/>
                <a:ea typeface="Georgia" pitchFamily="34" charset="-122"/>
                <a:cs typeface="Georgia" pitchFamily="34" charset="-120"/>
              </a:rPr>
              <a:t>Why we run 50 benign sessions before InjecAgent</a:t>
            </a:r>
            <a:endParaRPr lang="en-US" sz="2800" dirty="0"/>
          </a:p>
        </p:txBody>
      </p:sp>
      <p:sp>
        <p:nvSpPr>
          <p:cNvPr id="6" name="Shape 4"/>
          <p:cNvSpPr/>
          <p:nvPr/>
        </p:nvSpPr>
        <p:spPr>
          <a:xfrm>
            <a:off x="457200" y="1234440"/>
            <a:ext cx="11247120" cy="914400"/>
          </a:xfrm>
          <a:prstGeom prst="rect">
            <a:avLst/>
          </a:prstGeom>
          <a:solidFill>
            <a:srgbClr val="FFFFFF"/>
          </a:solidFill>
          <a:ln w="19050">
            <a:solidFill>
              <a:srgbClr val="E63946"/>
            </a:solidFill>
            <a:prstDash val="solid"/>
          </a:ln>
        </p:spPr>
      </p:sp>
      <p:pic>
        <p:nvPicPr>
          <p:cNvPr id="7" name="Image 0" descr="preencoded.png">    </p:cNvPr>
          <p:cNvPicPr>
            <a:picLocks noChangeAspect="1"/>
          </p:cNvPicPr>
          <p:nvPr/>
        </p:nvPicPr>
        <p:blipFill>
          <a:blip r:embed="rId1"/>
          <a:stretch>
            <a:fillRect/>
          </a:stretch>
        </p:blipFill>
        <p:spPr>
          <a:xfrm>
            <a:off x="640080" y="1417320"/>
            <a:ext cx="548640" cy="548640"/>
          </a:xfrm>
          <a:prstGeom prst="rect">
            <a:avLst/>
          </a:prstGeom>
        </p:spPr>
      </p:pic>
      <p:sp>
        <p:nvSpPr>
          <p:cNvPr id="8" name="Text 5"/>
          <p:cNvSpPr/>
          <p:nvPr/>
        </p:nvSpPr>
        <p:spPr>
          <a:xfrm>
            <a:off x="1371600" y="1325880"/>
            <a:ext cx="10058400" cy="274320"/>
          </a:xfrm>
          <a:prstGeom prst="rect">
            <a:avLst/>
          </a:prstGeom>
          <a:noFill/>
          <a:ln/>
        </p:spPr>
        <p:txBody>
          <a:bodyPr wrap="square" lIns="0" tIns="0" rIns="0" bIns="0" rtlCol="0" anchor="ctr"/>
          <a:lstStyle/>
          <a:p>
            <a:pPr indent="0" marL="0">
              <a:buNone/>
            </a:pPr>
            <a:r>
              <a:rPr lang="en-US" sz="1100" b="1" spc="400" kern="0" dirty="0">
                <a:solidFill>
                  <a:srgbClr val="E63946"/>
                </a:solidFill>
                <a:latin typeface="Calibri" pitchFamily="34" charset="0"/>
                <a:ea typeface="Calibri" pitchFamily="34" charset="-122"/>
                <a:cs typeface="Calibri" pitchFamily="34" charset="-120"/>
              </a:rPr>
              <a:t>THE FAILURE MODE WE'RE AVOIDING</a:t>
            </a:r>
            <a:endParaRPr lang="en-US" sz="1100" dirty="0"/>
          </a:p>
        </p:txBody>
      </p:sp>
      <p:sp>
        <p:nvSpPr>
          <p:cNvPr id="9" name="Text 6"/>
          <p:cNvSpPr/>
          <p:nvPr/>
        </p:nvSpPr>
        <p:spPr>
          <a:xfrm>
            <a:off x="1371600" y="1600200"/>
            <a:ext cx="9784080" cy="548640"/>
          </a:xfrm>
          <a:prstGeom prst="rect">
            <a:avLst/>
          </a:prstGeom>
          <a:noFill/>
          <a:ln/>
        </p:spPr>
        <p:txBody>
          <a:bodyPr wrap="square" lIns="0" tIns="0" rIns="0" bIns="0" rtlCol="0" anchor="ctr"/>
          <a:lstStyle/>
          <a:p>
            <a:pPr indent="0" marL="0">
              <a:buNone/>
            </a:pPr>
            <a:r>
              <a:rPr lang="en-US" sz="1200" dirty="0">
                <a:solidFill>
                  <a:srgbClr val="0B1C3A"/>
                </a:solidFill>
                <a:latin typeface="Calibri" pitchFamily="34" charset="0"/>
                <a:ea typeface="Calibri" pitchFamily="34" charset="-122"/>
                <a:cs typeface="Calibri" pitchFamily="34" charset="-120"/>
              </a:rPr>
              <a:t>If you run InjecAgent on a corpus that hasn't passed FPR validation, you get a recall number that conflates detector quality with detector aggressiveness. A 95% recall at 30% FPR is sophisticated keyword matching, not semantic understanding. The InjecAgent number ceases to mean anything publishable.</a:t>
            </a:r>
            <a:endParaRPr lang="en-US" sz="1200" dirty="0"/>
          </a:p>
        </p:txBody>
      </p:sp>
      <p:sp>
        <p:nvSpPr>
          <p:cNvPr id="10" name="Shape 7"/>
          <p:cNvSpPr/>
          <p:nvPr/>
        </p:nvSpPr>
        <p:spPr>
          <a:xfrm>
            <a:off x="457200" y="2331720"/>
            <a:ext cx="3657600" cy="3931920"/>
          </a:xfrm>
          <a:prstGeom prst="rect">
            <a:avLst/>
          </a:prstGeom>
          <a:solidFill>
            <a:srgbClr val="FFFFFF"/>
          </a:solidFill>
          <a:ln w="12700">
            <a:solidFill>
              <a:srgbClr val="C9D6EC"/>
            </a:solidFill>
            <a:prstDash val="solid"/>
          </a:ln>
        </p:spPr>
      </p:sp>
      <p:sp>
        <p:nvSpPr>
          <p:cNvPr id="11" name="Shape 8"/>
          <p:cNvSpPr/>
          <p:nvPr/>
        </p:nvSpPr>
        <p:spPr>
          <a:xfrm>
            <a:off x="457200" y="2331720"/>
            <a:ext cx="3657600" cy="73152"/>
          </a:xfrm>
          <a:prstGeom prst="rect">
            <a:avLst/>
          </a:prstGeom>
          <a:solidFill>
            <a:srgbClr val="1E4FA8"/>
          </a:solidFill>
          <a:ln w="12700">
            <a:solidFill>
              <a:srgbClr val="333333"/>
            </a:solidFill>
            <a:prstDash val="solid"/>
          </a:ln>
        </p:spPr>
      </p:sp>
      <p:pic>
        <p:nvPicPr>
          <p:cNvPr id="12" name="Image 1" descr="preencoded.png">    </p:cNvPr>
          <p:cNvPicPr>
            <a:picLocks noChangeAspect="1"/>
          </p:cNvPicPr>
          <p:nvPr/>
        </p:nvPicPr>
        <p:blipFill>
          <a:blip r:embed="rId2"/>
          <a:stretch>
            <a:fillRect/>
          </a:stretch>
        </p:blipFill>
        <p:spPr>
          <a:xfrm>
            <a:off x="685800" y="2542032"/>
            <a:ext cx="320040" cy="320040"/>
          </a:xfrm>
          <a:prstGeom prst="rect">
            <a:avLst/>
          </a:prstGeom>
        </p:spPr>
      </p:pic>
      <p:sp>
        <p:nvSpPr>
          <p:cNvPr id="13" name="Text 9"/>
          <p:cNvSpPr/>
          <p:nvPr/>
        </p:nvSpPr>
        <p:spPr>
          <a:xfrm>
            <a:off x="1097280" y="2514600"/>
            <a:ext cx="2926080" cy="411480"/>
          </a:xfrm>
          <a:prstGeom prst="rect">
            <a:avLst/>
          </a:prstGeom>
          <a:noFill/>
          <a:ln/>
        </p:spPr>
        <p:txBody>
          <a:bodyPr wrap="square" lIns="0" tIns="0" rIns="0" bIns="0" rtlCol="0" anchor="ctr"/>
          <a:lstStyle/>
          <a:p>
            <a:pPr indent="0" marL="0">
              <a:buNone/>
            </a:pPr>
            <a:r>
              <a:rPr lang="en-US" sz="1100" b="1" spc="400" kern="0" dirty="0">
                <a:solidFill>
                  <a:srgbClr val="1E4FA8"/>
                </a:solidFill>
                <a:latin typeface="Calibri" pitchFamily="34" charset="0"/>
                <a:ea typeface="Calibri" pitchFamily="34" charset="-122"/>
                <a:cs typeface="Calibri" pitchFamily="34" charset="-120"/>
              </a:rPr>
              <a:t>WHAT'S IN THE 50 SESSIONS</a:t>
            </a:r>
            <a:endParaRPr lang="en-US" sz="1100" dirty="0"/>
          </a:p>
        </p:txBody>
      </p:sp>
      <p:sp>
        <p:nvSpPr>
          <p:cNvPr id="14" name="Text 10"/>
          <p:cNvSpPr/>
          <p:nvPr/>
        </p:nvSpPr>
        <p:spPr>
          <a:xfrm>
            <a:off x="685800" y="301752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code editing — docstrings, type hints, refactors</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build &amp; test — pytest, npm build, mypy</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git operations — status, diff, commit, branch</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package management — pip install, npm install</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infrastructure — docker build, alembic upgrade</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operations — kubectl context, aws s3 ls, curl health</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debugging — read logs, run profiler, tail -f</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documentation — sphinx-build, README updates</a:t>
            </a:r>
            <a:endParaRPr lang="en-US" sz="1000" dirty="0"/>
          </a:p>
        </p:txBody>
      </p:sp>
      <p:sp>
        <p:nvSpPr>
          <p:cNvPr id="15" name="Shape 11"/>
          <p:cNvSpPr/>
          <p:nvPr/>
        </p:nvSpPr>
        <p:spPr>
          <a:xfrm>
            <a:off x="4297680" y="2331720"/>
            <a:ext cx="3657600" cy="3931920"/>
          </a:xfrm>
          <a:prstGeom prst="rect">
            <a:avLst/>
          </a:prstGeom>
          <a:solidFill>
            <a:srgbClr val="FFFFFF"/>
          </a:solidFill>
          <a:ln w="12700">
            <a:solidFill>
              <a:srgbClr val="C9D6EC"/>
            </a:solidFill>
            <a:prstDash val="solid"/>
          </a:ln>
        </p:spPr>
      </p:sp>
      <p:sp>
        <p:nvSpPr>
          <p:cNvPr id="16" name="Shape 12"/>
          <p:cNvSpPr/>
          <p:nvPr/>
        </p:nvSpPr>
        <p:spPr>
          <a:xfrm>
            <a:off x="4297680" y="2331720"/>
            <a:ext cx="3657600" cy="73152"/>
          </a:xfrm>
          <a:prstGeom prst="rect">
            <a:avLst/>
          </a:prstGeom>
          <a:solidFill>
            <a:srgbClr val="E9C46A"/>
          </a:solidFill>
          <a:ln w="12700">
            <a:solidFill>
              <a:srgbClr val="333333"/>
            </a:solidFill>
            <a:prstDash val="solid"/>
          </a:ln>
        </p:spPr>
      </p:sp>
      <p:pic>
        <p:nvPicPr>
          <p:cNvPr id="17" name="Image 2" descr="preencoded.png">    </p:cNvPr>
          <p:cNvPicPr>
            <a:picLocks noChangeAspect="1"/>
          </p:cNvPicPr>
          <p:nvPr/>
        </p:nvPicPr>
        <p:blipFill>
          <a:blip r:embed="rId3"/>
          <a:stretch>
            <a:fillRect/>
          </a:stretch>
        </p:blipFill>
        <p:spPr>
          <a:xfrm>
            <a:off x="4526280" y="2542032"/>
            <a:ext cx="320040" cy="320040"/>
          </a:xfrm>
          <a:prstGeom prst="rect">
            <a:avLst/>
          </a:prstGeom>
        </p:spPr>
      </p:pic>
      <p:sp>
        <p:nvSpPr>
          <p:cNvPr id="18" name="Text 13"/>
          <p:cNvSpPr/>
          <p:nvPr/>
        </p:nvSpPr>
        <p:spPr>
          <a:xfrm>
            <a:off x="4937760" y="2514600"/>
            <a:ext cx="2926080" cy="411480"/>
          </a:xfrm>
          <a:prstGeom prst="rect">
            <a:avLst/>
          </a:prstGeom>
          <a:noFill/>
          <a:ln/>
        </p:spPr>
        <p:txBody>
          <a:bodyPr wrap="square" lIns="0" tIns="0" rIns="0" bIns="0" rtlCol="0" anchor="ctr"/>
          <a:lstStyle/>
          <a:p>
            <a:pPr indent="0" marL="0">
              <a:buNone/>
            </a:pPr>
            <a:r>
              <a:rPr lang="en-US" sz="1100" b="1" spc="400" kern="0" dirty="0">
                <a:solidFill>
                  <a:srgbClr val="E9C46A"/>
                </a:solidFill>
                <a:latin typeface="Calibri" pitchFamily="34" charset="0"/>
                <a:ea typeface="Calibri" pitchFamily="34" charset="-122"/>
                <a:cs typeface="Calibri" pitchFamily="34" charset="-120"/>
              </a:rPr>
              <a:t>THE GATE LOGIC</a:t>
            </a:r>
            <a:endParaRPr lang="en-US" sz="1100" dirty="0"/>
          </a:p>
        </p:txBody>
      </p:sp>
      <p:sp>
        <p:nvSpPr>
          <p:cNvPr id="19" name="Text 14"/>
          <p:cNvSpPr/>
          <p:nvPr/>
        </p:nvSpPr>
        <p:spPr>
          <a:xfrm>
            <a:off x="4526280" y="301752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seed_intent for each session</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replay each tool call through /hook/parliament</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record verdict + matched pattern + minister</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compute fpr_block_only and fpr_block_or_escalate</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if fpr &gt; 5% → STOP and read blocked_actions.txt</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blocked_actions.txt names every wrongly-blocked call and the matched pattern</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fix the over-aggressive patterns per the protocol</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re-run until gate passes</a:t>
            </a:r>
            <a:endParaRPr lang="en-US" sz="1000" dirty="0"/>
          </a:p>
        </p:txBody>
      </p:sp>
      <p:sp>
        <p:nvSpPr>
          <p:cNvPr id="20" name="Shape 15"/>
          <p:cNvSpPr/>
          <p:nvPr/>
        </p:nvSpPr>
        <p:spPr>
          <a:xfrm>
            <a:off x="8138160" y="2331720"/>
            <a:ext cx="3657600" cy="3931920"/>
          </a:xfrm>
          <a:prstGeom prst="rect">
            <a:avLst/>
          </a:prstGeom>
          <a:solidFill>
            <a:srgbClr val="FFFFFF"/>
          </a:solidFill>
          <a:ln w="12700">
            <a:solidFill>
              <a:srgbClr val="C9D6EC"/>
            </a:solidFill>
            <a:prstDash val="solid"/>
          </a:ln>
        </p:spPr>
      </p:sp>
      <p:sp>
        <p:nvSpPr>
          <p:cNvPr id="21" name="Shape 16"/>
          <p:cNvSpPr/>
          <p:nvPr/>
        </p:nvSpPr>
        <p:spPr>
          <a:xfrm>
            <a:off x="8138160" y="2331720"/>
            <a:ext cx="3657600" cy="73152"/>
          </a:xfrm>
          <a:prstGeom prst="rect">
            <a:avLst/>
          </a:prstGeom>
          <a:solidFill>
            <a:srgbClr val="E63946"/>
          </a:solidFill>
          <a:ln w="12700">
            <a:solidFill>
              <a:srgbClr val="333333"/>
            </a:solidFill>
            <a:prstDash val="solid"/>
          </a:ln>
        </p:spPr>
      </p:sp>
      <p:pic>
        <p:nvPicPr>
          <p:cNvPr id="22" name="Image 3" descr="preencoded.png">    </p:cNvPr>
          <p:cNvPicPr>
            <a:picLocks noChangeAspect="1"/>
          </p:cNvPicPr>
          <p:nvPr/>
        </p:nvPicPr>
        <p:blipFill>
          <a:blip r:embed="rId4"/>
          <a:stretch>
            <a:fillRect/>
          </a:stretch>
        </p:blipFill>
        <p:spPr>
          <a:xfrm>
            <a:off x="8366760" y="2542032"/>
            <a:ext cx="320040" cy="320040"/>
          </a:xfrm>
          <a:prstGeom prst="rect">
            <a:avLst/>
          </a:prstGeom>
        </p:spPr>
      </p:pic>
      <p:sp>
        <p:nvSpPr>
          <p:cNvPr id="23" name="Text 17"/>
          <p:cNvSpPr/>
          <p:nvPr/>
        </p:nvSpPr>
        <p:spPr>
          <a:xfrm>
            <a:off x="8778240" y="2514600"/>
            <a:ext cx="2926080" cy="411480"/>
          </a:xfrm>
          <a:prstGeom prst="rect">
            <a:avLst/>
          </a:prstGeom>
          <a:noFill/>
          <a:ln/>
        </p:spPr>
        <p:txBody>
          <a:bodyPr wrap="square" lIns="0" tIns="0" rIns="0" bIns="0" rtlCol="0" anchor="ctr"/>
          <a:lstStyle/>
          <a:p>
            <a:pPr indent="0" marL="0">
              <a:buNone/>
            </a:pPr>
            <a:r>
              <a:rPr lang="en-US" sz="1100" b="1" spc="400" kern="0" dirty="0">
                <a:solidFill>
                  <a:srgbClr val="E63946"/>
                </a:solidFill>
                <a:latin typeface="Calibri" pitchFamily="34" charset="0"/>
                <a:ea typeface="Calibri" pitchFamily="34" charset="-122"/>
                <a:cs typeface="Calibri" pitchFamily="34" charset="-120"/>
              </a:rPr>
              <a:t>WHAT FAILS LIKELY MEANS</a:t>
            </a:r>
            <a:endParaRPr lang="en-US" sz="1100" dirty="0"/>
          </a:p>
        </p:txBody>
      </p:sp>
      <p:sp>
        <p:nvSpPr>
          <p:cNvPr id="24" name="Text 18"/>
          <p:cNvSpPr/>
          <p:nvPr/>
        </p:nvSpPr>
        <p:spPr>
          <a:xfrm>
            <a:off x="8366760" y="3017520"/>
            <a:ext cx="3291840" cy="32004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L3 too specific — matches benign syntax that overlaps with attack syntax</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L1 too broad — "agent invokes a shell command" applies to every legit code agent</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Missing constraint on provenance — capture only when content originates from network bytes</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Source citation too generic — pattern is two intents merged</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These rewrites are documented in the corpus changelog</a:t>
            </a:r>
            <a:endParaRPr lang="en-US" sz="1000" dirty="0"/>
          </a:p>
          <a:p>
            <a:pPr marL="342900" indent="-342900">
              <a:spcAft>
                <a:spcPts val="600"/>
              </a:spcAft>
              <a:buSzPct val="100000"/>
              <a:buChar char="•"/>
            </a:pPr>
            <a:r>
              <a:rPr lang="en-US" sz="1000" dirty="0">
                <a:solidFill>
                  <a:srgbClr val="0B1C3A"/>
                </a:solidFill>
                <a:latin typeface="Calibri" pitchFamily="34" charset="0"/>
                <a:ea typeface="Calibri" pitchFamily="34" charset="-122"/>
                <a:cs typeface="Calibri" pitchFamily="34" charset="-120"/>
              </a:rPr>
              <a:t>The iteration count itself becomes a §7 limitation finding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14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13  ·  PATH TO REAL NUMBERS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Where the §5 numbers will come from</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Three datasets, three measurements, one cold-recall claim. The numbers don't exist yet — but the harness that produces them does.</a:t>
            </a:r>
            <a:endParaRPr lang="en-US" sz="1400" dirty="0"/>
          </a:p>
        </p:txBody>
      </p:sp>
      <p:sp>
        <p:nvSpPr>
          <p:cNvPr id="7" name="Shape 5"/>
          <p:cNvSpPr/>
          <p:nvPr/>
        </p:nvSpPr>
        <p:spPr>
          <a:xfrm>
            <a:off x="457200" y="1828800"/>
            <a:ext cx="3657600" cy="4434840"/>
          </a:xfrm>
          <a:prstGeom prst="rect">
            <a:avLst/>
          </a:prstGeom>
          <a:solidFill>
            <a:srgbClr val="FFFFFF"/>
          </a:solidFill>
          <a:ln w="12700">
            <a:solidFill>
              <a:srgbClr val="C9D6EC"/>
            </a:solidFill>
            <a:prstDash val="solid"/>
          </a:ln>
        </p:spPr>
      </p:sp>
      <p:sp>
        <p:nvSpPr>
          <p:cNvPr id="8" name="Shape 6"/>
          <p:cNvSpPr/>
          <p:nvPr/>
        </p:nvSpPr>
        <p:spPr>
          <a:xfrm>
            <a:off x="457200" y="1828800"/>
            <a:ext cx="3657600" cy="411480"/>
          </a:xfrm>
          <a:prstGeom prst="rect">
            <a:avLst/>
          </a:prstGeom>
          <a:solidFill>
            <a:srgbClr val="1E4FA8"/>
          </a:solidFill>
          <a:ln w="12700">
            <a:solidFill>
              <a:srgbClr val="333333"/>
            </a:solidFill>
            <a:prstDash val="solid"/>
          </a:ln>
        </p:spPr>
      </p:sp>
      <p:pic>
        <p:nvPicPr>
          <p:cNvPr id="9" name="Image 0" descr="preencoded.png">    </p:cNvPr>
          <p:cNvPicPr>
            <a:picLocks noChangeAspect="1"/>
          </p:cNvPicPr>
          <p:nvPr/>
        </p:nvPicPr>
        <p:blipFill>
          <a:blip r:embed="rId1"/>
          <a:stretch>
            <a:fillRect/>
          </a:stretch>
        </p:blipFill>
        <p:spPr>
          <a:xfrm>
            <a:off x="640080" y="1892808"/>
            <a:ext cx="274320" cy="274320"/>
          </a:xfrm>
          <a:prstGeom prst="rect">
            <a:avLst/>
          </a:prstGeom>
        </p:spPr>
      </p:pic>
      <p:sp>
        <p:nvSpPr>
          <p:cNvPr id="10" name="Text 7"/>
          <p:cNvSpPr/>
          <p:nvPr/>
        </p:nvSpPr>
        <p:spPr>
          <a:xfrm>
            <a:off x="1005840" y="1828800"/>
            <a:ext cx="3108960" cy="411480"/>
          </a:xfrm>
          <a:prstGeom prst="rect">
            <a:avLst/>
          </a:prstGeom>
          <a:noFill/>
          <a:ln/>
        </p:spPr>
        <p:txBody>
          <a:bodyPr wrap="square" lIns="0" tIns="0" rIns="0" bIns="0" rtlCol="0" anchor="ctr"/>
          <a:lstStyle/>
          <a:p>
            <a:pPr indent="0" marL="0">
              <a:buNone/>
            </a:pPr>
            <a:r>
              <a:rPr lang="en-US" sz="1200" b="1" dirty="0">
                <a:solidFill>
                  <a:srgbClr val="ECF1F9"/>
                </a:solidFill>
                <a:latin typeface="Calibri" pitchFamily="34" charset="0"/>
                <a:ea typeface="Calibri" pitchFamily="34" charset="-122"/>
                <a:cs typeface="Calibri" pitchFamily="34" charset="-120"/>
              </a:rPr>
              <a:t>InjecAgent (UIUC, 2024)</a:t>
            </a:r>
            <a:endParaRPr lang="en-US" sz="1200" dirty="0"/>
          </a:p>
        </p:txBody>
      </p:sp>
      <p:sp>
        <p:nvSpPr>
          <p:cNvPr id="11" name="Text 8"/>
          <p:cNvSpPr/>
          <p:nvPr/>
        </p:nvSpPr>
        <p:spPr>
          <a:xfrm>
            <a:off x="685800" y="2377440"/>
            <a:ext cx="3200400" cy="777240"/>
          </a:xfrm>
          <a:prstGeom prst="rect">
            <a:avLst/>
          </a:prstGeom>
          <a:noFill/>
          <a:ln/>
        </p:spPr>
        <p:txBody>
          <a:bodyPr wrap="square" lIns="0" tIns="0" rIns="0" bIns="0" rtlCol="0" anchor="ctr"/>
          <a:lstStyle/>
          <a:p>
            <a:pPr indent="0" marL="0">
              <a:buNone/>
            </a:pPr>
            <a:r>
              <a:rPr lang="en-US" sz="4800" b="1" dirty="0">
                <a:solidFill>
                  <a:srgbClr val="1E4FA8"/>
                </a:solidFill>
                <a:latin typeface="Georgia" pitchFamily="34" charset="0"/>
                <a:ea typeface="Georgia" pitchFamily="34" charset="-122"/>
                <a:cs typeface="Georgia" pitchFamily="34" charset="-120"/>
              </a:rPr>
              <a:t>1,054</a:t>
            </a:r>
            <a:endParaRPr lang="en-US" sz="4800" dirty="0"/>
          </a:p>
        </p:txBody>
      </p:sp>
      <p:sp>
        <p:nvSpPr>
          <p:cNvPr id="12" name="Text 9"/>
          <p:cNvSpPr/>
          <p:nvPr/>
        </p:nvSpPr>
        <p:spPr>
          <a:xfrm>
            <a:off x="685800" y="3154680"/>
            <a:ext cx="3200400" cy="27432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test cases</a:t>
            </a:r>
            <a:endParaRPr lang="en-US" sz="1200" dirty="0"/>
          </a:p>
        </p:txBody>
      </p:sp>
      <p:sp>
        <p:nvSpPr>
          <p:cNvPr id="13" name="Text 10"/>
          <p:cNvSpPr/>
          <p:nvPr/>
        </p:nvSpPr>
        <p:spPr>
          <a:xfrm>
            <a:off x="685800" y="352044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WHAT IT IS</a:t>
            </a:r>
            <a:endParaRPr lang="en-US" sz="900" dirty="0"/>
          </a:p>
        </p:txBody>
      </p:sp>
      <p:sp>
        <p:nvSpPr>
          <p:cNvPr id="14" name="Text 11"/>
          <p:cNvSpPr/>
          <p:nvPr/>
        </p:nvSpPr>
        <p:spPr>
          <a:xfrm>
            <a:off x="685800" y="3749040"/>
            <a:ext cx="3200400" cy="77724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Prompt-injection attack cases: benign user instruction + malicious tool output + expected attacker action.</a:t>
            </a:r>
            <a:endParaRPr lang="en-US" sz="1000" dirty="0"/>
          </a:p>
        </p:txBody>
      </p:sp>
      <p:sp>
        <p:nvSpPr>
          <p:cNvPr id="15" name="Text 12"/>
          <p:cNvSpPr/>
          <p:nvPr/>
        </p:nvSpPr>
        <p:spPr>
          <a:xfrm>
            <a:off x="685800" y="457200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WHY</a:t>
            </a:r>
            <a:endParaRPr lang="en-US" sz="900" dirty="0"/>
          </a:p>
        </p:txBody>
      </p:sp>
      <p:sp>
        <p:nvSpPr>
          <p:cNvPr id="16" name="Text 13"/>
          <p:cNvSpPr/>
          <p:nvPr/>
        </p:nvSpPr>
        <p:spPr>
          <a:xfrm>
            <a:off x="685800" y="4800600"/>
            <a:ext cx="3200400" cy="68580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Standard benchmark for tool-call interception. Cold run — corpus authors had not seen the test set.</a:t>
            </a:r>
            <a:endParaRPr lang="en-US" sz="1000" dirty="0"/>
          </a:p>
        </p:txBody>
      </p:sp>
      <p:sp>
        <p:nvSpPr>
          <p:cNvPr id="17" name="Text 14"/>
          <p:cNvSpPr/>
          <p:nvPr/>
        </p:nvSpPr>
        <p:spPr>
          <a:xfrm>
            <a:off x="685800" y="553212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PRODUCES</a:t>
            </a:r>
            <a:endParaRPr lang="en-US" sz="900" dirty="0"/>
          </a:p>
        </p:txBody>
      </p:sp>
      <p:sp>
        <p:nvSpPr>
          <p:cNvPr id="18" name="Text 15"/>
          <p:cNvSpPr/>
          <p:nvPr/>
        </p:nvSpPr>
        <p:spPr>
          <a:xfrm>
            <a:off x="685800" y="5760720"/>
            <a:ext cx="3200400" cy="457200"/>
          </a:xfrm>
          <a:prstGeom prst="rect">
            <a:avLst/>
          </a:prstGeom>
          <a:noFill/>
          <a:ln/>
        </p:spPr>
        <p:txBody>
          <a:bodyPr wrap="square" lIns="0" tIns="0" rIns="0" bIns="0" rtlCol="0" anchor="ctr"/>
          <a:lstStyle/>
          <a:p>
            <a:pPr indent="0" marL="0">
              <a:buNone/>
            </a:pPr>
            <a:r>
              <a:rPr lang="en-US" sz="1000" i="1" dirty="0">
                <a:solidFill>
                  <a:srgbClr val="1E4FA8"/>
                </a:solidFill>
                <a:latin typeface="Calibri" pitchFamily="34" charset="0"/>
                <a:ea typeface="Calibri" pitchFamily="34" charset="-122"/>
                <a:cs typeface="Calibri" pitchFamily="34" charset="-120"/>
              </a:rPr>
              <a:t>BLOCK recall, FPR, F1, p95 latency</a:t>
            </a:r>
            <a:endParaRPr lang="en-US" sz="1000" dirty="0"/>
          </a:p>
        </p:txBody>
      </p:sp>
      <p:sp>
        <p:nvSpPr>
          <p:cNvPr id="19" name="Shape 16"/>
          <p:cNvSpPr/>
          <p:nvPr/>
        </p:nvSpPr>
        <p:spPr>
          <a:xfrm>
            <a:off x="4297680" y="1828800"/>
            <a:ext cx="3657600" cy="4434840"/>
          </a:xfrm>
          <a:prstGeom prst="rect">
            <a:avLst/>
          </a:prstGeom>
          <a:solidFill>
            <a:srgbClr val="FFFFFF"/>
          </a:solidFill>
          <a:ln w="12700">
            <a:solidFill>
              <a:srgbClr val="C9D6EC"/>
            </a:solidFill>
            <a:prstDash val="solid"/>
          </a:ln>
        </p:spPr>
      </p:sp>
      <p:sp>
        <p:nvSpPr>
          <p:cNvPr id="20" name="Shape 17"/>
          <p:cNvSpPr/>
          <p:nvPr/>
        </p:nvSpPr>
        <p:spPr>
          <a:xfrm>
            <a:off x="4297680" y="1828800"/>
            <a:ext cx="3657600" cy="411480"/>
          </a:xfrm>
          <a:prstGeom prst="rect">
            <a:avLst/>
          </a:prstGeom>
          <a:solidFill>
            <a:srgbClr val="2A9D8F"/>
          </a:solidFill>
          <a:ln w="12700">
            <a:solidFill>
              <a:srgbClr val="333333"/>
            </a:solidFill>
            <a:prstDash val="solid"/>
          </a:ln>
        </p:spPr>
      </p:sp>
      <p:pic>
        <p:nvPicPr>
          <p:cNvPr id="21" name="Image 1" descr="preencoded.png">    </p:cNvPr>
          <p:cNvPicPr>
            <a:picLocks noChangeAspect="1"/>
          </p:cNvPicPr>
          <p:nvPr/>
        </p:nvPicPr>
        <p:blipFill>
          <a:blip r:embed="rId2"/>
          <a:stretch>
            <a:fillRect/>
          </a:stretch>
        </p:blipFill>
        <p:spPr>
          <a:xfrm>
            <a:off x="4480560" y="1892808"/>
            <a:ext cx="274320" cy="274320"/>
          </a:xfrm>
          <a:prstGeom prst="rect">
            <a:avLst/>
          </a:prstGeom>
        </p:spPr>
      </p:pic>
      <p:sp>
        <p:nvSpPr>
          <p:cNvPr id="22" name="Text 18"/>
          <p:cNvSpPr/>
          <p:nvPr/>
        </p:nvSpPr>
        <p:spPr>
          <a:xfrm>
            <a:off x="4846320" y="1828800"/>
            <a:ext cx="3108960" cy="411480"/>
          </a:xfrm>
          <a:prstGeom prst="rect">
            <a:avLst/>
          </a:prstGeom>
          <a:noFill/>
          <a:ln/>
        </p:spPr>
        <p:txBody>
          <a:bodyPr wrap="square" lIns="0" tIns="0" rIns="0" bIns="0" rtlCol="0" anchor="ctr"/>
          <a:lstStyle/>
          <a:p>
            <a:pPr indent="0" marL="0">
              <a:buNone/>
            </a:pPr>
            <a:r>
              <a:rPr lang="en-US" sz="1200" b="1" dirty="0">
                <a:solidFill>
                  <a:srgbClr val="ECF1F9"/>
                </a:solidFill>
                <a:latin typeface="Calibri" pitchFamily="34" charset="0"/>
                <a:ea typeface="Calibri" pitchFamily="34" charset="-122"/>
                <a:cs typeface="Calibri" pitchFamily="34" charset="-120"/>
              </a:rPr>
              <a:t>Hand-curated benign traces</a:t>
            </a:r>
            <a:endParaRPr lang="en-US" sz="1200" dirty="0"/>
          </a:p>
        </p:txBody>
      </p:sp>
      <p:sp>
        <p:nvSpPr>
          <p:cNvPr id="23" name="Text 19"/>
          <p:cNvSpPr/>
          <p:nvPr/>
        </p:nvSpPr>
        <p:spPr>
          <a:xfrm>
            <a:off x="4526280" y="2377440"/>
            <a:ext cx="3200400" cy="777240"/>
          </a:xfrm>
          <a:prstGeom prst="rect">
            <a:avLst/>
          </a:prstGeom>
          <a:noFill/>
          <a:ln/>
        </p:spPr>
        <p:txBody>
          <a:bodyPr wrap="square" lIns="0" tIns="0" rIns="0" bIns="0" rtlCol="0" anchor="ctr"/>
          <a:lstStyle/>
          <a:p>
            <a:pPr indent="0" marL="0">
              <a:buNone/>
            </a:pPr>
            <a:r>
              <a:rPr lang="en-US" sz="4800" b="1" dirty="0">
                <a:solidFill>
                  <a:srgbClr val="2A9D8F"/>
                </a:solidFill>
                <a:latin typeface="Georgia" pitchFamily="34" charset="0"/>
                <a:ea typeface="Georgia" pitchFamily="34" charset="-122"/>
                <a:cs typeface="Georgia" pitchFamily="34" charset="-120"/>
              </a:rPr>
              <a:t>50</a:t>
            </a:r>
            <a:endParaRPr lang="en-US" sz="4800" dirty="0"/>
          </a:p>
        </p:txBody>
      </p:sp>
      <p:sp>
        <p:nvSpPr>
          <p:cNvPr id="24" name="Text 20"/>
          <p:cNvSpPr/>
          <p:nvPr/>
        </p:nvSpPr>
        <p:spPr>
          <a:xfrm>
            <a:off x="4526280" y="3154680"/>
            <a:ext cx="3200400" cy="27432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agent sessions</a:t>
            </a:r>
            <a:endParaRPr lang="en-US" sz="1200" dirty="0"/>
          </a:p>
        </p:txBody>
      </p:sp>
      <p:sp>
        <p:nvSpPr>
          <p:cNvPr id="25" name="Text 21"/>
          <p:cNvSpPr/>
          <p:nvPr/>
        </p:nvSpPr>
        <p:spPr>
          <a:xfrm>
            <a:off x="4526280" y="352044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WHAT IT IS</a:t>
            </a:r>
            <a:endParaRPr lang="en-US" sz="900" dirty="0"/>
          </a:p>
        </p:txBody>
      </p:sp>
      <p:sp>
        <p:nvSpPr>
          <p:cNvPr id="26" name="Text 22"/>
          <p:cNvSpPr/>
          <p:nvPr/>
        </p:nvSpPr>
        <p:spPr>
          <a:xfrm>
            <a:off x="4526280" y="3749040"/>
            <a:ext cx="3200400" cy="77724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Code editing, build, debug, git, deployment — written by hand to be representative of legit work.</a:t>
            </a:r>
            <a:endParaRPr lang="en-US" sz="1000" dirty="0"/>
          </a:p>
        </p:txBody>
      </p:sp>
      <p:sp>
        <p:nvSpPr>
          <p:cNvPr id="27" name="Text 23"/>
          <p:cNvSpPr/>
          <p:nvPr/>
        </p:nvSpPr>
        <p:spPr>
          <a:xfrm>
            <a:off x="4526280" y="457200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WHY</a:t>
            </a:r>
            <a:endParaRPr lang="en-US" sz="900" dirty="0"/>
          </a:p>
        </p:txBody>
      </p:sp>
      <p:sp>
        <p:nvSpPr>
          <p:cNvPr id="28" name="Text 24"/>
          <p:cNvSpPr/>
          <p:nvPr/>
        </p:nvSpPr>
        <p:spPr>
          <a:xfrm>
            <a:off x="4526280" y="4800600"/>
            <a:ext cx="3200400" cy="68580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Gates the InjecAgent run. Without this, recall is meaningless.</a:t>
            </a:r>
            <a:endParaRPr lang="en-US" sz="1000" dirty="0"/>
          </a:p>
        </p:txBody>
      </p:sp>
      <p:sp>
        <p:nvSpPr>
          <p:cNvPr id="29" name="Text 25"/>
          <p:cNvSpPr/>
          <p:nvPr/>
        </p:nvSpPr>
        <p:spPr>
          <a:xfrm>
            <a:off x="4526280" y="553212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PRODUCES</a:t>
            </a:r>
            <a:endParaRPr lang="en-US" sz="900" dirty="0"/>
          </a:p>
        </p:txBody>
      </p:sp>
      <p:sp>
        <p:nvSpPr>
          <p:cNvPr id="30" name="Text 26"/>
          <p:cNvSpPr/>
          <p:nvPr/>
        </p:nvSpPr>
        <p:spPr>
          <a:xfrm>
            <a:off x="4526280" y="5760720"/>
            <a:ext cx="3200400" cy="457200"/>
          </a:xfrm>
          <a:prstGeom prst="rect">
            <a:avLst/>
          </a:prstGeom>
          <a:noFill/>
          <a:ln/>
        </p:spPr>
        <p:txBody>
          <a:bodyPr wrap="square" lIns="0" tIns="0" rIns="0" bIns="0" rtlCol="0" anchor="ctr"/>
          <a:lstStyle/>
          <a:p>
            <a:pPr indent="0" marL="0">
              <a:buNone/>
            </a:pPr>
            <a:r>
              <a:rPr lang="en-US" sz="1000" i="1" dirty="0">
                <a:solidFill>
                  <a:srgbClr val="2A9D8F"/>
                </a:solidFill>
                <a:latin typeface="Calibri" pitchFamily="34" charset="0"/>
                <a:ea typeface="Calibri" pitchFamily="34" charset="-122"/>
                <a:cs typeface="Calibri" pitchFamily="34" charset="-120"/>
              </a:rPr>
              <a:t>FPR by category, blocked_actions.txt for review</a:t>
            </a:r>
            <a:endParaRPr lang="en-US" sz="1000" dirty="0"/>
          </a:p>
        </p:txBody>
      </p:sp>
      <p:sp>
        <p:nvSpPr>
          <p:cNvPr id="31" name="Shape 27"/>
          <p:cNvSpPr/>
          <p:nvPr/>
        </p:nvSpPr>
        <p:spPr>
          <a:xfrm>
            <a:off x="8138160" y="1828800"/>
            <a:ext cx="3657600" cy="4434840"/>
          </a:xfrm>
          <a:prstGeom prst="rect">
            <a:avLst/>
          </a:prstGeom>
          <a:solidFill>
            <a:srgbClr val="FFFFFF"/>
          </a:solidFill>
          <a:ln w="12700">
            <a:solidFill>
              <a:srgbClr val="C9D6EC"/>
            </a:solidFill>
            <a:prstDash val="solid"/>
          </a:ln>
        </p:spPr>
      </p:sp>
      <p:sp>
        <p:nvSpPr>
          <p:cNvPr id="32" name="Shape 28"/>
          <p:cNvSpPr/>
          <p:nvPr/>
        </p:nvSpPr>
        <p:spPr>
          <a:xfrm>
            <a:off x="8138160" y="1828800"/>
            <a:ext cx="3657600" cy="411480"/>
          </a:xfrm>
          <a:prstGeom prst="rect">
            <a:avLst/>
          </a:prstGeom>
          <a:solidFill>
            <a:srgbClr val="E9C46A"/>
          </a:solidFill>
          <a:ln w="12700">
            <a:solidFill>
              <a:srgbClr val="333333"/>
            </a:solidFill>
            <a:prstDash val="solid"/>
          </a:ln>
        </p:spPr>
      </p:sp>
      <p:pic>
        <p:nvPicPr>
          <p:cNvPr id="33" name="Image 2" descr="preencoded.png">    </p:cNvPr>
          <p:cNvPicPr>
            <a:picLocks noChangeAspect="1"/>
          </p:cNvPicPr>
          <p:nvPr/>
        </p:nvPicPr>
        <p:blipFill>
          <a:blip r:embed="rId3"/>
          <a:stretch>
            <a:fillRect/>
          </a:stretch>
        </p:blipFill>
        <p:spPr>
          <a:xfrm>
            <a:off x="8321040" y="1892808"/>
            <a:ext cx="274320" cy="274320"/>
          </a:xfrm>
          <a:prstGeom prst="rect">
            <a:avLst/>
          </a:prstGeom>
        </p:spPr>
      </p:pic>
      <p:sp>
        <p:nvSpPr>
          <p:cNvPr id="34" name="Text 29"/>
          <p:cNvSpPr/>
          <p:nvPr/>
        </p:nvSpPr>
        <p:spPr>
          <a:xfrm>
            <a:off x="8686800" y="1828800"/>
            <a:ext cx="3108960" cy="411480"/>
          </a:xfrm>
          <a:prstGeom prst="rect">
            <a:avLst/>
          </a:prstGeom>
          <a:noFill/>
          <a:ln/>
        </p:spPr>
        <p:txBody>
          <a:bodyPr wrap="square" lIns="0" tIns="0" rIns="0" bIns="0" rtlCol="0" anchor="ctr"/>
          <a:lstStyle/>
          <a:p>
            <a:pPr indent="0" marL="0">
              <a:buNone/>
            </a:pPr>
            <a:r>
              <a:rPr lang="en-US" sz="1200" b="1" dirty="0">
                <a:solidFill>
                  <a:srgbClr val="ECF1F9"/>
                </a:solidFill>
                <a:latin typeface="Calibri" pitchFamily="34" charset="0"/>
                <a:ea typeface="Calibri" pitchFamily="34" charset="-122"/>
                <a:cs typeface="Calibri" pitchFamily="34" charset="-120"/>
              </a:rPr>
              <a:t>COMPASS calibration set</a:t>
            </a:r>
            <a:endParaRPr lang="en-US" sz="1200" dirty="0"/>
          </a:p>
        </p:txBody>
      </p:sp>
      <p:sp>
        <p:nvSpPr>
          <p:cNvPr id="35" name="Text 30"/>
          <p:cNvSpPr/>
          <p:nvPr/>
        </p:nvSpPr>
        <p:spPr>
          <a:xfrm>
            <a:off x="8366760" y="2377440"/>
            <a:ext cx="3200400" cy="777240"/>
          </a:xfrm>
          <a:prstGeom prst="rect">
            <a:avLst/>
          </a:prstGeom>
          <a:noFill/>
          <a:ln/>
        </p:spPr>
        <p:txBody>
          <a:bodyPr wrap="square" lIns="0" tIns="0" rIns="0" bIns="0" rtlCol="0" anchor="ctr"/>
          <a:lstStyle/>
          <a:p>
            <a:pPr indent="0" marL="0">
              <a:buNone/>
            </a:pPr>
            <a:r>
              <a:rPr lang="en-US" sz="4800" b="1" dirty="0">
                <a:solidFill>
                  <a:srgbClr val="E9C46A"/>
                </a:solidFill>
                <a:latin typeface="Georgia" pitchFamily="34" charset="0"/>
                <a:ea typeface="Georgia" pitchFamily="34" charset="-122"/>
                <a:cs typeface="Georgia" pitchFamily="34" charset="-120"/>
              </a:rPr>
              <a:t>100</a:t>
            </a:r>
            <a:endParaRPr lang="en-US" sz="4800" dirty="0"/>
          </a:p>
        </p:txBody>
      </p:sp>
      <p:sp>
        <p:nvSpPr>
          <p:cNvPr id="36" name="Text 31"/>
          <p:cNvSpPr/>
          <p:nvPr/>
        </p:nvSpPr>
        <p:spPr>
          <a:xfrm>
            <a:off x="8366760" y="3154680"/>
            <a:ext cx="3200400" cy="27432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intent / action pairs</a:t>
            </a:r>
            <a:endParaRPr lang="en-US" sz="1200" dirty="0"/>
          </a:p>
        </p:txBody>
      </p:sp>
      <p:sp>
        <p:nvSpPr>
          <p:cNvPr id="37" name="Text 32"/>
          <p:cNvSpPr/>
          <p:nvPr/>
        </p:nvSpPr>
        <p:spPr>
          <a:xfrm>
            <a:off x="8366760" y="352044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WHAT IT IS</a:t>
            </a:r>
            <a:endParaRPr lang="en-US" sz="900" dirty="0"/>
          </a:p>
        </p:txBody>
      </p:sp>
      <p:sp>
        <p:nvSpPr>
          <p:cNvPr id="38" name="Text 33"/>
          <p:cNvSpPr/>
          <p:nvPr/>
        </p:nvSpPr>
        <p:spPr>
          <a:xfrm>
            <a:off x="8366760" y="3749040"/>
            <a:ext cx="3200400" cy="77724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Aligned and drifted intent-action pairs. Shipped with the v1 corpus.</a:t>
            </a:r>
            <a:endParaRPr lang="en-US" sz="1000" dirty="0"/>
          </a:p>
        </p:txBody>
      </p:sp>
      <p:sp>
        <p:nvSpPr>
          <p:cNvPr id="39" name="Text 34"/>
          <p:cNvSpPr/>
          <p:nvPr/>
        </p:nvSpPr>
        <p:spPr>
          <a:xfrm>
            <a:off x="8366760" y="457200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WHY</a:t>
            </a:r>
            <a:endParaRPr lang="en-US" sz="900" dirty="0"/>
          </a:p>
        </p:txBody>
      </p:sp>
      <p:sp>
        <p:nvSpPr>
          <p:cNvPr id="40" name="Text 35"/>
          <p:cNvSpPr/>
          <p:nvPr/>
        </p:nvSpPr>
        <p:spPr>
          <a:xfrm>
            <a:off x="8366760" y="4800600"/>
            <a:ext cx="3200400" cy="68580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Derives the COMPASS drift threshold via Youden's J — not gut feel.</a:t>
            </a:r>
            <a:endParaRPr lang="en-US" sz="1000" dirty="0"/>
          </a:p>
        </p:txBody>
      </p:sp>
      <p:sp>
        <p:nvSpPr>
          <p:cNvPr id="41" name="Text 36"/>
          <p:cNvSpPr/>
          <p:nvPr/>
        </p:nvSpPr>
        <p:spPr>
          <a:xfrm>
            <a:off x="8366760" y="5532120"/>
            <a:ext cx="3200400" cy="228600"/>
          </a:xfrm>
          <a:prstGeom prst="rect">
            <a:avLst/>
          </a:prstGeom>
          <a:noFill/>
          <a:ln/>
        </p:spPr>
        <p:txBody>
          <a:bodyPr wrap="square" lIns="0" tIns="0" rIns="0" bIns="0" rtlCol="0" anchor="ctr"/>
          <a:lstStyle/>
          <a:p>
            <a:pPr indent="0" marL="0">
              <a:buNone/>
            </a:pPr>
            <a:r>
              <a:rPr lang="en-US" sz="900" b="1" spc="300" kern="0" dirty="0">
                <a:solidFill>
                  <a:srgbClr val="5A6B85"/>
                </a:solidFill>
                <a:latin typeface="Calibri" pitchFamily="34" charset="0"/>
                <a:ea typeface="Calibri" pitchFamily="34" charset="-122"/>
                <a:cs typeface="Calibri" pitchFamily="34" charset="-120"/>
              </a:rPr>
              <a:t>PRODUCES</a:t>
            </a:r>
            <a:endParaRPr lang="en-US" sz="900" dirty="0"/>
          </a:p>
        </p:txBody>
      </p:sp>
      <p:sp>
        <p:nvSpPr>
          <p:cNvPr id="42" name="Text 37"/>
          <p:cNvSpPr/>
          <p:nvPr/>
        </p:nvSpPr>
        <p:spPr>
          <a:xfrm>
            <a:off x="8366760" y="5760720"/>
            <a:ext cx="3200400" cy="457200"/>
          </a:xfrm>
          <a:prstGeom prst="rect">
            <a:avLst/>
          </a:prstGeom>
          <a:noFill/>
          <a:ln/>
        </p:spPr>
        <p:txBody>
          <a:bodyPr wrap="square" lIns="0" tIns="0" rIns="0" bIns="0" rtlCol="0" anchor="ctr"/>
          <a:lstStyle/>
          <a:p>
            <a:pPr indent="0" marL="0">
              <a:buNone/>
            </a:pPr>
            <a:r>
              <a:rPr lang="en-US" sz="1000" i="1" dirty="0">
                <a:solidFill>
                  <a:srgbClr val="E9C46A"/>
                </a:solidFill>
                <a:latin typeface="Calibri" pitchFamily="34" charset="0"/>
                <a:ea typeface="Calibri" pitchFamily="34" charset="-122"/>
                <a:cs typeface="Calibri" pitchFamily="34" charset="-120"/>
              </a:rPr>
              <a:t>Calibrated threshold, ROC histogram, distribution stats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15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14  ·  PAPER STATUS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Paper draft — what's written, what's pending</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Two of the eight sections are fully drafted. The remaining sections either need numbers (§5) or are short stubs (§6, §7, §8) that fill in once benchmarks land.</a:t>
            </a:r>
            <a:endParaRPr lang="en-US" sz="1400" dirty="0"/>
          </a:p>
        </p:txBody>
      </p:sp>
      <p:sp>
        <p:nvSpPr>
          <p:cNvPr id="7" name="Shape 5"/>
          <p:cNvSpPr/>
          <p:nvPr/>
        </p:nvSpPr>
        <p:spPr>
          <a:xfrm>
            <a:off x="457200" y="1828800"/>
            <a:ext cx="5486400" cy="960120"/>
          </a:xfrm>
          <a:prstGeom prst="rect">
            <a:avLst/>
          </a:prstGeom>
          <a:solidFill>
            <a:srgbClr val="FFFFFF"/>
          </a:solidFill>
          <a:ln w="12700">
            <a:solidFill>
              <a:srgbClr val="C9D6EC"/>
            </a:solidFill>
            <a:prstDash val="solid"/>
          </a:ln>
        </p:spPr>
      </p:sp>
      <p:sp>
        <p:nvSpPr>
          <p:cNvPr id="8" name="Text 6"/>
          <p:cNvSpPr/>
          <p:nvPr/>
        </p:nvSpPr>
        <p:spPr>
          <a:xfrm>
            <a:off x="594360" y="1965960"/>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1325880" y="1920240"/>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Introduction</a:t>
            </a:r>
            <a:endParaRPr lang="en-US" sz="1400" dirty="0"/>
          </a:p>
        </p:txBody>
      </p:sp>
      <p:sp>
        <p:nvSpPr>
          <p:cNvPr id="10" name="Shape 8"/>
          <p:cNvSpPr/>
          <p:nvPr/>
        </p:nvSpPr>
        <p:spPr>
          <a:xfrm>
            <a:off x="4617720" y="1993392"/>
            <a:ext cx="1188720" cy="292608"/>
          </a:xfrm>
          <a:prstGeom prst="roundRect">
            <a:avLst>
              <a:gd name="adj" fmla="val 12500"/>
            </a:avLst>
          </a:prstGeom>
          <a:solidFill>
            <a:srgbClr val="2A9D8F"/>
          </a:solidFill>
          <a:ln w="12700">
            <a:solidFill>
              <a:srgbClr val="333333"/>
            </a:solidFill>
            <a:prstDash val="solid"/>
          </a:ln>
        </p:spPr>
      </p:sp>
      <p:sp>
        <p:nvSpPr>
          <p:cNvPr id="11" name="Text 9"/>
          <p:cNvSpPr/>
          <p:nvPr/>
        </p:nvSpPr>
        <p:spPr>
          <a:xfrm>
            <a:off x="4617720" y="1993392"/>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DRAFTED</a:t>
            </a:r>
            <a:endParaRPr lang="en-US" sz="900" dirty="0"/>
          </a:p>
        </p:txBody>
      </p:sp>
      <p:sp>
        <p:nvSpPr>
          <p:cNvPr id="12" name="Text 10"/>
          <p:cNvSpPr/>
          <p:nvPr/>
        </p:nvSpPr>
        <p:spPr>
          <a:xfrm>
            <a:off x="1325880" y="2286000"/>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Full prose. Motivation, three contributions, scope, reproducibility commitment.</a:t>
            </a:r>
            <a:endParaRPr lang="en-US" sz="1000" dirty="0"/>
          </a:p>
        </p:txBody>
      </p:sp>
      <p:sp>
        <p:nvSpPr>
          <p:cNvPr id="13" name="Shape 11"/>
          <p:cNvSpPr/>
          <p:nvPr/>
        </p:nvSpPr>
        <p:spPr>
          <a:xfrm>
            <a:off x="6263640" y="1828800"/>
            <a:ext cx="5486400" cy="960120"/>
          </a:xfrm>
          <a:prstGeom prst="rect">
            <a:avLst/>
          </a:prstGeom>
          <a:solidFill>
            <a:srgbClr val="FFFFFF"/>
          </a:solidFill>
          <a:ln w="12700">
            <a:solidFill>
              <a:srgbClr val="C9D6EC"/>
            </a:solidFill>
            <a:prstDash val="solid"/>
          </a:ln>
        </p:spPr>
      </p:sp>
      <p:sp>
        <p:nvSpPr>
          <p:cNvPr id="14" name="Text 12"/>
          <p:cNvSpPr/>
          <p:nvPr/>
        </p:nvSpPr>
        <p:spPr>
          <a:xfrm>
            <a:off x="6400800" y="1965960"/>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§2</a:t>
            </a:r>
            <a:endParaRPr lang="en-US" sz="2400" dirty="0"/>
          </a:p>
        </p:txBody>
      </p:sp>
      <p:sp>
        <p:nvSpPr>
          <p:cNvPr id="15" name="Text 13"/>
          <p:cNvSpPr/>
          <p:nvPr/>
        </p:nvSpPr>
        <p:spPr>
          <a:xfrm>
            <a:off x="7132320" y="1920240"/>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Background</a:t>
            </a:r>
            <a:endParaRPr lang="en-US" sz="1400" dirty="0"/>
          </a:p>
        </p:txBody>
      </p:sp>
      <p:sp>
        <p:nvSpPr>
          <p:cNvPr id="16" name="Shape 14"/>
          <p:cNvSpPr/>
          <p:nvPr/>
        </p:nvSpPr>
        <p:spPr>
          <a:xfrm>
            <a:off x="10424160" y="1993392"/>
            <a:ext cx="1188720" cy="292608"/>
          </a:xfrm>
          <a:prstGeom prst="roundRect">
            <a:avLst>
              <a:gd name="adj" fmla="val 12500"/>
            </a:avLst>
          </a:prstGeom>
          <a:solidFill>
            <a:srgbClr val="E9C46A"/>
          </a:solidFill>
          <a:ln w="12700">
            <a:solidFill>
              <a:srgbClr val="333333"/>
            </a:solidFill>
            <a:prstDash val="solid"/>
          </a:ln>
        </p:spPr>
      </p:sp>
      <p:sp>
        <p:nvSpPr>
          <p:cNvPr id="17" name="Text 15"/>
          <p:cNvSpPr/>
          <p:nvPr/>
        </p:nvSpPr>
        <p:spPr>
          <a:xfrm>
            <a:off x="10424160" y="1993392"/>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STUB</a:t>
            </a:r>
            <a:endParaRPr lang="en-US" sz="900" dirty="0"/>
          </a:p>
        </p:txBody>
      </p:sp>
      <p:sp>
        <p:nvSpPr>
          <p:cNvPr id="18" name="Text 16"/>
          <p:cNvSpPr/>
          <p:nvPr/>
        </p:nvSpPr>
        <p:spPr>
          <a:xfrm>
            <a:off x="7132320" y="2286000"/>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Outline of agent attack surface and existing guardrails. Easy to fill, no number deps.</a:t>
            </a:r>
            <a:endParaRPr lang="en-US" sz="1000" dirty="0"/>
          </a:p>
        </p:txBody>
      </p:sp>
      <p:sp>
        <p:nvSpPr>
          <p:cNvPr id="19" name="Shape 17"/>
          <p:cNvSpPr/>
          <p:nvPr/>
        </p:nvSpPr>
        <p:spPr>
          <a:xfrm>
            <a:off x="457200" y="2907792"/>
            <a:ext cx="5486400" cy="960120"/>
          </a:xfrm>
          <a:prstGeom prst="rect">
            <a:avLst/>
          </a:prstGeom>
          <a:solidFill>
            <a:srgbClr val="FFFFFF"/>
          </a:solidFill>
          <a:ln w="12700">
            <a:solidFill>
              <a:srgbClr val="C9D6EC"/>
            </a:solidFill>
            <a:prstDash val="solid"/>
          </a:ln>
        </p:spPr>
      </p:sp>
      <p:sp>
        <p:nvSpPr>
          <p:cNvPr id="20" name="Text 18"/>
          <p:cNvSpPr/>
          <p:nvPr/>
        </p:nvSpPr>
        <p:spPr>
          <a:xfrm>
            <a:off x="594360" y="3044952"/>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§3</a:t>
            </a:r>
            <a:endParaRPr lang="en-US" sz="2400" dirty="0"/>
          </a:p>
        </p:txBody>
      </p:sp>
      <p:sp>
        <p:nvSpPr>
          <p:cNvPr id="21" name="Text 19"/>
          <p:cNvSpPr/>
          <p:nvPr/>
        </p:nvSpPr>
        <p:spPr>
          <a:xfrm>
            <a:off x="1325880" y="2999232"/>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Kavach Architecture</a:t>
            </a:r>
            <a:endParaRPr lang="en-US" sz="1400" dirty="0"/>
          </a:p>
        </p:txBody>
      </p:sp>
      <p:sp>
        <p:nvSpPr>
          <p:cNvPr id="22" name="Shape 20"/>
          <p:cNvSpPr/>
          <p:nvPr/>
        </p:nvSpPr>
        <p:spPr>
          <a:xfrm>
            <a:off x="4617720" y="3072384"/>
            <a:ext cx="1188720" cy="292608"/>
          </a:xfrm>
          <a:prstGeom prst="roundRect">
            <a:avLst>
              <a:gd name="adj" fmla="val 12500"/>
            </a:avLst>
          </a:prstGeom>
          <a:solidFill>
            <a:srgbClr val="E9C46A"/>
          </a:solidFill>
          <a:ln w="12700">
            <a:solidFill>
              <a:srgbClr val="333333"/>
            </a:solidFill>
            <a:prstDash val="solid"/>
          </a:ln>
        </p:spPr>
      </p:sp>
      <p:sp>
        <p:nvSpPr>
          <p:cNvPr id="23" name="Text 21"/>
          <p:cNvSpPr/>
          <p:nvPr/>
        </p:nvSpPr>
        <p:spPr>
          <a:xfrm>
            <a:off x="4617720" y="3072384"/>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STUB</a:t>
            </a:r>
            <a:endParaRPr lang="en-US" sz="900" dirty="0"/>
          </a:p>
        </p:txBody>
      </p:sp>
      <p:sp>
        <p:nvSpPr>
          <p:cNvPr id="24" name="Text 22"/>
          <p:cNvSpPr/>
          <p:nvPr/>
        </p:nvSpPr>
        <p:spPr>
          <a:xfrm>
            <a:off x="1325880" y="3364992"/>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Diagram + minister table + speaker description. Mostly mechanical writeup.</a:t>
            </a:r>
            <a:endParaRPr lang="en-US" sz="1000" dirty="0"/>
          </a:p>
        </p:txBody>
      </p:sp>
      <p:sp>
        <p:nvSpPr>
          <p:cNvPr id="25" name="Shape 23"/>
          <p:cNvSpPr/>
          <p:nvPr/>
        </p:nvSpPr>
        <p:spPr>
          <a:xfrm>
            <a:off x="6263640" y="2907792"/>
            <a:ext cx="5486400" cy="960120"/>
          </a:xfrm>
          <a:prstGeom prst="rect">
            <a:avLst/>
          </a:prstGeom>
          <a:solidFill>
            <a:srgbClr val="FFFFFF"/>
          </a:solidFill>
          <a:ln w="12700">
            <a:solidFill>
              <a:srgbClr val="C9D6EC"/>
            </a:solidFill>
            <a:prstDash val="solid"/>
          </a:ln>
        </p:spPr>
      </p:sp>
      <p:sp>
        <p:nvSpPr>
          <p:cNvPr id="26" name="Text 24"/>
          <p:cNvSpPr/>
          <p:nvPr/>
        </p:nvSpPr>
        <p:spPr>
          <a:xfrm>
            <a:off x="6400800" y="3044952"/>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§4</a:t>
            </a:r>
            <a:endParaRPr lang="en-US" sz="2400" dirty="0"/>
          </a:p>
        </p:txBody>
      </p:sp>
      <p:sp>
        <p:nvSpPr>
          <p:cNvPr id="27" name="Text 25"/>
          <p:cNvSpPr/>
          <p:nvPr/>
        </p:nvSpPr>
        <p:spPr>
          <a:xfrm>
            <a:off x="7132320" y="2999232"/>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Temporal-vs-Spatial Defense-in-Depth</a:t>
            </a:r>
            <a:endParaRPr lang="en-US" sz="1400" dirty="0"/>
          </a:p>
        </p:txBody>
      </p:sp>
      <p:sp>
        <p:nvSpPr>
          <p:cNvPr id="28" name="Shape 26"/>
          <p:cNvSpPr/>
          <p:nvPr/>
        </p:nvSpPr>
        <p:spPr>
          <a:xfrm>
            <a:off x="10424160" y="3072384"/>
            <a:ext cx="1188720" cy="292608"/>
          </a:xfrm>
          <a:prstGeom prst="roundRect">
            <a:avLst>
              <a:gd name="adj" fmla="val 12500"/>
            </a:avLst>
          </a:prstGeom>
          <a:solidFill>
            <a:srgbClr val="2A9D8F"/>
          </a:solidFill>
          <a:ln w="12700">
            <a:solidFill>
              <a:srgbClr val="333333"/>
            </a:solidFill>
            <a:prstDash val="solid"/>
          </a:ln>
        </p:spPr>
      </p:sp>
      <p:sp>
        <p:nvSpPr>
          <p:cNvPr id="29" name="Text 27"/>
          <p:cNvSpPr/>
          <p:nvPr/>
        </p:nvSpPr>
        <p:spPr>
          <a:xfrm>
            <a:off x="10424160" y="3072384"/>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DRAFTED</a:t>
            </a:r>
            <a:endParaRPr lang="en-US" sz="900" dirty="0"/>
          </a:p>
        </p:txBody>
      </p:sp>
      <p:sp>
        <p:nvSpPr>
          <p:cNvPr id="30" name="Text 28"/>
          <p:cNvSpPr/>
          <p:nvPr/>
        </p:nvSpPr>
        <p:spPr>
          <a:xfrm>
            <a:off x="7132320" y="3364992"/>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The strongest novel contribution — formal defs, necessity claim, coverage theorem.</a:t>
            </a:r>
            <a:endParaRPr lang="en-US" sz="1000" dirty="0"/>
          </a:p>
        </p:txBody>
      </p:sp>
      <p:sp>
        <p:nvSpPr>
          <p:cNvPr id="31" name="Shape 29"/>
          <p:cNvSpPr/>
          <p:nvPr/>
        </p:nvSpPr>
        <p:spPr>
          <a:xfrm>
            <a:off x="457200" y="3986784"/>
            <a:ext cx="5486400" cy="960120"/>
          </a:xfrm>
          <a:prstGeom prst="rect">
            <a:avLst/>
          </a:prstGeom>
          <a:solidFill>
            <a:srgbClr val="FFFFFF"/>
          </a:solidFill>
          <a:ln w="12700">
            <a:solidFill>
              <a:srgbClr val="C9D6EC"/>
            </a:solidFill>
            <a:prstDash val="solid"/>
          </a:ln>
        </p:spPr>
      </p:sp>
      <p:sp>
        <p:nvSpPr>
          <p:cNvPr id="32" name="Text 30"/>
          <p:cNvSpPr/>
          <p:nvPr/>
        </p:nvSpPr>
        <p:spPr>
          <a:xfrm>
            <a:off x="594360" y="4123944"/>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§5</a:t>
            </a:r>
            <a:endParaRPr lang="en-US" sz="2400" dirty="0"/>
          </a:p>
        </p:txBody>
      </p:sp>
      <p:sp>
        <p:nvSpPr>
          <p:cNvPr id="33" name="Text 31"/>
          <p:cNvSpPr/>
          <p:nvPr/>
        </p:nvSpPr>
        <p:spPr>
          <a:xfrm>
            <a:off x="1325880" y="4078224"/>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Evaluation</a:t>
            </a:r>
            <a:endParaRPr lang="en-US" sz="1400" dirty="0"/>
          </a:p>
        </p:txBody>
      </p:sp>
      <p:sp>
        <p:nvSpPr>
          <p:cNvPr id="34" name="Shape 32"/>
          <p:cNvSpPr/>
          <p:nvPr/>
        </p:nvSpPr>
        <p:spPr>
          <a:xfrm>
            <a:off x="4617720" y="4151376"/>
            <a:ext cx="1188720" cy="292608"/>
          </a:xfrm>
          <a:prstGeom prst="roundRect">
            <a:avLst>
              <a:gd name="adj" fmla="val 12500"/>
            </a:avLst>
          </a:prstGeom>
          <a:solidFill>
            <a:srgbClr val="E63946"/>
          </a:solidFill>
          <a:ln w="12700">
            <a:solidFill>
              <a:srgbClr val="333333"/>
            </a:solidFill>
            <a:prstDash val="solid"/>
          </a:ln>
        </p:spPr>
      </p:sp>
      <p:sp>
        <p:nvSpPr>
          <p:cNvPr id="35" name="Text 33"/>
          <p:cNvSpPr/>
          <p:nvPr/>
        </p:nvSpPr>
        <p:spPr>
          <a:xfrm>
            <a:off x="4617720" y="4151376"/>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PENDING</a:t>
            </a:r>
            <a:endParaRPr lang="en-US" sz="900" dirty="0"/>
          </a:p>
        </p:txBody>
      </p:sp>
      <p:sp>
        <p:nvSpPr>
          <p:cNvPr id="36" name="Text 34"/>
          <p:cNvSpPr/>
          <p:nvPr/>
        </p:nvSpPr>
        <p:spPr>
          <a:xfrm>
            <a:off x="1325880" y="4443984"/>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Awaiting benchmark numbers from Workstream D. Skeleton in place.</a:t>
            </a:r>
            <a:endParaRPr lang="en-US" sz="1000" dirty="0"/>
          </a:p>
        </p:txBody>
      </p:sp>
      <p:sp>
        <p:nvSpPr>
          <p:cNvPr id="37" name="Shape 35"/>
          <p:cNvSpPr/>
          <p:nvPr/>
        </p:nvSpPr>
        <p:spPr>
          <a:xfrm>
            <a:off x="6263640" y="3986784"/>
            <a:ext cx="5486400" cy="960120"/>
          </a:xfrm>
          <a:prstGeom prst="rect">
            <a:avLst/>
          </a:prstGeom>
          <a:solidFill>
            <a:srgbClr val="FFFFFF"/>
          </a:solidFill>
          <a:ln w="12700">
            <a:solidFill>
              <a:srgbClr val="C9D6EC"/>
            </a:solidFill>
            <a:prstDash val="solid"/>
          </a:ln>
        </p:spPr>
      </p:sp>
      <p:sp>
        <p:nvSpPr>
          <p:cNvPr id="38" name="Text 36"/>
          <p:cNvSpPr/>
          <p:nvPr/>
        </p:nvSpPr>
        <p:spPr>
          <a:xfrm>
            <a:off x="6400800" y="4123944"/>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§6</a:t>
            </a:r>
            <a:endParaRPr lang="en-US" sz="2400" dirty="0"/>
          </a:p>
        </p:txBody>
      </p:sp>
      <p:sp>
        <p:nvSpPr>
          <p:cNvPr id="39" name="Text 37"/>
          <p:cNvSpPr/>
          <p:nvPr/>
        </p:nvSpPr>
        <p:spPr>
          <a:xfrm>
            <a:off x="7132320" y="4078224"/>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Related Work</a:t>
            </a:r>
            <a:endParaRPr lang="en-US" sz="1400" dirty="0"/>
          </a:p>
        </p:txBody>
      </p:sp>
      <p:sp>
        <p:nvSpPr>
          <p:cNvPr id="40" name="Shape 38"/>
          <p:cNvSpPr/>
          <p:nvPr/>
        </p:nvSpPr>
        <p:spPr>
          <a:xfrm>
            <a:off x="10424160" y="4151376"/>
            <a:ext cx="1188720" cy="292608"/>
          </a:xfrm>
          <a:prstGeom prst="roundRect">
            <a:avLst>
              <a:gd name="adj" fmla="val 12500"/>
            </a:avLst>
          </a:prstGeom>
          <a:solidFill>
            <a:srgbClr val="2A9D8F"/>
          </a:solidFill>
          <a:ln w="12700">
            <a:solidFill>
              <a:srgbClr val="333333"/>
            </a:solidFill>
            <a:prstDash val="solid"/>
          </a:ln>
        </p:spPr>
      </p:sp>
      <p:sp>
        <p:nvSpPr>
          <p:cNvPr id="41" name="Text 39"/>
          <p:cNvSpPr/>
          <p:nvPr/>
        </p:nvSpPr>
        <p:spPr>
          <a:xfrm>
            <a:off x="10424160" y="4151376"/>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DRAFTED</a:t>
            </a:r>
            <a:endParaRPr lang="en-US" sz="900" dirty="0"/>
          </a:p>
        </p:txBody>
      </p:sp>
      <p:sp>
        <p:nvSpPr>
          <p:cNvPr id="42" name="Text 40"/>
          <p:cNvSpPr/>
          <p:nvPr/>
        </p:nvSpPr>
        <p:spPr>
          <a:xfrm>
            <a:off x="7132320" y="4443984"/>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12 paragraphs in related_work.md, each with explicit differentiation.</a:t>
            </a:r>
            <a:endParaRPr lang="en-US" sz="1000" dirty="0"/>
          </a:p>
        </p:txBody>
      </p:sp>
      <p:sp>
        <p:nvSpPr>
          <p:cNvPr id="43" name="Shape 41"/>
          <p:cNvSpPr/>
          <p:nvPr/>
        </p:nvSpPr>
        <p:spPr>
          <a:xfrm>
            <a:off x="457200" y="5065776"/>
            <a:ext cx="5486400" cy="960120"/>
          </a:xfrm>
          <a:prstGeom prst="rect">
            <a:avLst/>
          </a:prstGeom>
          <a:solidFill>
            <a:srgbClr val="FFFFFF"/>
          </a:solidFill>
          <a:ln w="12700">
            <a:solidFill>
              <a:srgbClr val="C9D6EC"/>
            </a:solidFill>
            <a:prstDash val="solid"/>
          </a:ln>
        </p:spPr>
      </p:sp>
      <p:sp>
        <p:nvSpPr>
          <p:cNvPr id="44" name="Text 42"/>
          <p:cNvSpPr/>
          <p:nvPr/>
        </p:nvSpPr>
        <p:spPr>
          <a:xfrm>
            <a:off x="594360" y="5202936"/>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§7</a:t>
            </a:r>
            <a:endParaRPr lang="en-US" sz="2400" dirty="0"/>
          </a:p>
        </p:txBody>
      </p:sp>
      <p:sp>
        <p:nvSpPr>
          <p:cNvPr id="45" name="Text 43"/>
          <p:cNvSpPr/>
          <p:nvPr/>
        </p:nvSpPr>
        <p:spPr>
          <a:xfrm>
            <a:off x="1325880" y="5157216"/>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Limitations</a:t>
            </a:r>
            <a:endParaRPr lang="en-US" sz="1400" dirty="0"/>
          </a:p>
        </p:txBody>
      </p:sp>
      <p:sp>
        <p:nvSpPr>
          <p:cNvPr id="46" name="Shape 44"/>
          <p:cNvSpPr/>
          <p:nvPr/>
        </p:nvSpPr>
        <p:spPr>
          <a:xfrm>
            <a:off x="4617720" y="5230368"/>
            <a:ext cx="1188720" cy="292608"/>
          </a:xfrm>
          <a:prstGeom prst="roundRect">
            <a:avLst>
              <a:gd name="adj" fmla="val 12500"/>
            </a:avLst>
          </a:prstGeom>
          <a:solidFill>
            <a:srgbClr val="E9C46A"/>
          </a:solidFill>
          <a:ln w="12700">
            <a:solidFill>
              <a:srgbClr val="333333"/>
            </a:solidFill>
            <a:prstDash val="solid"/>
          </a:ln>
        </p:spPr>
      </p:sp>
      <p:sp>
        <p:nvSpPr>
          <p:cNvPr id="47" name="Text 45"/>
          <p:cNvSpPr/>
          <p:nvPr/>
        </p:nvSpPr>
        <p:spPr>
          <a:xfrm>
            <a:off x="4617720" y="5230368"/>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STUB</a:t>
            </a:r>
            <a:endParaRPr lang="en-US" sz="900" dirty="0"/>
          </a:p>
        </p:txBody>
      </p:sp>
      <p:sp>
        <p:nvSpPr>
          <p:cNvPr id="48" name="Text 46"/>
          <p:cNvSpPr/>
          <p:nvPr/>
        </p:nvSpPr>
        <p:spPr>
          <a:xfrm>
            <a:off x="1325880" y="5522976"/>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Honest about overfitting story, single-vector cosine ceiling, minister independence untested.</a:t>
            </a:r>
            <a:endParaRPr lang="en-US" sz="1000" dirty="0"/>
          </a:p>
        </p:txBody>
      </p:sp>
      <p:sp>
        <p:nvSpPr>
          <p:cNvPr id="49" name="Shape 47"/>
          <p:cNvSpPr/>
          <p:nvPr/>
        </p:nvSpPr>
        <p:spPr>
          <a:xfrm>
            <a:off x="6263640" y="5065776"/>
            <a:ext cx="5486400" cy="960120"/>
          </a:xfrm>
          <a:prstGeom prst="rect">
            <a:avLst/>
          </a:prstGeom>
          <a:solidFill>
            <a:srgbClr val="FFFFFF"/>
          </a:solidFill>
          <a:ln w="12700">
            <a:solidFill>
              <a:srgbClr val="C9D6EC"/>
            </a:solidFill>
            <a:prstDash val="solid"/>
          </a:ln>
        </p:spPr>
      </p:sp>
      <p:sp>
        <p:nvSpPr>
          <p:cNvPr id="50" name="Text 48"/>
          <p:cNvSpPr/>
          <p:nvPr/>
        </p:nvSpPr>
        <p:spPr>
          <a:xfrm>
            <a:off x="6400800" y="5202936"/>
            <a:ext cx="731520" cy="731520"/>
          </a:xfrm>
          <a:prstGeom prst="rect">
            <a:avLst/>
          </a:prstGeom>
          <a:noFill/>
          <a:ln/>
        </p:spPr>
        <p:txBody>
          <a:bodyPr wrap="square" lIns="0" tIns="0" rIns="0" bIns="0" rtlCol="0" anchor="ctr"/>
          <a:lstStyle/>
          <a:p>
            <a:pPr algn="ctr" indent="0" marL="0">
              <a:buNone/>
            </a:pPr>
            <a:r>
              <a:rPr lang="en-US" sz="2400" b="1" dirty="0">
                <a:solidFill>
                  <a:srgbClr val="0B1C3A"/>
                </a:solidFill>
                <a:latin typeface="Georgia" pitchFamily="34" charset="0"/>
                <a:ea typeface="Georgia" pitchFamily="34" charset="-122"/>
                <a:cs typeface="Georgia" pitchFamily="34" charset="-120"/>
              </a:rPr>
              <a:t>§8</a:t>
            </a:r>
            <a:endParaRPr lang="en-US" sz="2400" dirty="0"/>
          </a:p>
        </p:txBody>
      </p:sp>
      <p:sp>
        <p:nvSpPr>
          <p:cNvPr id="51" name="Text 49"/>
          <p:cNvSpPr/>
          <p:nvPr/>
        </p:nvSpPr>
        <p:spPr>
          <a:xfrm>
            <a:off x="7132320" y="5157216"/>
            <a:ext cx="3154680" cy="36576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Future Work</a:t>
            </a:r>
            <a:endParaRPr lang="en-US" sz="1400" dirty="0"/>
          </a:p>
        </p:txBody>
      </p:sp>
      <p:sp>
        <p:nvSpPr>
          <p:cNvPr id="52" name="Shape 50"/>
          <p:cNvSpPr/>
          <p:nvPr/>
        </p:nvSpPr>
        <p:spPr>
          <a:xfrm>
            <a:off x="10424160" y="5230368"/>
            <a:ext cx="1188720" cy="292608"/>
          </a:xfrm>
          <a:prstGeom prst="roundRect">
            <a:avLst>
              <a:gd name="adj" fmla="val 12500"/>
            </a:avLst>
          </a:prstGeom>
          <a:solidFill>
            <a:srgbClr val="E9C46A"/>
          </a:solidFill>
          <a:ln w="12700">
            <a:solidFill>
              <a:srgbClr val="333333"/>
            </a:solidFill>
            <a:prstDash val="solid"/>
          </a:ln>
        </p:spPr>
      </p:sp>
      <p:sp>
        <p:nvSpPr>
          <p:cNvPr id="53" name="Text 51"/>
          <p:cNvSpPr/>
          <p:nvPr/>
        </p:nvSpPr>
        <p:spPr>
          <a:xfrm>
            <a:off x="10424160" y="5230368"/>
            <a:ext cx="1188720" cy="292608"/>
          </a:xfrm>
          <a:prstGeom prst="rect">
            <a:avLst/>
          </a:prstGeom>
          <a:noFill/>
          <a:ln/>
        </p:spPr>
        <p:txBody>
          <a:bodyPr wrap="square" lIns="0" tIns="0" rIns="0" bIns="0" rtlCol="0" anchor="ctr"/>
          <a:lstStyle/>
          <a:p>
            <a:pPr algn="ctr" indent="0" marL="0">
              <a:buNone/>
            </a:pPr>
            <a:r>
              <a:rPr lang="en-US" sz="900" b="1" spc="300" kern="0" dirty="0">
                <a:solidFill>
                  <a:srgbClr val="ECF1F9"/>
                </a:solidFill>
                <a:latin typeface="Calibri" pitchFamily="34" charset="0"/>
                <a:ea typeface="Calibri" pitchFamily="34" charset="-122"/>
                <a:cs typeface="Calibri" pitchFamily="34" charset="-120"/>
              </a:rPr>
              <a:t>STUB</a:t>
            </a:r>
            <a:endParaRPr lang="en-US" sz="900" dirty="0"/>
          </a:p>
        </p:txBody>
      </p:sp>
      <p:sp>
        <p:nvSpPr>
          <p:cNvPr id="54" name="Text 52"/>
          <p:cNvSpPr/>
          <p:nvPr/>
        </p:nvSpPr>
        <p:spPr>
          <a:xfrm>
            <a:off x="7132320" y="5522976"/>
            <a:ext cx="4480560"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CORTEX, SUPPLY, federated corpus, MCP-Security spec.</a:t>
            </a:r>
            <a:endParaRPr lang="en-US" sz="1000" dirty="0"/>
          </a:p>
        </p:txBody>
      </p:sp>
      <p:sp>
        <p:nvSpPr>
          <p:cNvPr id="55" name="Shape 53"/>
          <p:cNvSpPr/>
          <p:nvPr/>
        </p:nvSpPr>
        <p:spPr>
          <a:xfrm>
            <a:off x="457200" y="6263640"/>
            <a:ext cx="11247120" cy="365760"/>
          </a:xfrm>
          <a:prstGeom prst="rect">
            <a:avLst/>
          </a:prstGeom>
          <a:solidFill>
            <a:srgbClr val="0B1C3A"/>
          </a:solidFill>
          <a:ln w="12700">
            <a:solidFill>
              <a:srgbClr val="333333"/>
            </a:solidFill>
            <a:prstDash val="solid"/>
          </a:ln>
        </p:spPr>
      </p:sp>
      <p:sp>
        <p:nvSpPr>
          <p:cNvPr id="56" name="Text 54"/>
          <p:cNvSpPr/>
          <p:nvPr/>
        </p:nvSpPr>
        <p:spPr>
          <a:xfrm>
            <a:off x="457200" y="6263640"/>
            <a:ext cx="11247120" cy="365760"/>
          </a:xfrm>
          <a:prstGeom prst="rect">
            <a:avLst/>
          </a:prstGeom>
          <a:noFill/>
          <a:ln/>
        </p:spPr>
        <p:txBody>
          <a:bodyPr wrap="square" lIns="0" tIns="0" rIns="0" bIns="0" rtlCol="0" anchor="ctr"/>
          <a:lstStyle/>
          <a:p>
            <a:pPr algn="ctr" indent="0" marL="0">
              <a:buNone/>
            </a:pPr>
            <a:r>
              <a:rPr lang="en-US" sz="1000" b="1" spc="300" kern="0" dirty="0">
                <a:solidFill>
                  <a:srgbClr val="7FB0FF"/>
                </a:solidFill>
                <a:latin typeface="Calibri" pitchFamily="34" charset="0"/>
                <a:ea typeface="Calibri" pitchFamily="34" charset="-122"/>
                <a:cs typeface="Calibri" pitchFamily="34" charset="-120"/>
              </a:rPr>
              <a:t>TARGET VENUES   </a:t>
            </a:r>
            <a:pPr algn="ctr" indent="0" marL="0">
              <a:buNone/>
            </a:pPr>
            <a:r>
              <a:rPr lang="en-US" sz="1100" dirty="0">
                <a:solidFill>
                  <a:srgbClr val="ECF1F9"/>
                </a:solidFill>
                <a:latin typeface="Calibri" pitchFamily="34" charset="0"/>
                <a:ea typeface="Calibri" pitchFamily="34" charset="-122"/>
                <a:cs typeface="Calibri" pitchFamily="34" charset="-120"/>
              </a:rPr>
              <a:t>ICML 2026 Workshop  →  MASEC@NeurIPS 2026  →  SaTML 2027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16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15  ·  WORKSTREAM STATUS</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Where each workstream stands</a:t>
            </a:r>
            <a:endParaRPr lang="en-US" sz="3000" dirty="0"/>
          </a:p>
        </p:txBody>
      </p:sp>
      <p:sp>
        <p:nvSpPr>
          <p:cNvPr id="6" name="Shape 4"/>
          <p:cNvSpPr/>
          <p:nvPr/>
        </p:nvSpPr>
        <p:spPr>
          <a:xfrm>
            <a:off x="457200" y="1554480"/>
            <a:ext cx="11247120" cy="868680"/>
          </a:xfrm>
          <a:prstGeom prst="rect">
            <a:avLst/>
          </a:prstGeom>
          <a:solidFill>
            <a:srgbClr val="FFFFFF"/>
          </a:solidFill>
          <a:ln w="12700">
            <a:solidFill>
              <a:srgbClr val="C9D6EC"/>
            </a:solidFill>
            <a:prstDash val="solid"/>
          </a:ln>
        </p:spPr>
      </p:sp>
      <p:sp>
        <p:nvSpPr>
          <p:cNvPr id="7" name="Shape 5"/>
          <p:cNvSpPr/>
          <p:nvPr/>
        </p:nvSpPr>
        <p:spPr>
          <a:xfrm>
            <a:off x="457200" y="1554480"/>
            <a:ext cx="731520" cy="868680"/>
          </a:xfrm>
          <a:prstGeom prst="rect">
            <a:avLst/>
          </a:prstGeom>
          <a:solidFill>
            <a:srgbClr val="0B1C3A"/>
          </a:solidFill>
          <a:ln w="12700">
            <a:solidFill>
              <a:srgbClr val="333333"/>
            </a:solidFill>
            <a:prstDash val="solid"/>
          </a:ln>
        </p:spPr>
      </p:sp>
      <p:sp>
        <p:nvSpPr>
          <p:cNvPr id="8" name="Text 6"/>
          <p:cNvSpPr/>
          <p:nvPr/>
        </p:nvSpPr>
        <p:spPr>
          <a:xfrm>
            <a:off x="457200" y="1554480"/>
            <a:ext cx="731520" cy="868680"/>
          </a:xfrm>
          <a:prstGeom prst="rect">
            <a:avLst/>
          </a:prstGeom>
          <a:noFill/>
          <a:ln/>
        </p:spPr>
        <p:txBody>
          <a:bodyPr wrap="square" lIns="0" tIns="0" rIns="0" bIns="0" rtlCol="0" anchor="ctr"/>
          <a:lstStyle/>
          <a:p>
            <a:pPr algn="ctr" indent="0" marL="0">
              <a:buNone/>
            </a:pPr>
            <a:r>
              <a:rPr lang="en-US" sz="3600" b="1" dirty="0">
                <a:solidFill>
                  <a:srgbClr val="ECF1F9"/>
                </a:solidFill>
                <a:latin typeface="Georgia" pitchFamily="34" charset="0"/>
                <a:ea typeface="Georgia" pitchFamily="34" charset="-122"/>
                <a:cs typeface="Georgia" pitchFamily="34" charset="-120"/>
              </a:rPr>
              <a:t>A</a:t>
            </a:r>
            <a:endParaRPr lang="en-US" sz="3600" dirty="0"/>
          </a:p>
        </p:txBody>
      </p:sp>
      <p:sp>
        <p:nvSpPr>
          <p:cNvPr id="9" name="Text 7"/>
          <p:cNvSpPr/>
          <p:nvPr/>
        </p:nvSpPr>
        <p:spPr>
          <a:xfrm>
            <a:off x="1371600" y="1645920"/>
            <a:ext cx="5029200" cy="32004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OpenClaw PR-1</a:t>
            </a:r>
            <a:endParaRPr lang="en-US" sz="1400" dirty="0"/>
          </a:p>
        </p:txBody>
      </p:sp>
      <p:sp>
        <p:nvSpPr>
          <p:cNvPr id="10" name="Text 8"/>
          <p:cNvSpPr/>
          <p:nvPr/>
        </p:nvSpPr>
        <p:spPr>
          <a:xfrm>
            <a:off x="1371600" y="1965960"/>
            <a:ext cx="5029200" cy="228600"/>
          </a:xfrm>
          <a:prstGeom prst="rect">
            <a:avLst/>
          </a:prstGeom>
          <a:noFill/>
          <a:ln/>
        </p:spPr>
        <p:txBody>
          <a:bodyPr wrap="square" lIns="0" tIns="0" rIns="0" bIns="0" rtlCol="0" anchor="ctr"/>
          <a:lstStyle/>
          <a:p>
            <a:pPr indent="0" marL="0">
              <a:buNone/>
            </a:pPr>
            <a:r>
              <a:rPr lang="en-US" sz="900" spc="300" kern="0" dirty="0">
                <a:solidFill>
                  <a:srgbClr val="5A6B85"/>
                </a:solidFill>
                <a:latin typeface="Calibri" pitchFamily="34" charset="0"/>
                <a:ea typeface="Calibri" pitchFamily="34" charset="-122"/>
                <a:cs typeface="Calibri" pitchFamily="34" charset="-120"/>
              </a:rPr>
              <a:t>OWNER  ·  Parv + Ishani</a:t>
            </a:r>
            <a:endParaRPr lang="en-US" sz="900" dirty="0"/>
          </a:p>
        </p:txBody>
      </p:sp>
      <p:sp>
        <p:nvSpPr>
          <p:cNvPr id="11" name="Text 9"/>
          <p:cNvSpPr/>
          <p:nvPr/>
        </p:nvSpPr>
        <p:spPr>
          <a:xfrm>
            <a:off x="1371600" y="2148840"/>
            <a:ext cx="5029200" cy="2743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Patch for #5513 + #5943 with vitest regressions written. Awaiting upstream review.</a:t>
            </a:r>
            <a:endParaRPr lang="en-US" sz="1000" dirty="0"/>
          </a:p>
        </p:txBody>
      </p:sp>
      <p:sp>
        <p:nvSpPr>
          <p:cNvPr id="12" name="Shape 10"/>
          <p:cNvSpPr/>
          <p:nvPr/>
        </p:nvSpPr>
        <p:spPr>
          <a:xfrm>
            <a:off x="6675120" y="1965960"/>
            <a:ext cx="3657600" cy="274320"/>
          </a:xfrm>
          <a:prstGeom prst="rect">
            <a:avLst/>
          </a:prstGeom>
          <a:solidFill>
            <a:srgbClr val="ECF1F9"/>
          </a:solidFill>
          <a:ln w="6350">
            <a:solidFill>
              <a:srgbClr val="C9D6EC"/>
            </a:solidFill>
            <a:prstDash val="solid"/>
          </a:ln>
        </p:spPr>
      </p:sp>
      <p:sp>
        <p:nvSpPr>
          <p:cNvPr id="13" name="Shape 11"/>
          <p:cNvSpPr/>
          <p:nvPr/>
        </p:nvSpPr>
        <p:spPr>
          <a:xfrm>
            <a:off x="6675120" y="1965960"/>
            <a:ext cx="2194560" cy="274320"/>
          </a:xfrm>
          <a:prstGeom prst="rect">
            <a:avLst/>
          </a:prstGeom>
          <a:solidFill>
            <a:srgbClr val="E63946"/>
          </a:solidFill>
          <a:ln w="12700">
            <a:solidFill>
              <a:srgbClr val="333333"/>
            </a:solidFill>
            <a:prstDash val="solid"/>
          </a:ln>
        </p:spPr>
      </p:sp>
      <p:sp>
        <p:nvSpPr>
          <p:cNvPr id="14" name="Text 12"/>
          <p:cNvSpPr/>
          <p:nvPr/>
        </p:nvSpPr>
        <p:spPr>
          <a:xfrm>
            <a:off x="6675120" y="1965960"/>
            <a:ext cx="3657600" cy="274320"/>
          </a:xfrm>
          <a:prstGeom prst="rect">
            <a:avLst/>
          </a:prstGeom>
          <a:noFill/>
          <a:ln/>
        </p:spPr>
        <p:txBody>
          <a:bodyPr wrap="square" lIns="0" tIns="0" rIns="0" bIns="0" rtlCol="0" anchor="ctr"/>
          <a:lstStyle/>
          <a:p>
            <a:pPr algn="ctr" indent="0" marL="0">
              <a:buNone/>
            </a:pPr>
            <a:r>
              <a:rPr lang="en-US" sz="1100" b="1" dirty="0">
                <a:solidFill>
                  <a:srgbClr val="0B1C3A"/>
                </a:solidFill>
                <a:latin typeface="Calibri" pitchFamily="34" charset="0"/>
                <a:ea typeface="Calibri" pitchFamily="34" charset="-122"/>
                <a:cs typeface="Calibri" pitchFamily="34" charset="-120"/>
              </a:rPr>
              <a:t>60%</a:t>
            </a:r>
            <a:endParaRPr lang="en-US" sz="1100" dirty="0"/>
          </a:p>
        </p:txBody>
      </p:sp>
      <p:sp>
        <p:nvSpPr>
          <p:cNvPr id="15" name="Text 13"/>
          <p:cNvSpPr/>
          <p:nvPr/>
        </p:nvSpPr>
        <p:spPr>
          <a:xfrm>
            <a:off x="6675120" y="2267712"/>
            <a:ext cx="3657600" cy="182880"/>
          </a:xfrm>
          <a:prstGeom prst="rect">
            <a:avLst/>
          </a:prstGeom>
          <a:noFill/>
          <a:ln/>
        </p:spPr>
        <p:txBody>
          <a:bodyPr wrap="square" lIns="0" tIns="0" rIns="0" bIns="0" rtlCol="0" anchor="ctr"/>
          <a:lstStyle/>
          <a:p>
            <a:pPr algn="ctr" indent="0" marL="0">
              <a:buNone/>
            </a:pPr>
            <a:r>
              <a:rPr lang="en-US" sz="900" b="1" i="1" dirty="0">
                <a:solidFill>
                  <a:srgbClr val="E63946"/>
                </a:solidFill>
                <a:latin typeface="Calibri" pitchFamily="34" charset="0"/>
                <a:ea typeface="Calibri" pitchFamily="34" charset="-122"/>
                <a:cs typeface="Calibri" pitchFamily="34" charset="-120"/>
              </a:rPr>
              <a:t>spec ready</a:t>
            </a:r>
            <a:endParaRPr lang="en-US" sz="900" dirty="0"/>
          </a:p>
        </p:txBody>
      </p:sp>
      <p:sp>
        <p:nvSpPr>
          <p:cNvPr id="16" name="Shape 14"/>
          <p:cNvSpPr/>
          <p:nvPr/>
        </p:nvSpPr>
        <p:spPr>
          <a:xfrm>
            <a:off x="10515600" y="1554480"/>
            <a:ext cx="1188720" cy="868680"/>
          </a:xfrm>
          <a:prstGeom prst="rect">
            <a:avLst/>
          </a:prstGeom>
          <a:solidFill>
            <a:srgbClr val="E63946"/>
          </a:solidFill>
          <a:ln w="12700">
            <a:solidFill>
              <a:srgbClr val="333333"/>
            </a:solidFill>
            <a:prstDash val="solid"/>
          </a:ln>
        </p:spPr>
      </p:sp>
      <p:sp>
        <p:nvSpPr>
          <p:cNvPr id="17" name="Text 15"/>
          <p:cNvSpPr/>
          <p:nvPr/>
        </p:nvSpPr>
        <p:spPr>
          <a:xfrm>
            <a:off x="10515600" y="1554480"/>
            <a:ext cx="1188720" cy="868680"/>
          </a:xfrm>
          <a:prstGeom prst="rect">
            <a:avLst/>
          </a:prstGeom>
          <a:noFill/>
          <a:ln/>
        </p:spPr>
        <p:txBody>
          <a:bodyPr wrap="square" lIns="0" tIns="0" rIns="0" bIns="0" rtlCol="0" anchor="ctr"/>
          <a:lstStyle/>
          <a:p>
            <a:pPr algn="ctr" indent="0" marL="0">
              <a:buNone/>
            </a:pPr>
            <a:r>
              <a:rPr lang="en-US" sz="1100" b="1" spc="300" kern="0" dirty="0">
                <a:solidFill>
                  <a:srgbClr val="ECF1F9"/>
                </a:solidFill>
                <a:latin typeface="Calibri" pitchFamily="34" charset="0"/>
                <a:ea typeface="Calibri" pitchFamily="34" charset="-122"/>
                <a:cs typeface="Calibri" pitchFamily="34" charset="-120"/>
              </a:rPr>
              <a:t>IN PROGRESS</a:t>
            </a:r>
            <a:endParaRPr lang="en-US" sz="1100" dirty="0"/>
          </a:p>
        </p:txBody>
      </p:sp>
      <p:sp>
        <p:nvSpPr>
          <p:cNvPr id="18" name="Shape 16"/>
          <p:cNvSpPr/>
          <p:nvPr/>
        </p:nvSpPr>
        <p:spPr>
          <a:xfrm>
            <a:off x="457200" y="2514600"/>
            <a:ext cx="11247120" cy="868680"/>
          </a:xfrm>
          <a:prstGeom prst="rect">
            <a:avLst/>
          </a:prstGeom>
          <a:solidFill>
            <a:srgbClr val="FFFFFF"/>
          </a:solidFill>
          <a:ln w="12700">
            <a:solidFill>
              <a:srgbClr val="C9D6EC"/>
            </a:solidFill>
            <a:prstDash val="solid"/>
          </a:ln>
        </p:spPr>
      </p:sp>
      <p:sp>
        <p:nvSpPr>
          <p:cNvPr id="19" name="Shape 17"/>
          <p:cNvSpPr/>
          <p:nvPr/>
        </p:nvSpPr>
        <p:spPr>
          <a:xfrm>
            <a:off x="457200" y="2514600"/>
            <a:ext cx="731520" cy="868680"/>
          </a:xfrm>
          <a:prstGeom prst="rect">
            <a:avLst/>
          </a:prstGeom>
          <a:solidFill>
            <a:srgbClr val="0B1C3A"/>
          </a:solidFill>
          <a:ln w="12700">
            <a:solidFill>
              <a:srgbClr val="333333"/>
            </a:solidFill>
            <a:prstDash val="solid"/>
          </a:ln>
        </p:spPr>
      </p:sp>
      <p:sp>
        <p:nvSpPr>
          <p:cNvPr id="20" name="Text 18"/>
          <p:cNvSpPr/>
          <p:nvPr/>
        </p:nvSpPr>
        <p:spPr>
          <a:xfrm>
            <a:off x="457200" y="2514600"/>
            <a:ext cx="731520" cy="868680"/>
          </a:xfrm>
          <a:prstGeom prst="rect">
            <a:avLst/>
          </a:prstGeom>
          <a:noFill/>
          <a:ln/>
        </p:spPr>
        <p:txBody>
          <a:bodyPr wrap="square" lIns="0" tIns="0" rIns="0" bIns="0" rtlCol="0" anchor="ctr"/>
          <a:lstStyle/>
          <a:p>
            <a:pPr algn="ctr" indent="0" marL="0">
              <a:buNone/>
            </a:pPr>
            <a:r>
              <a:rPr lang="en-US" sz="3600" b="1" dirty="0">
                <a:solidFill>
                  <a:srgbClr val="ECF1F9"/>
                </a:solidFill>
                <a:latin typeface="Georgia" pitchFamily="34" charset="0"/>
                <a:ea typeface="Georgia" pitchFamily="34" charset="-122"/>
                <a:cs typeface="Georgia" pitchFamily="34" charset="-120"/>
              </a:rPr>
              <a:t>B</a:t>
            </a:r>
            <a:endParaRPr lang="en-US" sz="3600" dirty="0"/>
          </a:p>
        </p:txBody>
      </p:sp>
      <p:sp>
        <p:nvSpPr>
          <p:cNvPr id="21" name="Text 19"/>
          <p:cNvSpPr/>
          <p:nvPr/>
        </p:nvSpPr>
        <p:spPr>
          <a:xfrm>
            <a:off x="1371600" y="2606040"/>
            <a:ext cx="5029200" cy="32004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Parliament FastAPI service</a:t>
            </a:r>
            <a:endParaRPr lang="en-US" sz="1400" dirty="0"/>
          </a:p>
        </p:txBody>
      </p:sp>
      <p:sp>
        <p:nvSpPr>
          <p:cNvPr id="22" name="Text 20"/>
          <p:cNvSpPr/>
          <p:nvPr/>
        </p:nvSpPr>
        <p:spPr>
          <a:xfrm>
            <a:off x="1371600" y="2926080"/>
            <a:ext cx="5029200" cy="228600"/>
          </a:xfrm>
          <a:prstGeom prst="rect">
            <a:avLst/>
          </a:prstGeom>
          <a:noFill/>
          <a:ln/>
        </p:spPr>
        <p:txBody>
          <a:bodyPr wrap="square" lIns="0" tIns="0" rIns="0" bIns="0" rtlCol="0" anchor="ctr"/>
          <a:lstStyle/>
          <a:p>
            <a:pPr indent="0" marL="0">
              <a:buNone/>
            </a:pPr>
            <a:r>
              <a:rPr lang="en-US" sz="900" spc="300" kern="0" dirty="0">
                <a:solidFill>
                  <a:srgbClr val="5A6B85"/>
                </a:solidFill>
                <a:latin typeface="Calibri" pitchFamily="34" charset="0"/>
                <a:ea typeface="Calibri" pitchFamily="34" charset="-122"/>
                <a:cs typeface="Calibri" pitchFamily="34" charset="-120"/>
              </a:rPr>
              <a:t>OWNER  ·  Ishani</a:t>
            </a:r>
            <a:endParaRPr lang="en-US" sz="900" dirty="0"/>
          </a:p>
        </p:txBody>
      </p:sp>
      <p:sp>
        <p:nvSpPr>
          <p:cNvPr id="23" name="Text 21"/>
          <p:cNvSpPr/>
          <p:nvPr/>
        </p:nvSpPr>
        <p:spPr>
          <a:xfrm>
            <a:off x="1371600" y="3108960"/>
            <a:ext cx="5029200" cy="2743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Service runs. Smoke test passes against synthetic. Needs lab run against full corpus.</a:t>
            </a:r>
            <a:endParaRPr lang="en-US" sz="1000" dirty="0"/>
          </a:p>
        </p:txBody>
      </p:sp>
      <p:sp>
        <p:nvSpPr>
          <p:cNvPr id="24" name="Shape 22"/>
          <p:cNvSpPr/>
          <p:nvPr/>
        </p:nvSpPr>
        <p:spPr>
          <a:xfrm>
            <a:off x="6675120" y="2926080"/>
            <a:ext cx="3657600" cy="274320"/>
          </a:xfrm>
          <a:prstGeom prst="rect">
            <a:avLst/>
          </a:prstGeom>
          <a:solidFill>
            <a:srgbClr val="ECF1F9"/>
          </a:solidFill>
          <a:ln w="6350">
            <a:solidFill>
              <a:srgbClr val="C9D6EC"/>
            </a:solidFill>
            <a:prstDash val="solid"/>
          </a:ln>
        </p:spPr>
      </p:sp>
      <p:sp>
        <p:nvSpPr>
          <p:cNvPr id="25" name="Shape 23"/>
          <p:cNvSpPr/>
          <p:nvPr/>
        </p:nvSpPr>
        <p:spPr>
          <a:xfrm>
            <a:off x="6675120" y="2926080"/>
            <a:ext cx="3291840" cy="274320"/>
          </a:xfrm>
          <a:prstGeom prst="rect">
            <a:avLst/>
          </a:prstGeom>
          <a:solidFill>
            <a:srgbClr val="2A9D8F"/>
          </a:solidFill>
          <a:ln w="12700">
            <a:solidFill>
              <a:srgbClr val="333333"/>
            </a:solidFill>
            <a:prstDash val="solid"/>
          </a:ln>
        </p:spPr>
      </p:sp>
      <p:sp>
        <p:nvSpPr>
          <p:cNvPr id="26" name="Text 24"/>
          <p:cNvSpPr/>
          <p:nvPr/>
        </p:nvSpPr>
        <p:spPr>
          <a:xfrm>
            <a:off x="6675120" y="2926080"/>
            <a:ext cx="3657600" cy="274320"/>
          </a:xfrm>
          <a:prstGeom prst="rect">
            <a:avLst/>
          </a:prstGeom>
          <a:noFill/>
          <a:ln/>
        </p:spPr>
        <p:txBody>
          <a:bodyPr wrap="square" lIns="0" tIns="0" rIns="0" bIns="0" rtlCol="0" anchor="ctr"/>
          <a:lstStyle/>
          <a:p>
            <a:pPr algn="ctr" indent="0" marL="0">
              <a:buNone/>
            </a:pPr>
            <a:r>
              <a:rPr lang="en-US" sz="1100" b="1" dirty="0">
                <a:solidFill>
                  <a:srgbClr val="0B1C3A"/>
                </a:solidFill>
                <a:latin typeface="Calibri" pitchFamily="34" charset="0"/>
                <a:ea typeface="Calibri" pitchFamily="34" charset="-122"/>
                <a:cs typeface="Calibri" pitchFamily="34" charset="-120"/>
              </a:rPr>
              <a:t>90%</a:t>
            </a:r>
            <a:endParaRPr lang="en-US" sz="1100" dirty="0"/>
          </a:p>
        </p:txBody>
      </p:sp>
      <p:sp>
        <p:nvSpPr>
          <p:cNvPr id="27" name="Text 25"/>
          <p:cNvSpPr/>
          <p:nvPr/>
        </p:nvSpPr>
        <p:spPr>
          <a:xfrm>
            <a:off x="6675120" y="3227832"/>
            <a:ext cx="3657600" cy="182880"/>
          </a:xfrm>
          <a:prstGeom prst="rect">
            <a:avLst/>
          </a:prstGeom>
          <a:noFill/>
          <a:ln/>
        </p:spPr>
        <p:txBody>
          <a:bodyPr wrap="square" lIns="0" tIns="0" rIns="0" bIns="0" rtlCol="0" anchor="ctr"/>
          <a:lstStyle/>
          <a:p>
            <a:pPr algn="ctr" indent="0" marL="0">
              <a:buNone/>
            </a:pPr>
            <a:r>
              <a:rPr lang="en-US" sz="900" b="1" i="1" dirty="0">
                <a:solidFill>
                  <a:srgbClr val="2A9D8F"/>
                </a:solidFill>
                <a:latin typeface="Calibri" pitchFamily="34" charset="0"/>
                <a:ea typeface="Calibri" pitchFamily="34" charset="-122"/>
                <a:cs typeface="Calibri" pitchFamily="34" charset="-120"/>
              </a:rPr>
              <a:t>code complete</a:t>
            </a:r>
            <a:endParaRPr lang="en-US" sz="900" dirty="0"/>
          </a:p>
        </p:txBody>
      </p:sp>
      <p:sp>
        <p:nvSpPr>
          <p:cNvPr id="28" name="Shape 26"/>
          <p:cNvSpPr/>
          <p:nvPr/>
        </p:nvSpPr>
        <p:spPr>
          <a:xfrm>
            <a:off x="10515600" y="2514600"/>
            <a:ext cx="1188720" cy="868680"/>
          </a:xfrm>
          <a:prstGeom prst="rect">
            <a:avLst/>
          </a:prstGeom>
          <a:solidFill>
            <a:srgbClr val="2A9D8F"/>
          </a:solidFill>
          <a:ln w="12700">
            <a:solidFill>
              <a:srgbClr val="333333"/>
            </a:solidFill>
            <a:prstDash val="solid"/>
          </a:ln>
        </p:spPr>
      </p:sp>
      <p:sp>
        <p:nvSpPr>
          <p:cNvPr id="29" name="Text 27"/>
          <p:cNvSpPr/>
          <p:nvPr/>
        </p:nvSpPr>
        <p:spPr>
          <a:xfrm>
            <a:off x="10515600" y="2514600"/>
            <a:ext cx="1188720" cy="868680"/>
          </a:xfrm>
          <a:prstGeom prst="rect">
            <a:avLst/>
          </a:prstGeom>
          <a:noFill/>
          <a:ln/>
        </p:spPr>
        <p:txBody>
          <a:bodyPr wrap="square" lIns="0" tIns="0" rIns="0" bIns="0" rtlCol="0" anchor="ctr"/>
          <a:lstStyle/>
          <a:p>
            <a:pPr algn="ctr" indent="0" marL="0">
              <a:buNone/>
            </a:pPr>
            <a:r>
              <a:rPr lang="en-US" sz="1100" b="1" spc="300" kern="0" dirty="0">
                <a:solidFill>
                  <a:srgbClr val="ECF1F9"/>
                </a:solidFill>
                <a:latin typeface="Calibri" pitchFamily="34" charset="0"/>
                <a:ea typeface="Calibri" pitchFamily="34" charset="-122"/>
                <a:cs typeface="Calibri" pitchFamily="34" charset="-120"/>
              </a:rPr>
              <a:t>ON TRACK</a:t>
            </a:r>
            <a:endParaRPr lang="en-US" sz="1100" dirty="0"/>
          </a:p>
        </p:txBody>
      </p:sp>
      <p:sp>
        <p:nvSpPr>
          <p:cNvPr id="30" name="Shape 28"/>
          <p:cNvSpPr/>
          <p:nvPr/>
        </p:nvSpPr>
        <p:spPr>
          <a:xfrm>
            <a:off x="457200" y="3474720"/>
            <a:ext cx="11247120" cy="868680"/>
          </a:xfrm>
          <a:prstGeom prst="rect">
            <a:avLst/>
          </a:prstGeom>
          <a:solidFill>
            <a:srgbClr val="FFFFFF"/>
          </a:solidFill>
          <a:ln w="12700">
            <a:solidFill>
              <a:srgbClr val="C9D6EC"/>
            </a:solidFill>
            <a:prstDash val="solid"/>
          </a:ln>
        </p:spPr>
      </p:sp>
      <p:sp>
        <p:nvSpPr>
          <p:cNvPr id="31" name="Shape 29"/>
          <p:cNvSpPr/>
          <p:nvPr/>
        </p:nvSpPr>
        <p:spPr>
          <a:xfrm>
            <a:off x="457200" y="3474720"/>
            <a:ext cx="731520" cy="868680"/>
          </a:xfrm>
          <a:prstGeom prst="rect">
            <a:avLst/>
          </a:prstGeom>
          <a:solidFill>
            <a:srgbClr val="0B1C3A"/>
          </a:solidFill>
          <a:ln w="12700">
            <a:solidFill>
              <a:srgbClr val="333333"/>
            </a:solidFill>
            <a:prstDash val="solid"/>
          </a:ln>
        </p:spPr>
      </p:sp>
      <p:sp>
        <p:nvSpPr>
          <p:cNvPr id="32" name="Text 30"/>
          <p:cNvSpPr/>
          <p:nvPr/>
        </p:nvSpPr>
        <p:spPr>
          <a:xfrm>
            <a:off x="457200" y="3474720"/>
            <a:ext cx="731520" cy="868680"/>
          </a:xfrm>
          <a:prstGeom prst="rect">
            <a:avLst/>
          </a:prstGeom>
          <a:noFill/>
          <a:ln/>
        </p:spPr>
        <p:txBody>
          <a:bodyPr wrap="square" lIns="0" tIns="0" rIns="0" bIns="0" rtlCol="0" anchor="ctr"/>
          <a:lstStyle/>
          <a:p>
            <a:pPr algn="ctr" indent="0" marL="0">
              <a:buNone/>
            </a:pPr>
            <a:r>
              <a:rPr lang="en-US" sz="3600" b="1" dirty="0">
                <a:solidFill>
                  <a:srgbClr val="ECF1F9"/>
                </a:solidFill>
                <a:latin typeface="Georgia" pitchFamily="34" charset="0"/>
                <a:ea typeface="Georgia" pitchFamily="34" charset="-122"/>
                <a:cs typeface="Georgia" pitchFamily="34" charset="-120"/>
              </a:rPr>
              <a:t>C</a:t>
            </a:r>
            <a:endParaRPr lang="en-US" sz="3600" dirty="0"/>
          </a:p>
        </p:txBody>
      </p:sp>
      <p:sp>
        <p:nvSpPr>
          <p:cNvPr id="33" name="Text 31"/>
          <p:cNvSpPr/>
          <p:nvPr/>
        </p:nvSpPr>
        <p:spPr>
          <a:xfrm>
            <a:off x="1371600" y="3566160"/>
            <a:ext cx="5029200" cy="32004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Corpus generalization (200 patterns)</a:t>
            </a:r>
            <a:endParaRPr lang="en-US" sz="1400" dirty="0"/>
          </a:p>
        </p:txBody>
      </p:sp>
      <p:sp>
        <p:nvSpPr>
          <p:cNvPr id="34" name="Text 32"/>
          <p:cNvSpPr/>
          <p:nvPr/>
        </p:nvSpPr>
        <p:spPr>
          <a:xfrm>
            <a:off x="1371600" y="3886200"/>
            <a:ext cx="5029200" cy="228600"/>
          </a:xfrm>
          <a:prstGeom prst="rect">
            <a:avLst/>
          </a:prstGeom>
          <a:noFill/>
          <a:ln/>
        </p:spPr>
        <p:txBody>
          <a:bodyPr wrap="square" lIns="0" tIns="0" rIns="0" bIns="0" rtlCol="0" anchor="ctr"/>
          <a:lstStyle/>
          <a:p>
            <a:pPr indent="0" marL="0">
              <a:buNone/>
            </a:pPr>
            <a:r>
              <a:rPr lang="en-US" sz="900" spc="300" kern="0" dirty="0">
                <a:solidFill>
                  <a:srgbClr val="5A6B85"/>
                </a:solidFill>
                <a:latin typeface="Calibri" pitchFamily="34" charset="0"/>
                <a:ea typeface="Calibri" pitchFamily="34" charset="-122"/>
                <a:cs typeface="Calibri" pitchFamily="34" charset="-120"/>
              </a:rPr>
              <a:t>OWNER  ·  Janya + Pranitha</a:t>
            </a:r>
            <a:endParaRPr lang="en-US" sz="900" dirty="0"/>
          </a:p>
        </p:txBody>
      </p:sp>
      <p:sp>
        <p:nvSpPr>
          <p:cNvPr id="35" name="Text 33"/>
          <p:cNvSpPr/>
          <p:nvPr/>
        </p:nvSpPr>
        <p:spPr>
          <a:xfrm>
            <a:off x="1371600" y="4069080"/>
            <a:ext cx="5029200" cy="2743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All 200 v2 patterns drafted, merge clean. Cross-review by writer-swap not yet done.</a:t>
            </a:r>
            <a:endParaRPr lang="en-US" sz="1000" dirty="0"/>
          </a:p>
        </p:txBody>
      </p:sp>
      <p:sp>
        <p:nvSpPr>
          <p:cNvPr id="36" name="Shape 34"/>
          <p:cNvSpPr/>
          <p:nvPr/>
        </p:nvSpPr>
        <p:spPr>
          <a:xfrm>
            <a:off x="6675120" y="3886200"/>
            <a:ext cx="3657600" cy="274320"/>
          </a:xfrm>
          <a:prstGeom prst="rect">
            <a:avLst/>
          </a:prstGeom>
          <a:solidFill>
            <a:srgbClr val="ECF1F9"/>
          </a:solidFill>
          <a:ln w="6350">
            <a:solidFill>
              <a:srgbClr val="C9D6EC"/>
            </a:solidFill>
            <a:prstDash val="solid"/>
          </a:ln>
        </p:spPr>
      </p:sp>
      <p:sp>
        <p:nvSpPr>
          <p:cNvPr id="37" name="Shape 35"/>
          <p:cNvSpPr/>
          <p:nvPr/>
        </p:nvSpPr>
        <p:spPr>
          <a:xfrm>
            <a:off x="6675120" y="3886200"/>
            <a:ext cx="2743200" cy="274320"/>
          </a:xfrm>
          <a:prstGeom prst="rect">
            <a:avLst/>
          </a:prstGeom>
          <a:solidFill>
            <a:srgbClr val="E9C46A"/>
          </a:solidFill>
          <a:ln w="12700">
            <a:solidFill>
              <a:srgbClr val="333333"/>
            </a:solidFill>
            <a:prstDash val="solid"/>
          </a:ln>
        </p:spPr>
      </p:sp>
      <p:sp>
        <p:nvSpPr>
          <p:cNvPr id="38" name="Text 36"/>
          <p:cNvSpPr/>
          <p:nvPr/>
        </p:nvSpPr>
        <p:spPr>
          <a:xfrm>
            <a:off x="6675120" y="3886200"/>
            <a:ext cx="3657600" cy="274320"/>
          </a:xfrm>
          <a:prstGeom prst="rect">
            <a:avLst/>
          </a:prstGeom>
          <a:noFill/>
          <a:ln/>
        </p:spPr>
        <p:txBody>
          <a:bodyPr wrap="square" lIns="0" tIns="0" rIns="0" bIns="0" rtlCol="0" anchor="ctr"/>
          <a:lstStyle/>
          <a:p>
            <a:pPr algn="ctr" indent="0" marL="0">
              <a:buNone/>
            </a:pPr>
            <a:r>
              <a:rPr lang="en-US" sz="1100" b="1" dirty="0">
                <a:solidFill>
                  <a:srgbClr val="0B1C3A"/>
                </a:solidFill>
                <a:latin typeface="Calibri" pitchFamily="34" charset="0"/>
                <a:ea typeface="Calibri" pitchFamily="34" charset="-122"/>
                <a:cs typeface="Calibri" pitchFamily="34" charset="-120"/>
              </a:rPr>
              <a:t>75%</a:t>
            </a:r>
            <a:endParaRPr lang="en-US" sz="1100" dirty="0"/>
          </a:p>
        </p:txBody>
      </p:sp>
      <p:sp>
        <p:nvSpPr>
          <p:cNvPr id="39" name="Text 37"/>
          <p:cNvSpPr/>
          <p:nvPr/>
        </p:nvSpPr>
        <p:spPr>
          <a:xfrm>
            <a:off x="6675120" y="4187952"/>
            <a:ext cx="3657600" cy="182880"/>
          </a:xfrm>
          <a:prstGeom prst="rect">
            <a:avLst/>
          </a:prstGeom>
          <a:noFill/>
          <a:ln/>
        </p:spPr>
        <p:txBody>
          <a:bodyPr wrap="square" lIns="0" tIns="0" rIns="0" bIns="0" rtlCol="0" anchor="ctr"/>
          <a:lstStyle/>
          <a:p>
            <a:pPr algn="ctr" indent="0" marL="0">
              <a:buNone/>
            </a:pPr>
            <a:r>
              <a:rPr lang="en-US" sz="900" b="1" i="1" dirty="0">
                <a:solidFill>
                  <a:srgbClr val="E9C46A"/>
                </a:solidFill>
                <a:latin typeface="Calibri" pitchFamily="34" charset="0"/>
                <a:ea typeface="Calibri" pitchFamily="34" charset="-122"/>
                <a:cs typeface="Calibri" pitchFamily="34" charset="-120"/>
              </a:rPr>
              <a:t>written, pending review</a:t>
            </a:r>
            <a:endParaRPr lang="en-US" sz="900" dirty="0"/>
          </a:p>
        </p:txBody>
      </p:sp>
      <p:sp>
        <p:nvSpPr>
          <p:cNvPr id="40" name="Shape 38"/>
          <p:cNvSpPr/>
          <p:nvPr/>
        </p:nvSpPr>
        <p:spPr>
          <a:xfrm>
            <a:off x="10515600" y="3474720"/>
            <a:ext cx="1188720" cy="868680"/>
          </a:xfrm>
          <a:prstGeom prst="rect">
            <a:avLst/>
          </a:prstGeom>
          <a:solidFill>
            <a:srgbClr val="E9C46A"/>
          </a:solidFill>
          <a:ln w="12700">
            <a:solidFill>
              <a:srgbClr val="333333"/>
            </a:solidFill>
            <a:prstDash val="solid"/>
          </a:ln>
        </p:spPr>
      </p:sp>
      <p:sp>
        <p:nvSpPr>
          <p:cNvPr id="41" name="Text 39"/>
          <p:cNvSpPr/>
          <p:nvPr/>
        </p:nvSpPr>
        <p:spPr>
          <a:xfrm>
            <a:off x="10515600" y="3474720"/>
            <a:ext cx="1188720" cy="868680"/>
          </a:xfrm>
          <a:prstGeom prst="rect">
            <a:avLst/>
          </a:prstGeom>
          <a:noFill/>
          <a:ln/>
        </p:spPr>
        <p:txBody>
          <a:bodyPr wrap="square" lIns="0" tIns="0" rIns="0" bIns="0" rtlCol="0" anchor="ctr"/>
          <a:lstStyle/>
          <a:p>
            <a:pPr algn="ctr" indent="0" marL="0">
              <a:buNone/>
            </a:pPr>
            <a:r>
              <a:rPr lang="en-US" sz="1100" b="1" spc="300" kern="0" dirty="0">
                <a:solidFill>
                  <a:srgbClr val="ECF1F9"/>
                </a:solidFill>
                <a:latin typeface="Calibri" pitchFamily="34" charset="0"/>
                <a:ea typeface="Calibri" pitchFamily="34" charset="-122"/>
                <a:cs typeface="Calibri" pitchFamily="34" charset="-120"/>
              </a:rPr>
              <a:t>IN PROGRESS</a:t>
            </a:r>
            <a:endParaRPr lang="en-US" sz="1100" dirty="0"/>
          </a:p>
        </p:txBody>
      </p:sp>
      <p:sp>
        <p:nvSpPr>
          <p:cNvPr id="42" name="Shape 40"/>
          <p:cNvSpPr/>
          <p:nvPr/>
        </p:nvSpPr>
        <p:spPr>
          <a:xfrm>
            <a:off x="457200" y="4434840"/>
            <a:ext cx="11247120" cy="868680"/>
          </a:xfrm>
          <a:prstGeom prst="rect">
            <a:avLst/>
          </a:prstGeom>
          <a:solidFill>
            <a:srgbClr val="FFFFFF"/>
          </a:solidFill>
          <a:ln w="12700">
            <a:solidFill>
              <a:srgbClr val="C9D6EC"/>
            </a:solidFill>
            <a:prstDash val="solid"/>
          </a:ln>
        </p:spPr>
      </p:sp>
      <p:sp>
        <p:nvSpPr>
          <p:cNvPr id="43" name="Shape 41"/>
          <p:cNvSpPr/>
          <p:nvPr/>
        </p:nvSpPr>
        <p:spPr>
          <a:xfrm>
            <a:off x="457200" y="4434840"/>
            <a:ext cx="731520" cy="868680"/>
          </a:xfrm>
          <a:prstGeom prst="rect">
            <a:avLst/>
          </a:prstGeom>
          <a:solidFill>
            <a:srgbClr val="0B1C3A"/>
          </a:solidFill>
          <a:ln w="12700">
            <a:solidFill>
              <a:srgbClr val="333333"/>
            </a:solidFill>
            <a:prstDash val="solid"/>
          </a:ln>
        </p:spPr>
      </p:sp>
      <p:sp>
        <p:nvSpPr>
          <p:cNvPr id="44" name="Text 42"/>
          <p:cNvSpPr/>
          <p:nvPr/>
        </p:nvSpPr>
        <p:spPr>
          <a:xfrm>
            <a:off x="457200" y="4434840"/>
            <a:ext cx="731520" cy="868680"/>
          </a:xfrm>
          <a:prstGeom prst="rect">
            <a:avLst/>
          </a:prstGeom>
          <a:noFill/>
          <a:ln/>
        </p:spPr>
        <p:txBody>
          <a:bodyPr wrap="square" lIns="0" tIns="0" rIns="0" bIns="0" rtlCol="0" anchor="ctr"/>
          <a:lstStyle/>
          <a:p>
            <a:pPr algn="ctr" indent="0" marL="0">
              <a:buNone/>
            </a:pPr>
            <a:r>
              <a:rPr lang="en-US" sz="3600" b="1" dirty="0">
                <a:solidFill>
                  <a:srgbClr val="ECF1F9"/>
                </a:solidFill>
                <a:latin typeface="Georgia" pitchFamily="34" charset="0"/>
                <a:ea typeface="Georgia" pitchFamily="34" charset="-122"/>
                <a:cs typeface="Georgia" pitchFamily="34" charset="-120"/>
              </a:rPr>
              <a:t>D</a:t>
            </a:r>
            <a:endParaRPr lang="en-US" sz="3600" dirty="0"/>
          </a:p>
        </p:txBody>
      </p:sp>
      <p:sp>
        <p:nvSpPr>
          <p:cNvPr id="45" name="Text 43"/>
          <p:cNvSpPr/>
          <p:nvPr/>
        </p:nvSpPr>
        <p:spPr>
          <a:xfrm>
            <a:off x="1371600" y="4526280"/>
            <a:ext cx="5029200" cy="32004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InjecAgent + benign FPR benchmark</a:t>
            </a:r>
            <a:endParaRPr lang="en-US" sz="1400" dirty="0"/>
          </a:p>
        </p:txBody>
      </p:sp>
      <p:sp>
        <p:nvSpPr>
          <p:cNvPr id="46" name="Text 44"/>
          <p:cNvSpPr/>
          <p:nvPr/>
        </p:nvSpPr>
        <p:spPr>
          <a:xfrm>
            <a:off x="1371600" y="4846320"/>
            <a:ext cx="5029200" cy="228600"/>
          </a:xfrm>
          <a:prstGeom prst="rect">
            <a:avLst/>
          </a:prstGeom>
          <a:noFill/>
          <a:ln/>
        </p:spPr>
        <p:txBody>
          <a:bodyPr wrap="square" lIns="0" tIns="0" rIns="0" bIns="0" rtlCol="0" anchor="ctr"/>
          <a:lstStyle/>
          <a:p>
            <a:pPr indent="0" marL="0">
              <a:buNone/>
            </a:pPr>
            <a:r>
              <a:rPr lang="en-US" sz="900" spc="300" kern="0" dirty="0">
                <a:solidFill>
                  <a:srgbClr val="5A6B85"/>
                </a:solidFill>
                <a:latin typeface="Calibri" pitchFamily="34" charset="0"/>
                <a:ea typeface="Calibri" pitchFamily="34" charset="-122"/>
                <a:cs typeface="Calibri" pitchFamily="34" charset="-120"/>
              </a:rPr>
              <a:t>OWNER  ·  Janya</a:t>
            </a:r>
            <a:endParaRPr lang="en-US" sz="900" dirty="0"/>
          </a:p>
        </p:txBody>
      </p:sp>
      <p:sp>
        <p:nvSpPr>
          <p:cNvPr id="47" name="Text 45"/>
          <p:cNvSpPr/>
          <p:nvPr/>
        </p:nvSpPr>
        <p:spPr>
          <a:xfrm>
            <a:off x="1371600" y="5029200"/>
            <a:ext cx="5029200" cy="2743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Runner, threshold sweep, benign traces all written. Cannot run until B and C complete.</a:t>
            </a:r>
            <a:endParaRPr lang="en-US" sz="1000" dirty="0"/>
          </a:p>
        </p:txBody>
      </p:sp>
      <p:sp>
        <p:nvSpPr>
          <p:cNvPr id="48" name="Shape 46"/>
          <p:cNvSpPr/>
          <p:nvPr/>
        </p:nvSpPr>
        <p:spPr>
          <a:xfrm>
            <a:off x="6675120" y="4846320"/>
            <a:ext cx="3657600" cy="274320"/>
          </a:xfrm>
          <a:prstGeom prst="rect">
            <a:avLst/>
          </a:prstGeom>
          <a:solidFill>
            <a:srgbClr val="ECF1F9"/>
          </a:solidFill>
          <a:ln w="6350">
            <a:solidFill>
              <a:srgbClr val="C9D6EC"/>
            </a:solidFill>
            <a:prstDash val="solid"/>
          </a:ln>
        </p:spPr>
      </p:sp>
      <p:sp>
        <p:nvSpPr>
          <p:cNvPr id="49" name="Shape 47"/>
          <p:cNvSpPr/>
          <p:nvPr/>
        </p:nvSpPr>
        <p:spPr>
          <a:xfrm>
            <a:off x="6675120" y="4846320"/>
            <a:ext cx="1828800" cy="274320"/>
          </a:xfrm>
          <a:prstGeom prst="rect">
            <a:avLst/>
          </a:prstGeom>
          <a:solidFill>
            <a:srgbClr val="E9C46A"/>
          </a:solidFill>
          <a:ln w="12700">
            <a:solidFill>
              <a:srgbClr val="333333"/>
            </a:solidFill>
            <a:prstDash val="solid"/>
          </a:ln>
        </p:spPr>
      </p:sp>
      <p:sp>
        <p:nvSpPr>
          <p:cNvPr id="50" name="Text 48"/>
          <p:cNvSpPr/>
          <p:nvPr/>
        </p:nvSpPr>
        <p:spPr>
          <a:xfrm>
            <a:off x="6675120" y="4846320"/>
            <a:ext cx="3657600" cy="274320"/>
          </a:xfrm>
          <a:prstGeom prst="rect">
            <a:avLst/>
          </a:prstGeom>
          <a:noFill/>
          <a:ln/>
        </p:spPr>
        <p:txBody>
          <a:bodyPr wrap="square" lIns="0" tIns="0" rIns="0" bIns="0" rtlCol="0" anchor="ctr"/>
          <a:lstStyle/>
          <a:p>
            <a:pPr algn="ctr" indent="0" marL="0">
              <a:buNone/>
            </a:pPr>
            <a:r>
              <a:rPr lang="en-US" sz="1100" b="1" dirty="0">
                <a:solidFill>
                  <a:srgbClr val="0B1C3A"/>
                </a:solidFill>
                <a:latin typeface="Calibri" pitchFamily="34" charset="0"/>
                <a:ea typeface="Calibri" pitchFamily="34" charset="-122"/>
                <a:cs typeface="Calibri" pitchFamily="34" charset="-120"/>
              </a:rPr>
              <a:t>50%</a:t>
            </a:r>
            <a:endParaRPr lang="en-US" sz="1100" dirty="0"/>
          </a:p>
        </p:txBody>
      </p:sp>
      <p:sp>
        <p:nvSpPr>
          <p:cNvPr id="51" name="Text 49"/>
          <p:cNvSpPr/>
          <p:nvPr/>
        </p:nvSpPr>
        <p:spPr>
          <a:xfrm>
            <a:off x="6675120" y="5148072"/>
            <a:ext cx="3657600" cy="182880"/>
          </a:xfrm>
          <a:prstGeom prst="rect">
            <a:avLst/>
          </a:prstGeom>
          <a:noFill/>
          <a:ln/>
        </p:spPr>
        <p:txBody>
          <a:bodyPr wrap="square" lIns="0" tIns="0" rIns="0" bIns="0" rtlCol="0" anchor="ctr"/>
          <a:lstStyle/>
          <a:p>
            <a:pPr algn="ctr" indent="0" marL="0">
              <a:buNone/>
            </a:pPr>
            <a:r>
              <a:rPr lang="en-US" sz="900" b="1" i="1" dirty="0">
                <a:solidFill>
                  <a:srgbClr val="E9C46A"/>
                </a:solidFill>
                <a:latin typeface="Calibri" pitchFamily="34" charset="0"/>
                <a:ea typeface="Calibri" pitchFamily="34" charset="-122"/>
                <a:cs typeface="Calibri" pitchFamily="34" charset="-120"/>
              </a:rPr>
              <a:t>harness ready</a:t>
            </a:r>
            <a:endParaRPr lang="en-US" sz="900" dirty="0"/>
          </a:p>
        </p:txBody>
      </p:sp>
      <p:sp>
        <p:nvSpPr>
          <p:cNvPr id="52" name="Shape 50"/>
          <p:cNvSpPr/>
          <p:nvPr/>
        </p:nvSpPr>
        <p:spPr>
          <a:xfrm>
            <a:off x="10515600" y="4434840"/>
            <a:ext cx="1188720" cy="868680"/>
          </a:xfrm>
          <a:prstGeom prst="rect">
            <a:avLst/>
          </a:prstGeom>
          <a:solidFill>
            <a:srgbClr val="E9C46A"/>
          </a:solidFill>
          <a:ln w="12700">
            <a:solidFill>
              <a:srgbClr val="333333"/>
            </a:solidFill>
            <a:prstDash val="solid"/>
          </a:ln>
        </p:spPr>
      </p:sp>
      <p:sp>
        <p:nvSpPr>
          <p:cNvPr id="53" name="Text 51"/>
          <p:cNvSpPr/>
          <p:nvPr/>
        </p:nvSpPr>
        <p:spPr>
          <a:xfrm>
            <a:off x="10515600" y="4434840"/>
            <a:ext cx="1188720" cy="868680"/>
          </a:xfrm>
          <a:prstGeom prst="rect">
            <a:avLst/>
          </a:prstGeom>
          <a:noFill/>
          <a:ln/>
        </p:spPr>
        <p:txBody>
          <a:bodyPr wrap="square" lIns="0" tIns="0" rIns="0" bIns="0" rtlCol="0" anchor="ctr"/>
          <a:lstStyle/>
          <a:p>
            <a:pPr algn="ctr" indent="0" marL="0">
              <a:buNone/>
            </a:pPr>
            <a:r>
              <a:rPr lang="en-US" sz="1100" b="1" spc="300" kern="0" dirty="0">
                <a:solidFill>
                  <a:srgbClr val="ECF1F9"/>
                </a:solidFill>
                <a:latin typeface="Calibri" pitchFamily="34" charset="0"/>
                <a:ea typeface="Calibri" pitchFamily="34" charset="-122"/>
                <a:cs typeface="Calibri" pitchFamily="34" charset="-120"/>
              </a:rPr>
              <a:t>IN PROGRESS</a:t>
            </a:r>
            <a:endParaRPr lang="en-US" sz="1100" dirty="0"/>
          </a:p>
        </p:txBody>
      </p:sp>
      <p:sp>
        <p:nvSpPr>
          <p:cNvPr id="54" name="Shape 52"/>
          <p:cNvSpPr/>
          <p:nvPr/>
        </p:nvSpPr>
        <p:spPr>
          <a:xfrm>
            <a:off x="457200" y="5394960"/>
            <a:ext cx="11247120" cy="868680"/>
          </a:xfrm>
          <a:prstGeom prst="rect">
            <a:avLst/>
          </a:prstGeom>
          <a:solidFill>
            <a:srgbClr val="FFFFFF"/>
          </a:solidFill>
          <a:ln w="12700">
            <a:solidFill>
              <a:srgbClr val="C9D6EC"/>
            </a:solidFill>
            <a:prstDash val="solid"/>
          </a:ln>
        </p:spPr>
      </p:sp>
      <p:sp>
        <p:nvSpPr>
          <p:cNvPr id="55" name="Shape 53"/>
          <p:cNvSpPr/>
          <p:nvPr/>
        </p:nvSpPr>
        <p:spPr>
          <a:xfrm>
            <a:off x="457200" y="5394960"/>
            <a:ext cx="731520" cy="868680"/>
          </a:xfrm>
          <a:prstGeom prst="rect">
            <a:avLst/>
          </a:prstGeom>
          <a:solidFill>
            <a:srgbClr val="0B1C3A"/>
          </a:solidFill>
          <a:ln w="12700">
            <a:solidFill>
              <a:srgbClr val="333333"/>
            </a:solidFill>
            <a:prstDash val="solid"/>
          </a:ln>
        </p:spPr>
      </p:sp>
      <p:sp>
        <p:nvSpPr>
          <p:cNvPr id="56" name="Text 54"/>
          <p:cNvSpPr/>
          <p:nvPr/>
        </p:nvSpPr>
        <p:spPr>
          <a:xfrm>
            <a:off x="457200" y="5394960"/>
            <a:ext cx="731520" cy="868680"/>
          </a:xfrm>
          <a:prstGeom prst="rect">
            <a:avLst/>
          </a:prstGeom>
          <a:noFill/>
          <a:ln/>
        </p:spPr>
        <p:txBody>
          <a:bodyPr wrap="square" lIns="0" tIns="0" rIns="0" bIns="0" rtlCol="0" anchor="ctr"/>
          <a:lstStyle/>
          <a:p>
            <a:pPr algn="ctr" indent="0" marL="0">
              <a:buNone/>
            </a:pPr>
            <a:r>
              <a:rPr lang="en-US" sz="3600" b="1" dirty="0">
                <a:solidFill>
                  <a:srgbClr val="ECF1F9"/>
                </a:solidFill>
                <a:latin typeface="Georgia" pitchFamily="34" charset="0"/>
                <a:ea typeface="Georgia" pitchFamily="34" charset="-122"/>
                <a:cs typeface="Georgia" pitchFamily="34" charset="-120"/>
              </a:rPr>
              <a:t>E</a:t>
            </a:r>
            <a:endParaRPr lang="en-US" sz="3600" dirty="0"/>
          </a:p>
        </p:txBody>
      </p:sp>
      <p:sp>
        <p:nvSpPr>
          <p:cNvPr id="57" name="Text 55"/>
          <p:cNvSpPr/>
          <p:nvPr/>
        </p:nvSpPr>
        <p:spPr>
          <a:xfrm>
            <a:off x="1371600" y="5486400"/>
            <a:ext cx="5029200" cy="320040"/>
          </a:xfrm>
          <a:prstGeom prst="rect">
            <a:avLst/>
          </a:prstGeom>
          <a:noFill/>
          <a:ln/>
        </p:spPr>
        <p:txBody>
          <a:bodyPr wrap="square" lIns="0" tIns="0" rIns="0" bIns="0" rtlCol="0" anchor="ctr"/>
          <a:lstStyle/>
          <a:p>
            <a:pPr indent="0" marL="0">
              <a:buNone/>
            </a:pPr>
            <a:r>
              <a:rPr lang="en-US" sz="1400" b="1" dirty="0">
                <a:solidFill>
                  <a:srgbClr val="0B1C3A"/>
                </a:solidFill>
                <a:latin typeface="Georgia" pitchFamily="34" charset="0"/>
                <a:ea typeface="Georgia" pitchFamily="34" charset="-122"/>
                <a:cs typeface="Georgia" pitchFamily="34" charset="-120"/>
              </a:rPr>
              <a:t>Paper draft</a:t>
            </a:r>
            <a:endParaRPr lang="en-US" sz="1400" dirty="0"/>
          </a:p>
        </p:txBody>
      </p:sp>
      <p:sp>
        <p:nvSpPr>
          <p:cNvPr id="58" name="Text 56"/>
          <p:cNvSpPr/>
          <p:nvPr/>
        </p:nvSpPr>
        <p:spPr>
          <a:xfrm>
            <a:off x="1371600" y="5806440"/>
            <a:ext cx="5029200" cy="228600"/>
          </a:xfrm>
          <a:prstGeom prst="rect">
            <a:avLst/>
          </a:prstGeom>
          <a:noFill/>
          <a:ln/>
        </p:spPr>
        <p:txBody>
          <a:bodyPr wrap="square" lIns="0" tIns="0" rIns="0" bIns="0" rtlCol="0" anchor="ctr"/>
          <a:lstStyle/>
          <a:p>
            <a:pPr indent="0" marL="0">
              <a:buNone/>
            </a:pPr>
            <a:r>
              <a:rPr lang="en-US" sz="900" spc="300" kern="0" dirty="0">
                <a:solidFill>
                  <a:srgbClr val="5A6B85"/>
                </a:solidFill>
                <a:latin typeface="Calibri" pitchFamily="34" charset="0"/>
                <a:ea typeface="Calibri" pitchFamily="34" charset="-122"/>
                <a:cs typeface="Calibri" pitchFamily="34" charset="-120"/>
              </a:rPr>
              <a:t>OWNER  ·  Jamieboy</a:t>
            </a:r>
            <a:endParaRPr lang="en-US" sz="900" dirty="0"/>
          </a:p>
        </p:txBody>
      </p:sp>
      <p:sp>
        <p:nvSpPr>
          <p:cNvPr id="59" name="Text 57"/>
          <p:cNvSpPr/>
          <p:nvPr/>
        </p:nvSpPr>
        <p:spPr>
          <a:xfrm>
            <a:off x="1371600" y="5989320"/>
            <a:ext cx="5029200" cy="274320"/>
          </a:xfrm>
          <a:prstGeom prst="rect">
            <a:avLst/>
          </a:prstGeom>
          <a:noFill/>
          <a:ln/>
        </p:spPr>
        <p:txBody>
          <a:bodyPr wrap="square" lIns="0" tIns="0" rIns="0" bIns="0" rtlCol="0" anchor="ctr"/>
          <a:lstStyle/>
          <a:p>
            <a:pPr indent="0" marL="0">
              <a:buNone/>
            </a:pPr>
            <a:r>
              <a:rPr lang="en-US" sz="1000" dirty="0">
                <a:solidFill>
                  <a:srgbClr val="0B1C3A"/>
                </a:solidFill>
                <a:latin typeface="Calibri" pitchFamily="34" charset="0"/>
                <a:ea typeface="Calibri" pitchFamily="34" charset="-122"/>
                <a:cs typeface="Calibri" pitchFamily="34" charset="-120"/>
              </a:rPr>
              <a:t>Strongest sections already prose-complete. §5 pending Workstream D numbers.</a:t>
            </a:r>
            <a:endParaRPr lang="en-US" sz="1000" dirty="0"/>
          </a:p>
        </p:txBody>
      </p:sp>
      <p:sp>
        <p:nvSpPr>
          <p:cNvPr id="60" name="Shape 58"/>
          <p:cNvSpPr/>
          <p:nvPr/>
        </p:nvSpPr>
        <p:spPr>
          <a:xfrm>
            <a:off x="6675120" y="5806440"/>
            <a:ext cx="3657600" cy="274320"/>
          </a:xfrm>
          <a:prstGeom prst="rect">
            <a:avLst/>
          </a:prstGeom>
          <a:solidFill>
            <a:srgbClr val="ECF1F9"/>
          </a:solidFill>
          <a:ln w="6350">
            <a:solidFill>
              <a:srgbClr val="C9D6EC"/>
            </a:solidFill>
            <a:prstDash val="solid"/>
          </a:ln>
        </p:spPr>
      </p:sp>
      <p:sp>
        <p:nvSpPr>
          <p:cNvPr id="61" name="Shape 59"/>
          <p:cNvSpPr/>
          <p:nvPr/>
        </p:nvSpPr>
        <p:spPr>
          <a:xfrm>
            <a:off x="6675120" y="5806440"/>
            <a:ext cx="1280160" cy="274320"/>
          </a:xfrm>
          <a:prstGeom prst="rect">
            <a:avLst/>
          </a:prstGeom>
          <a:solidFill>
            <a:srgbClr val="E9C46A"/>
          </a:solidFill>
          <a:ln w="12700">
            <a:solidFill>
              <a:srgbClr val="333333"/>
            </a:solidFill>
            <a:prstDash val="solid"/>
          </a:ln>
        </p:spPr>
      </p:sp>
      <p:sp>
        <p:nvSpPr>
          <p:cNvPr id="62" name="Text 60"/>
          <p:cNvSpPr/>
          <p:nvPr/>
        </p:nvSpPr>
        <p:spPr>
          <a:xfrm>
            <a:off x="6675120" y="5806440"/>
            <a:ext cx="3657600" cy="274320"/>
          </a:xfrm>
          <a:prstGeom prst="rect">
            <a:avLst/>
          </a:prstGeom>
          <a:noFill/>
          <a:ln/>
        </p:spPr>
        <p:txBody>
          <a:bodyPr wrap="square" lIns="0" tIns="0" rIns="0" bIns="0" rtlCol="0" anchor="ctr"/>
          <a:lstStyle/>
          <a:p>
            <a:pPr algn="ctr" indent="0" marL="0">
              <a:buNone/>
            </a:pPr>
            <a:r>
              <a:rPr lang="en-US" sz="1100" b="1" dirty="0">
                <a:solidFill>
                  <a:srgbClr val="0B1C3A"/>
                </a:solidFill>
                <a:latin typeface="Calibri" pitchFamily="34" charset="0"/>
                <a:ea typeface="Calibri" pitchFamily="34" charset="-122"/>
                <a:cs typeface="Calibri" pitchFamily="34" charset="-120"/>
              </a:rPr>
              <a:t>35%</a:t>
            </a:r>
            <a:endParaRPr lang="en-US" sz="1100" dirty="0"/>
          </a:p>
        </p:txBody>
      </p:sp>
      <p:sp>
        <p:nvSpPr>
          <p:cNvPr id="63" name="Text 61"/>
          <p:cNvSpPr/>
          <p:nvPr/>
        </p:nvSpPr>
        <p:spPr>
          <a:xfrm>
            <a:off x="6675120" y="6108192"/>
            <a:ext cx="3657600" cy="182880"/>
          </a:xfrm>
          <a:prstGeom prst="rect">
            <a:avLst/>
          </a:prstGeom>
          <a:noFill/>
          <a:ln/>
        </p:spPr>
        <p:txBody>
          <a:bodyPr wrap="square" lIns="0" tIns="0" rIns="0" bIns="0" rtlCol="0" anchor="ctr"/>
          <a:lstStyle/>
          <a:p>
            <a:pPr algn="ctr" indent="0" marL="0">
              <a:buNone/>
            </a:pPr>
            <a:r>
              <a:rPr lang="en-US" sz="900" b="1" i="1" dirty="0">
                <a:solidFill>
                  <a:srgbClr val="E9C46A"/>
                </a:solidFill>
                <a:latin typeface="Calibri" pitchFamily="34" charset="0"/>
                <a:ea typeface="Calibri" pitchFamily="34" charset="-122"/>
                <a:cs typeface="Calibri" pitchFamily="34" charset="-120"/>
              </a:rPr>
              <a:t>§1 + §4 drafted</a:t>
            </a:r>
            <a:endParaRPr lang="en-US" sz="900" dirty="0"/>
          </a:p>
        </p:txBody>
      </p:sp>
      <p:sp>
        <p:nvSpPr>
          <p:cNvPr id="64" name="Shape 62"/>
          <p:cNvSpPr/>
          <p:nvPr/>
        </p:nvSpPr>
        <p:spPr>
          <a:xfrm>
            <a:off x="10515600" y="5394960"/>
            <a:ext cx="1188720" cy="868680"/>
          </a:xfrm>
          <a:prstGeom prst="rect">
            <a:avLst/>
          </a:prstGeom>
          <a:solidFill>
            <a:srgbClr val="E9C46A"/>
          </a:solidFill>
          <a:ln w="12700">
            <a:solidFill>
              <a:srgbClr val="333333"/>
            </a:solidFill>
            <a:prstDash val="solid"/>
          </a:ln>
        </p:spPr>
      </p:sp>
      <p:sp>
        <p:nvSpPr>
          <p:cNvPr id="65" name="Text 63"/>
          <p:cNvSpPr/>
          <p:nvPr/>
        </p:nvSpPr>
        <p:spPr>
          <a:xfrm>
            <a:off x="10515600" y="5394960"/>
            <a:ext cx="1188720" cy="868680"/>
          </a:xfrm>
          <a:prstGeom prst="rect">
            <a:avLst/>
          </a:prstGeom>
          <a:noFill/>
          <a:ln/>
        </p:spPr>
        <p:txBody>
          <a:bodyPr wrap="square" lIns="0" tIns="0" rIns="0" bIns="0" rtlCol="0" anchor="ctr"/>
          <a:lstStyle/>
          <a:p>
            <a:pPr algn="ctr" indent="0" marL="0">
              <a:buNone/>
            </a:pPr>
            <a:r>
              <a:rPr lang="en-US" sz="1100" b="1" spc="300" kern="0" dirty="0">
                <a:solidFill>
                  <a:srgbClr val="ECF1F9"/>
                </a:solidFill>
                <a:latin typeface="Calibri" pitchFamily="34" charset="0"/>
                <a:ea typeface="Calibri" pitchFamily="34" charset="-122"/>
                <a:cs typeface="Calibri" pitchFamily="34" charset="-120"/>
              </a:rPr>
              <a:t>EARLY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17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16  ·  THE FOUR-WEEK PLAN</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What's left — week-by-week</a:t>
            </a:r>
            <a:endParaRPr lang="en-US" sz="3000" dirty="0"/>
          </a:p>
        </p:txBody>
      </p:sp>
      <p:sp>
        <p:nvSpPr>
          <p:cNvPr id="6" name="Shape 4"/>
          <p:cNvSpPr/>
          <p:nvPr/>
        </p:nvSpPr>
        <p:spPr>
          <a:xfrm>
            <a:off x="457200" y="1691640"/>
            <a:ext cx="2743200" cy="4572000"/>
          </a:xfrm>
          <a:prstGeom prst="rect">
            <a:avLst/>
          </a:prstGeom>
          <a:solidFill>
            <a:srgbClr val="FFFFFF"/>
          </a:solidFill>
          <a:ln w="12700">
            <a:solidFill>
              <a:srgbClr val="C9D6EC"/>
            </a:solidFill>
            <a:prstDash val="solid"/>
          </a:ln>
        </p:spPr>
      </p:sp>
      <p:sp>
        <p:nvSpPr>
          <p:cNvPr id="7" name="Shape 5"/>
          <p:cNvSpPr/>
          <p:nvPr/>
        </p:nvSpPr>
        <p:spPr>
          <a:xfrm>
            <a:off x="457200" y="1691640"/>
            <a:ext cx="2743200" cy="640080"/>
          </a:xfrm>
          <a:prstGeom prst="rect">
            <a:avLst/>
          </a:prstGeom>
          <a:solidFill>
            <a:srgbClr val="E63946"/>
          </a:solidFill>
          <a:ln w="12700">
            <a:solidFill>
              <a:srgbClr val="333333"/>
            </a:solidFill>
            <a:prstDash val="solid"/>
          </a:ln>
        </p:spPr>
      </p:sp>
      <p:sp>
        <p:nvSpPr>
          <p:cNvPr id="8" name="Text 6"/>
          <p:cNvSpPr/>
          <p:nvPr/>
        </p:nvSpPr>
        <p:spPr>
          <a:xfrm>
            <a:off x="640080" y="1737360"/>
            <a:ext cx="2377440" cy="27432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WEEK 1</a:t>
            </a:r>
            <a:endParaRPr lang="en-US" sz="1100" dirty="0"/>
          </a:p>
        </p:txBody>
      </p:sp>
      <p:sp>
        <p:nvSpPr>
          <p:cNvPr id="9" name="Text 7"/>
          <p:cNvSpPr/>
          <p:nvPr/>
        </p:nvSpPr>
        <p:spPr>
          <a:xfrm>
            <a:off x="640080" y="1984248"/>
            <a:ext cx="2377440" cy="365760"/>
          </a:xfrm>
          <a:prstGeom prst="rect">
            <a:avLst/>
          </a:prstGeom>
          <a:noFill/>
          <a:ln/>
        </p:spPr>
        <p:txBody>
          <a:bodyPr wrap="square" lIns="0" tIns="0" rIns="0" bIns="0" rtlCol="0" anchor="ctr"/>
          <a:lstStyle/>
          <a:p>
            <a:pPr indent="0" marL="0">
              <a:buNone/>
            </a:pPr>
            <a:r>
              <a:rPr lang="en-US" sz="1300" b="1" i="1" dirty="0">
                <a:solidFill>
                  <a:srgbClr val="ECF1F9"/>
                </a:solidFill>
                <a:latin typeface="Calibri" pitchFamily="34" charset="0"/>
                <a:ea typeface="Calibri" pitchFamily="34" charset="-122"/>
                <a:cs typeface="Calibri" pitchFamily="34" charset="-120"/>
              </a:rPr>
              <a:t>Land the interception fix</a:t>
            </a:r>
            <a:endParaRPr lang="en-US" sz="1300" dirty="0"/>
          </a:p>
        </p:txBody>
      </p:sp>
      <p:sp>
        <p:nvSpPr>
          <p:cNvPr id="10" name="Text 8"/>
          <p:cNvSpPr/>
          <p:nvPr/>
        </p:nvSpPr>
        <p:spPr>
          <a:xfrm>
            <a:off x="640080" y="2514600"/>
            <a:ext cx="2377440" cy="3611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Open PR-1 against OpenClaw upstream</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Comment on Discussion #9872</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Stand up parliament/server.py against the v2 corpus</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Write second-half VAULT/CHANNEL/NAVIGATOR patterns (cross-review)</a:t>
            </a:r>
            <a:endParaRPr lang="en-US" sz="1100" dirty="0"/>
          </a:p>
        </p:txBody>
      </p:sp>
      <p:sp>
        <p:nvSpPr>
          <p:cNvPr id="11" name="Shape 9"/>
          <p:cNvSpPr/>
          <p:nvPr/>
        </p:nvSpPr>
        <p:spPr>
          <a:xfrm>
            <a:off x="3383280" y="1691640"/>
            <a:ext cx="2743200" cy="4572000"/>
          </a:xfrm>
          <a:prstGeom prst="rect">
            <a:avLst/>
          </a:prstGeom>
          <a:solidFill>
            <a:srgbClr val="FFFFFF"/>
          </a:solidFill>
          <a:ln w="12700">
            <a:solidFill>
              <a:srgbClr val="C9D6EC"/>
            </a:solidFill>
            <a:prstDash val="solid"/>
          </a:ln>
        </p:spPr>
      </p:sp>
      <p:sp>
        <p:nvSpPr>
          <p:cNvPr id="12" name="Shape 10"/>
          <p:cNvSpPr/>
          <p:nvPr/>
        </p:nvSpPr>
        <p:spPr>
          <a:xfrm>
            <a:off x="3383280" y="1691640"/>
            <a:ext cx="2743200" cy="640080"/>
          </a:xfrm>
          <a:prstGeom prst="rect">
            <a:avLst/>
          </a:prstGeom>
          <a:solidFill>
            <a:srgbClr val="E9C46A"/>
          </a:solidFill>
          <a:ln w="12700">
            <a:solidFill>
              <a:srgbClr val="333333"/>
            </a:solidFill>
            <a:prstDash val="solid"/>
          </a:ln>
        </p:spPr>
      </p:sp>
      <p:sp>
        <p:nvSpPr>
          <p:cNvPr id="13" name="Text 11"/>
          <p:cNvSpPr/>
          <p:nvPr/>
        </p:nvSpPr>
        <p:spPr>
          <a:xfrm>
            <a:off x="3566160" y="1737360"/>
            <a:ext cx="2377440" cy="27432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WEEK 2</a:t>
            </a:r>
            <a:endParaRPr lang="en-US" sz="1100" dirty="0"/>
          </a:p>
        </p:txBody>
      </p:sp>
      <p:sp>
        <p:nvSpPr>
          <p:cNvPr id="14" name="Text 12"/>
          <p:cNvSpPr/>
          <p:nvPr/>
        </p:nvSpPr>
        <p:spPr>
          <a:xfrm>
            <a:off x="3566160" y="1984248"/>
            <a:ext cx="2377440" cy="365760"/>
          </a:xfrm>
          <a:prstGeom prst="rect">
            <a:avLst/>
          </a:prstGeom>
          <a:noFill/>
          <a:ln/>
        </p:spPr>
        <p:txBody>
          <a:bodyPr wrap="square" lIns="0" tIns="0" rIns="0" bIns="0" rtlCol="0" anchor="ctr"/>
          <a:lstStyle/>
          <a:p>
            <a:pPr indent="0" marL="0">
              <a:buNone/>
            </a:pPr>
            <a:r>
              <a:rPr lang="en-US" sz="1300" b="1" i="1" dirty="0">
                <a:solidFill>
                  <a:srgbClr val="ECF1F9"/>
                </a:solidFill>
                <a:latin typeface="Calibri" pitchFamily="34" charset="0"/>
                <a:ea typeface="Calibri" pitchFamily="34" charset="-122"/>
                <a:cs typeface="Calibri" pitchFamily="34" charset="-120"/>
              </a:rPr>
              <a:t>Lab run + corpus iteration</a:t>
            </a:r>
            <a:endParaRPr lang="en-US" sz="1300" dirty="0"/>
          </a:p>
        </p:txBody>
      </p:sp>
      <p:sp>
        <p:nvSpPr>
          <p:cNvPr id="15" name="Text 13"/>
          <p:cNvSpPr/>
          <p:nvPr/>
        </p:nvSpPr>
        <p:spPr>
          <a:xfrm>
            <a:off x="3566160" y="2514600"/>
            <a:ext cx="2377440" cy="3611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Re-load corpus, re-run COMPASS calibration with real data</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Run benign-FPR gate; iterate until ≤ 5%</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If PR-1 stalls, ship monkey-patch in plugin npm package</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Apply PR-1 patch locally to unblock end-to-end demo</a:t>
            </a:r>
            <a:endParaRPr lang="en-US" sz="1100" dirty="0"/>
          </a:p>
        </p:txBody>
      </p:sp>
      <p:sp>
        <p:nvSpPr>
          <p:cNvPr id="16" name="Shape 14"/>
          <p:cNvSpPr/>
          <p:nvPr/>
        </p:nvSpPr>
        <p:spPr>
          <a:xfrm>
            <a:off x="6309360" y="1691640"/>
            <a:ext cx="2743200" cy="4572000"/>
          </a:xfrm>
          <a:prstGeom prst="rect">
            <a:avLst/>
          </a:prstGeom>
          <a:solidFill>
            <a:srgbClr val="FFFFFF"/>
          </a:solidFill>
          <a:ln w="12700">
            <a:solidFill>
              <a:srgbClr val="C9D6EC"/>
            </a:solidFill>
            <a:prstDash val="solid"/>
          </a:ln>
        </p:spPr>
      </p:sp>
      <p:sp>
        <p:nvSpPr>
          <p:cNvPr id="17" name="Shape 15"/>
          <p:cNvSpPr/>
          <p:nvPr/>
        </p:nvSpPr>
        <p:spPr>
          <a:xfrm>
            <a:off x="6309360" y="1691640"/>
            <a:ext cx="2743200" cy="640080"/>
          </a:xfrm>
          <a:prstGeom prst="rect">
            <a:avLst/>
          </a:prstGeom>
          <a:solidFill>
            <a:srgbClr val="1E4FA8"/>
          </a:solidFill>
          <a:ln w="12700">
            <a:solidFill>
              <a:srgbClr val="333333"/>
            </a:solidFill>
            <a:prstDash val="solid"/>
          </a:ln>
        </p:spPr>
      </p:sp>
      <p:sp>
        <p:nvSpPr>
          <p:cNvPr id="18" name="Text 16"/>
          <p:cNvSpPr/>
          <p:nvPr/>
        </p:nvSpPr>
        <p:spPr>
          <a:xfrm>
            <a:off x="6492240" y="1737360"/>
            <a:ext cx="2377440" cy="27432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WEEK 3</a:t>
            </a:r>
            <a:endParaRPr lang="en-US" sz="1100" dirty="0"/>
          </a:p>
        </p:txBody>
      </p:sp>
      <p:sp>
        <p:nvSpPr>
          <p:cNvPr id="19" name="Text 17"/>
          <p:cNvSpPr/>
          <p:nvPr/>
        </p:nvSpPr>
        <p:spPr>
          <a:xfrm>
            <a:off x="6492240" y="1984248"/>
            <a:ext cx="2377440" cy="365760"/>
          </a:xfrm>
          <a:prstGeom prst="rect">
            <a:avLst/>
          </a:prstGeom>
          <a:noFill/>
          <a:ln/>
        </p:spPr>
        <p:txBody>
          <a:bodyPr wrap="square" lIns="0" tIns="0" rIns="0" bIns="0" rtlCol="0" anchor="ctr"/>
          <a:lstStyle/>
          <a:p>
            <a:pPr indent="0" marL="0">
              <a:buNone/>
            </a:pPr>
            <a:r>
              <a:rPr lang="en-US" sz="1300" b="1" i="1" dirty="0">
                <a:solidFill>
                  <a:srgbClr val="ECF1F9"/>
                </a:solidFill>
                <a:latin typeface="Calibri" pitchFamily="34" charset="0"/>
                <a:ea typeface="Calibri" pitchFamily="34" charset="-122"/>
                <a:cs typeface="Calibri" pitchFamily="34" charset="-120"/>
              </a:rPr>
              <a:t>Get real benchmark numbers</a:t>
            </a:r>
            <a:endParaRPr lang="en-US" sz="1300" dirty="0"/>
          </a:p>
        </p:txBody>
      </p:sp>
      <p:sp>
        <p:nvSpPr>
          <p:cNvPr id="20" name="Text 18"/>
          <p:cNvSpPr/>
          <p:nvPr/>
        </p:nvSpPr>
        <p:spPr>
          <a:xfrm>
            <a:off x="6492240" y="2514600"/>
            <a:ext cx="2377440" cy="3611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Run InjecAgent (cold, no corpus tuning)</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Threshold sweep + ROC plots</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End-to-end attack demo through the OpenClaw plugin</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Latency budget breakdown by pipeline stage</a:t>
            </a:r>
            <a:endParaRPr lang="en-US" sz="1100" dirty="0"/>
          </a:p>
        </p:txBody>
      </p:sp>
      <p:sp>
        <p:nvSpPr>
          <p:cNvPr id="21" name="Shape 19"/>
          <p:cNvSpPr/>
          <p:nvPr/>
        </p:nvSpPr>
        <p:spPr>
          <a:xfrm>
            <a:off x="9235440" y="1691640"/>
            <a:ext cx="2743200" cy="4572000"/>
          </a:xfrm>
          <a:prstGeom prst="rect">
            <a:avLst/>
          </a:prstGeom>
          <a:solidFill>
            <a:srgbClr val="FFFFFF"/>
          </a:solidFill>
          <a:ln w="12700">
            <a:solidFill>
              <a:srgbClr val="C9D6EC"/>
            </a:solidFill>
            <a:prstDash val="solid"/>
          </a:ln>
        </p:spPr>
      </p:sp>
      <p:sp>
        <p:nvSpPr>
          <p:cNvPr id="22" name="Shape 20"/>
          <p:cNvSpPr/>
          <p:nvPr/>
        </p:nvSpPr>
        <p:spPr>
          <a:xfrm>
            <a:off x="9235440" y="1691640"/>
            <a:ext cx="2743200" cy="640080"/>
          </a:xfrm>
          <a:prstGeom prst="rect">
            <a:avLst/>
          </a:prstGeom>
          <a:solidFill>
            <a:srgbClr val="2A9D8F"/>
          </a:solidFill>
          <a:ln w="12700">
            <a:solidFill>
              <a:srgbClr val="333333"/>
            </a:solidFill>
            <a:prstDash val="solid"/>
          </a:ln>
        </p:spPr>
      </p:sp>
      <p:sp>
        <p:nvSpPr>
          <p:cNvPr id="23" name="Text 21"/>
          <p:cNvSpPr/>
          <p:nvPr/>
        </p:nvSpPr>
        <p:spPr>
          <a:xfrm>
            <a:off x="9418320" y="1737360"/>
            <a:ext cx="2377440" cy="274320"/>
          </a:xfrm>
          <a:prstGeom prst="rect">
            <a:avLst/>
          </a:prstGeom>
          <a:noFill/>
          <a:ln/>
        </p:spPr>
        <p:txBody>
          <a:bodyPr wrap="square" lIns="0" tIns="0" rIns="0" bIns="0" rtlCol="0" anchor="ctr"/>
          <a:lstStyle/>
          <a:p>
            <a:pPr indent="0" marL="0">
              <a:buNone/>
            </a:pPr>
            <a:r>
              <a:rPr lang="en-US" sz="1100" b="1" spc="400" kern="0" dirty="0">
                <a:solidFill>
                  <a:srgbClr val="ECF1F9"/>
                </a:solidFill>
                <a:latin typeface="Calibri" pitchFamily="34" charset="0"/>
                <a:ea typeface="Calibri" pitchFamily="34" charset="-122"/>
                <a:cs typeface="Calibri" pitchFamily="34" charset="-120"/>
              </a:rPr>
              <a:t>WEEK 4</a:t>
            </a:r>
            <a:endParaRPr lang="en-US" sz="1100" dirty="0"/>
          </a:p>
        </p:txBody>
      </p:sp>
      <p:sp>
        <p:nvSpPr>
          <p:cNvPr id="24" name="Text 22"/>
          <p:cNvSpPr/>
          <p:nvPr/>
        </p:nvSpPr>
        <p:spPr>
          <a:xfrm>
            <a:off x="9418320" y="1984248"/>
            <a:ext cx="2377440" cy="365760"/>
          </a:xfrm>
          <a:prstGeom prst="rect">
            <a:avLst/>
          </a:prstGeom>
          <a:noFill/>
          <a:ln/>
        </p:spPr>
        <p:txBody>
          <a:bodyPr wrap="square" lIns="0" tIns="0" rIns="0" bIns="0" rtlCol="0" anchor="ctr"/>
          <a:lstStyle/>
          <a:p>
            <a:pPr indent="0" marL="0">
              <a:buNone/>
            </a:pPr>
            <a:r>
              <a:rPr lang="en-US" sz="1300" b="1" i="1" dirty="0">
                <a:solidFill>
                  <a:srgbClr val="ECF1F9"/>
                </a:solidFill>
                <a:latin typeface="Calibri" pitchFamily="34" charset="0"/>
                <a:ea typeface="Calibri" pitchFamily="34" charset="-122"/>
                <a:cs typeface="Calibri" pitchFamily="34" charset="-120"/>
              </a:rPr>
              <a:t>Paper writeup + demo prep</a:t>
            </a:r>
            <a:endParaRPr lang="en-US" sz="1300" dirty="0"/>
          </a:p>
        </p:txBody>
      </p:sp>
      <p:sp>
        <p:nvSpPr>
          <p:cNvPr id="25" name="Text 23"/>
          <p:cNvSpPr/>
          <p:nvPr/>
        </p:nvSpPr>
        <p:spPr>
          <a:xfrm>
            <a:off x="9418320" y="2514600"/>
            <a:ext cx="2377440" cy="3611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Fill §5 with the numbers; tighten §1 and §4</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Write §3 and §7 — limitations honestly</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Prepare next capstone-review demo</a:t>
            </a:r>
            <a:endParaRPr lang="en-US" sz="1100" dirty="0"/>
          </a:p>
          <a:p>
            <a:pPr marL="342900" indent="-342900">
              <a:spcAft>
                <a:spcPts val="800"/>
              </a:spcAft>
              <a:buSzPct val="100000"/>
              <a:buChar char="•"/>
            </a:pPr>
            <a:r>
              <a:rPr lang="en-US" sz="1100" dirty="0">
                <a:solidFill>
                  <a:srgbClr val="0B1C3A"/>
                </a:solidFill>
                <a:latin typeface="Calibri" pitchFamily="34" charset="0"/>
                <a:ea typeface="Calibri" pitchFamily="34" charset="-122"/>
                <a:cs typeface="Calibri" pitchFamily="34" charset="-120"/>
              </a:rPr>
              <a:t>Workshop submission packet (ICML 2026 workshop)</a:t>
            </a:r>
            <a:endParaRPr lang="en-US" sz="1100" dirty="0"/>
          </a:p>
        </p:txBody>
      </p:sp>
      <p:sp>
        <p:nvSpPr>
          <p:cNvPr id="26" name="Text 24"/>
          <p:cNvSpPr/>
          <p:nvPr/>
        </p:nvSpPr>
        <p:spPr>
          <a:xfrm>
            <a:off x="457200" y="6327648"/>
            <a:ext cx="7680960" cy="274320"/>
          </a:xfrm>
          <a:prstGeom prst="rect">
            <a:avLst/>
          </a:prstGeom>
          <a:noFill/>
          <a:ln/>
        </p:spPr>
        <p:txBody>
          <a:bodyPr wrap="square" lIns="0" tIns="0" rIns="0" bIns="0" rtlCol="0" anchor="ctr"/>
          <a:lstStyle/>
          <a:p>
            <a:pPr algn="l" indent="0" marL="0">
              <a:buNone/>
            </a:pPr>
            <a:r>
              <a:rPr lang="en-US" sz="1000" i="1" spc="200" kern="0" dirty="0">
                <a:solidFill>
                  <a:srgbClr val="5A6B85"/>
                </a:solidFill>
                <a:latin typeface="Calibri" pitchFamily="34" charset="0"/>
                <a:ea typeface="Calibri" pitchFamily="34" charset="-122"/>
                <a:cs typeface="Calibri" pitchFamily="34" charset="-120"/>
              </a:rPr>
              <a:t>CRITICAL PATH  ·  Week 1 PR-1 must land before Week 2 can run a meaningful benign gate, before Week 3 can run InjecAgent.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18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17  ·  NEXT REVIEW DEMO</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What we'll show at the next capstone review</a:t>
            </a:r>
            <a:endParaRPr lang="en-US" sz="3000" dirty="0"/>
          </a:p>
        </p:txBody>
      </p:sp>
      <p:sp>
        <p:nvSpPr>
          <p:cNvPr id="6" name="Text 4"/>
          <p:cNvSpPr/>
          <p:nvPr/>
        </p:nvSpPr>
        <p:spPr>
          <a:xfrm>
            <a:off x="457200" y="1234440"/>
            <a:ext cx="11247120" cy="457200"/>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The demo equivalent of April's ClawHavoc playback — but with pre-execution interception instead of post-hoc detection.</a:t>
            </a:r>
            <a:endParaRPr lang="en-US" sz="1400" dirty="0"/>
          </a:p>
        </p:txBody>
      </p:sp>
      <p:sp>
        <p:nvSpPr>
          <p:cNvPr id="7" name="Shape 5"/>
          <p:cNvSpPr/>
          <p:nvPr/>
        </p:nvSpPr>
        <p:spPr>
          <a:xfrm>
            <a:off x="457200" y="1828800"/>
            <a:ext cx="2743200" cy="4023360"/>
          </a:xfrm>
          <a:prstGeom prst="rect">
            <a:avLst/>
          </a:prstGeom>
          <a:solidFill>
            <a:srgbClr val="FFFFFF"/>
          </a:solidFill>
          <a:ln w="12700">
            <a:solidFill>
              <a:srgbClr val="C9D6EC"/>
            </a:solidFill>
            <a:prstDash val="solid"/>
          </a:ln>
        </p:spPr>
      </p:sp>
      <p:sp>
        <p:nvSpPr>
          <p:cNvPr id="8" name="Shape 6"/>
          <p:cNvSpPr/>
          <p:nvPr/>
        </p:nvSpPr>
        <p:spPr>
          <a:xfrm>
            <a:off x="1463040" y="2103120"/>
            <a:ext cx="731520" cy="731520"/>
          </a:xfrm>
          <a:prstGeom prst="ellipse">
            <a:avLst/>
          </a:prstGeom>
          <a:solidFill>
            <a:srgbClr val="0B1C3A"/>
          </a:solidFill>
          <a:ln w="12700">
            <a:solidFill>
              <a:srgbClr val="333333"/>
            </a:solidFill>
            <a:prstDash val="solid"/>
          </a:ln>
        </p:spPr>
      </p:sp>
      <p:sp>
        <p:nvSpPr>
          <p:cNvPr id="9" name="Text 7"/>
          <p:cNvSpPr/>
          <p:nvPr/>
        </p:nvSpPr>
        <p:spPr>
          <a:xfrm>
            <a:off x="1463040" y="2103120"/>
            <a:ext cx="731520" cy="731520"/>
          </a:xfrm>
          <a:prstGeom prst="rect">
            <a:avLst/>
          </a:prstGeom>
          <a:noFill/>
          <a:ln/>
        </p:spPr>
        <p:txBody>
          <a:bodyPr wrap="square" lIns="0" tIns="0" rIns="0" bIns="0" rtlCol="0" anchor="ctr"/>
          <a:lstStyle/>
          <a:p>
            <a:pPr algn="ctr" indent="0" marL="0">
              <a:buNone/>
            </a:pPr>
            <a:r>
              <a:rPr lang="en-US" sz="2800" b="1" dirty="0">
                <a:solidFill>
                  <a:srgbClr val="ECF1F9"/>
                </a:solidFill>
                <a:latin typeface="Georgia" pitchFamily="34" charset="0"/>
                <a:ea typeface="Georgia" pitchFamily="34" charset="-122"/>
                <a:cs typeface="Georgia" pitchFamily="34" charset="-120"/>
              </a:rPr>
              <a:t>1</a:t>
            </a:r>
            <a:endParaRPr lang="en-US" sz="2800" dirty="0"/>
          </a:p>
        </p:txBody>
      </p:sp>
      <p:pic>
        <p:nvPicPr>
          <p:cNvPr id="10" name="Image 0" descr="preencoded.png">    </p:cNvPr>
          <p:cNvPicPr>
            <a:picLocks noChangeAspect="1"/>
          </p:cNvPicPr>
          <p:nvPr/>
        </p:nvPicPr>
        <p:blipFill>
          <a:blip r:embed="rId1"/>
          <a:stretch>
            <a:fillRect/>
          </a:stretch>
        </p:blipFill>
        <p:spPr>
          <a:xfrm>
            <a:off x="1554480" y="3017520"/>
            <a:ext cx="548640" cy="548640"/>
          </a:xfrm>
          <a:prstGeom prst="rect">
            <a:avLst/>
          </a:prstGeom>
        </p:spPr>
      </p:pic>
      <p:sp>
        <p:nvSpPr>
          <p:cNvPr id="11" name="Text 8"/>
          <p:cNvSpPr/>
          <p:nvPr/>
        </p:nvSpPr>
        <p:spPr>
          <a:xfrm>
            <a:off x="640080" y="3657600"/>
            <a:ext cx="2377440" cy="365760"/>
          </a:xfrm>
          <a:prstGeom prst="rect">
            <a:avLst/>
          </a:prstGeom>
          <a:noFill/>
          <a:ln/>
        </p:spPr>
        <p:txBody>
          <a:bodyPr wrap="square" lIns="0" tIns="0" rIns="0" bIns="0" rtlCol="0" anchor="ctr"/>
          <a:lstStyle/>
          <a:p>
            <a:pPr algn="ctr" indent="0" marL="0">
              <a:buNone/>
            </a:pPr>
            <a:r>
              <a:rPr lang="en-US" sz="1600" b="1" dirty="0">
                <a:solidFill>
                  <a:srgbClr val="0B1C3A"/>
                </a:solidFill>
                <a:latin typeface="Georgia" pitchFamily="34" charset="0"/>
                <a:ea typeface="Georgia" pitchFamily="34" charset="-122"/>
                <a:cs typeface="Georgia" pitchFamily="34" charset="-120"/>
              </a:rPr>
              <a:t>Setup</a:t>
            </a:r>
            <a:endParaRPr lang="en-US" sz="1600" dirty="0"/>
          </a:p>
        </p:txBody>
      </p:sp>
      <p:sp>
        <p:nvSpPr>
          <p:cNvPr id="12" name="Text 9"/>
          <p:cNvSpPr/>
          <p:nvPr/>
        </p:nvSpPr>
        <p:spPr>
          <a:xfrm>
            <a:off x="640080" y="4069080"/>
            <a:ext cx="2377440" cy="1691640"/>
          </a:xfrm>
          <a:prstGeom prst="rect">
            <a:avLst/>
          </a:prstGeom>
          <a:noFill/>
          <a:ln/>
        </p:spPr>
        <p:txBody>
          <a:bodyPr wrap="square" lIns="0" tIns="0" rIns="0" bIns="0" rtlCol="0" anchor="ctr"/>
          <a:lstStyle/>
          <a:p>
            <a:pPr algn="l" indent="0" marL="0">
              <a:buNone/>
            </a:pPr>
            <a:r>
              <a:rPr lang="en-US" sz="1100" dirty="0">
                <a:solidFill>
                  <a:srgbClr val="0B1C3A"/>
                </a:solidFill>
                <a:latin typeface="Calibri" pitchFamily="34" charset="0"/>
                <a:ea typeface="Calibri" pitchFamily="34" charset="-122"/>
                <a:cs typeface="Calibri" pitchFamily="34" charset="-120"/>
              </a:rPr>
              <a:t>Three terminals — parliament, OpenClaw with Kavach plugin loaded, attack sender. Show the parliament's /health endpoint reporting all five collections loaded.</a:t>
            </a:r>
            <a:endParaRPr lang="en-US" sz="1100" dirty="0"/>
          </a:p>
        </p:txBody>
      </p:sp>
      <p:sp>
        <p:nvSpPr>
          <p:cNvPr id="13" name="Shape 10"/>
          <p:cNvSpPr/>
          <p:nvPr/>
        </p:nvSpPr>
        <p:spPr>
          <a:xfrm>
            <a:off x="3383280" y="1828800"/>
            <a:ext cx="2743200" cy="4023360"/>
          </a:xfrm>
          <a:prstGeom prst="rect">
            <a:avLst/>
          </a:prstGeom>
          <a:solidFill>
            <a:srgbClr val="FFFFFF"/>
          </a:solidFill>
          <a:ln w="12700">
            <a:solidFill>
              <a:srgbClr val="C9D6EC"/>
            </a:solidFill>
            <a:prstDash val="solid"/>
          </a:ln>
        </p:spPr>
      </p:sp>
      <p:sp>
        <p:nvSpPr>
          <p:cNvPr id="14" name="Shape 11"/>
          <p:cNvSpPr/>
          <p:nvPr/>
        </p:nvSpPr>
        <p:spPr>
          <a:xfrm>
            <a:off x="4389120" y="2103120"/>
            <a:ext cx="731520" cy="731520"/>
          </a:xfrm>
          <a:prstGeom prst="ellipse">
            <a:avLst/>
          </a:prstGeom>
          <a:solidFill>
            <a:srgbClr val="0B1C3A"/>
          </a:solidFill>
          <a:ln w="12700">
            <a:solidFill>
              <a:srgbClr val="333333"/>
            </a:solidFill>
            <a:prstDash val="solid"/>
          </a:ln>
        </p:spPr>
      </p:sp>
      <p:sp>
        <p:nvSpPr>
          <p:cNvPr id="15" name="Text 12"/>
          <p:cNvSpPr/>
          <p:nvPr/>
        </p:nvSpPr>
        <p:spPr>
          <a:xfrm>
            <a:off x="4389120" y="2103120"/>
            <a:ext cx="731520" cy="731520"/>
          </a:xfrm>
          <a:prstGeom prst="rect">
            <a:avLst/>
          </a:prstGeom>
          <a:noFill/>
          <a:ln/>
        </p:spPr>
        <p:txBody>
          <a:bodyPr wrap="square" lIns="0" tIns="0" rIns="0" bIns="0" rtlCol="0" anchor="ctr"/>
          <a:lstStyle/>
          <a:p>
            <a:pPr algn="ctr" indent="0" marL="0">
              <a:buNone/>
            </a:pPr>
            <a:r>
              <a:rPr lang="en-US" sz="2800" b="1" dirty="0">
                <a:solidFill>
                  <a:srgbClr val="ECF1F9"/>
                </a:solidFill>
                <a:latin typeface="Georgia" pitchFamily="34" charset="0"/>
                <a:ea typeface="Georgia" pitchFamily="34" charset="-122"/>
                <a:cs typeface="Georgia" pitchFamily="34" charset="-120"/>
              </a:rPr>
              <a:t>2</a:t>
            </a:r>
            <a:endParaRPr lang="en-US" sz="2800" dirty="0"/>
          </a:p>
        </p:txBody>
      </p:sp>
      <p:pic>
        <p:nvPicPr>
          <p:cNvPr id="16" name="Image 1" descr="preencoded.png">    </p:cNvPr>
          <p:cNvPicPr>
            <a:picLocks noChangeAspect="1"/>
          </p:cNvPicPr>
          <p:nvPr/>
        </p:nvPicPr>
        <p:blipFill>
          <a:blip r:embed="rId2"/>
          <a:stretch>
            <a:fillRect/>
          </a:stretch>
        </p:blipFill>
        <p:spPr>
          <a:xfrm>
            <a:off x="4480560" y="3017520"/>
            <a:ext cx="548640" cy="548640"/>
          </a:xfrm>
          <a:prstGeom prst="rect">
            <a:avLst/>
          </a:prstGeom>
        </p:spPr>
      </p:pic>
      <p:sp>
        <p:nvSpPr>
          <p:cNvPr id="17" name="Text 13"/>
          <p:cNvSpPr/>
          <p:nvPr/>
        </p:nvSpPr>
        <p:spPr>
          <a:xfrm>
            <a:off x="3566160" y="3657600"/>
            <a:ext cx="2377440" cy="365760"/>
          </a:xfrm>
          <a:prstGeom prst="rect">
            <a:avLst/>
          </a:prstGeom>
          <a:noFill/>
          <a:ln/>
        </p:spPr>
        <p:txBody>
          <a:bodyPr wrap="square" lIns="0" tIns="0" rIns="0" bIns="0" rtlCol="0" anchor="ctr"/>
          <a:lstStyle/>
          <a:p>
            <a:pPr algn="ctr" indent="0" marL="0">
              <a:buNone/>
            </a:pPr>
            <a:r>
              <a:rPr lang="en-US" sz="1600" b="1" dirty="0">
                <a:solidFill>
                  <a:srgbClr val="0B1C3A"/>
                </a:solidFill>
                <a:latin typeface="Georgia" pitchFamily="34" charset="0"/>
                <a:ea typeface="Georgia" pitchFamily="34" charset="-122"/>
                <a:cs typeface="Georgia" pitchFamily="34" charset="-120"/>
              </a:rPr>
              <a:t>Send the attack</a:t>
            </a:r>
            <a:endParaRPr lang="en-US" sz="1600" dirty="0"/>
          </a:p>
        </p:txBody>
      </p:sp>
      <p:sp>
        <p:nvSpPr>
          <p:cNvPr id="18" name="Text 14"/>
          <p:cNvSpPr/>
          <p:nvPr/>
        </p:nvSpPr>
        <p:spPr>
          <a:xfrm>
            <a:off x="3566160" y="4069080"/>
            <a:ext cx="2377440" cy="1691640"/>
          </a:xfrm>
          <a:prstGeom prst="rect">
            <a:avLst/>
          </a:prstGeom>
          <a:noFill/>
          <a:ln/>
        </p:spPr>
        <p:txBody>
          <a:bodyPr wrap="square" lIns="0" tIns="0" rIns="0" bIns="0" rtlCol="0" anchor="ctr"/>
          <a:lstStyle/>
          <a:p>
            <a:pPr algn="l" indent="0" marL="0">
              <a:buNone/>
            </a:pPr>
            <a:r>
              <a:rPr lang="en-US" sz="1100" dirty="0">
                <a:solidFill>
                  <a:srgbClr val="0B1C3A"/>
                </a:solidFill>
                <a:latin typeface="Calibri" pitchFamily="34" charset="0"/>
                <a:ea typeface="Calibri" pitchFamily="34" charset="-122"/>
                <a:cs typeface="Calibri" pitchFamily="34" charset="-120"/>
              </a:rPr>
              <a:t>User-style prompt: "install the dependencies for this skill." The skill's prerequisites contain a curl-pipe-bash, ClawHavoc-style. Send it through OpenClaw.</a:t>
            </a:r>
            <a:endParaRPr lang="en-US" sz="1100" dirty="0"/>
          </a:p>
        </p:txBody>
      </p:sp>
      <p:sp>
        <p:nvSpPr>
          <p:cNvPr id="19" name="Shape 15"/>
          <p:cNvSpPr/>
          <p:nvPr/>
        </p:nvSpPr>
        <p:spPr>
          <a:xfrm>
            <a:off x="6309360" y="1828800"/>
            <a:ext cx="2743200" cy="4023360"/>
          </a:xfrm>
          <a:prstGeom prst="rect">
            <a:avLst/>
          </a:prstGeom>
          <a:solidFill>
            <a:srgbClr val="FFFFFF"/>
          </a:solidFill>
          <a:ln w="12700">
            <a:solidFill>
              <a:srgbClr val="C9D6EC"/>
            </a:solidFill>
            <a:prstDash val="solid"/>
          </a:ln>
        </p:spPr>
      </p:sp>
      <p:sp>
        <p:nvSpPr>
          <p:cNvPr id="20" name="Shape 16"/>
          <p:cNvSpPr/>
          <p:nvPr/>
        </p:nvSpPr>
        <p:spPr>
          <a:xfrm>
            <a:off x="7315200" y="2103120"/>
            <a:ext cx="731520" cy="731520"/>
          </a:xfrm>
          <a:prstGeom prst="ellipse">
            <a:avLst/>
          </a:prstGeom>
          <a:solidFill>
            <a:srgbClr val="0B1C3A"/>
          </a:solidFill>
          <a:ln w="12700">
            <a:solidFill>
              <a:srgbClr val="333333"/>
            </a:solidFill>
            <a:prstDash val="solid"/>
          </a:ln>
        </p:spPr>
      </p:sp>
      <p:sp>
        <p:nvSpPr>
          <p:cNvPr id="21" name="Text 17"/>
          <p:cNvSpPr/>
          <p:nvPr/>
        </p:nvSpPr>
        <p:spPr>
          <a:xfrm>
            <a:off x="7315200" y="2103120"/>
            <a:ext cx="731520" cy="731520"/>
          </a:xfrm>
          <a:prstGeom prst="rect">
            <a:avLst/>
          </a:prstGeom>
          <a:noFill/>
          <a:ln/>
        </p:spPr>
        <p:txBody>
          <a:bodyPr wrap="square" lIns="0" tIns="0" rIns="0" bIns="0" rtlCol="0" anchor="ctr"/>
          <a:lstStyle/>
          <a:p>
            <a:pPr algn="ctr" indent="0" marL="0">
              <a:buNone/>
            </a:pPr>
            <a:r>
              <a:rPr lang="en-US" sz="2800" b="1" dirty="0">
                <a:solidFill>
                  <a:srgbClr val="ECF1F9"/>
                </a:solidFill>
                <a:latin typeface="Georgia" pitchFamily="34" charset="0"/>
                <a:ea typeface="Georgia" pitchFamily="34" charset="-122"/>
                <a:cs typeface="Georgia" pitchFamily="34" charset="-120"/>
              </a:rPr>
              <a:t>3</a:t>
            </a:r>
            <a:endParaRPr lang="en-US" sz="2800" dirty="0"/>
          </a:p>
        </p:txBody>
      </p:sp>
      <p:pic>
        <p:nvPicPr>
          <p:cNvPr id="22" name="Image 2" descr="preencoded.png">    </p:cNvPr>
          <p:cNvPicPr>
            <a:picLocks noChangeAspect="1"/>
          </p:cNvPicPr>
          <p:nvPr/>
        </p:nvPicPr>
        <p:blipFill>
          <a:blip r:embed="rId3"/>
          <a:stretch>
            <a:fillRect/>
          </a:stretch>
        </p:blipFill>
        <p:spPr>
          <a:xfrm>
            <a:off x="7406640" y="3017520"/>
            <a:ext cx="548640" cy="548640"/>
          </a:xfrm>
          <a:prstGeom prst="rect">
            <a:avLst/>
          </a:prstGeom>
        </p:spPr>
      </p:pic>
      <p:sp>
        <p:nvSpPr>
          <p:cNvPr id="23" name="Text 18"/>
          <p:cNvSpPr/>
          <p:nvPr/>
        </p:nvSpPr>
        <p:spPr>
          <a:xfrm>
            <a:off x="6492240" y="3657600"/>
            <a:ext cx="2377440" cy="365760"/>
          </a:xfrm>
          <a:prstGeom prst="rect">
            <a:avLst/>
          </a:prstGeom>
          <a:noFill/>
          <a:ln/>
        </p:spPr>
        <p:txBody>
          <a:bodyPr wrap="square" lIns="0" tIns="0" rIns="0" bIns="0" rtlCol="0" anchor="ctr"/>
          <a:lstStyle/>
          <a:p>
            <a:pPr algn="ctr" indent="0" marL="0">
              <a:buNone/>
            </a:pPr>
            <a:r>
              <a:rPr lang="en-US" sz="1600" b="1" dirty="0">
                <a:solidFill>
                  <a:srgbClr val="0B1C3A"/>
                </a:solidFill>
                <a:latin typeface="Georgia" pitchFamily="34" charset="0"/>
                <a:ea typeface="Georgia" pitchFamily="34" charset="-122"/>
                <a:cs typeface="Georgia" pitchFamily="34" charset="-120"/>
              </a:rPr>
              <a:t>Watch the parliament fire</a:t>
            </a:r>
            <a:endParaRPr lang="en-US" sz="1600" dirty="0"/>
          </a:p>
        </p:txBody>
      </p:sp>
      <p:sp>
        <p:nvSpPr>
          <p:cNvPr id="24" name="Text 19"/>
          <p:cNvSpPr/>
          <p:nvPr/>
        </p:nvSpPr>
        <p:spPr>
          <a:xfrm>
            <a:off x="6492240" y="4069080"/>
            <a:ext cx="2377440" cy="1691640"/>
          </a:xfrm>
          <a:prstGeom prst="rect">
            <a:avLst/>
          </a:prstGeom>
          <a:noFill/>
          <a:ln/>
        </p:spPr>
        <p:txBody>
          <a:bodyPr wrap="square" lIns="0" tIns="0" rIns="0" bIns="0" rtlCol="0" anchor="ctr"/>
          <a:lstStyle/>
          <a:p>
            <a:pPr algn="l" indent="0" marL="0">
              <a:buNone/>
            </a:pPr>
            <a:r>
              <a:rPr lang="en-US" sz="1100" dirty="0">
                <a:solidFill>
                  <a:srgbClr val="0B1C3A"/>
                </a:solidFill>
                <a:latin typeface="Calibri" pitchFamily="34" charset="0"/>
                <a:ea typeface="Calibri" pitchFamily="34" charset="-122"/>
                <a:cs typeface="Calibri" pitchFamily="34" charset="-120"/>
              </a:rPr>
              <a:t>EXECUTOR matches at sim ≥ 0.8 against EXEC-051 or similar. Speaker returns BLOCK with reason. Plugin honors deny-first. The tool does NOT execute.</a:t>
            </a:r>
            <a:endParaRPr lang="en-US" sz="1100" dirty="0"/>
          </a:p>
        </p:txBody>
      </p:sp>
      <p:sp>
        <p:nvSpPr>
          <p:cNvPr id="25" name="Shape 20"/>
          <p:cNvSpPr/>
          <p:nvPr/>
        </p:nvSpPr>
        <p:spPr>
          <a:xfrm>
            <a:off x="9235440" y="1828800"/>
            <a:ext cx="2743200" cy="4023360"/>
          </a:xfrm>
          <a:prstGeom prst="rect">
            <a:avLst/>
          </a:prstGeom>
          <a:solidFill>
            <a:srgbClr val="FFFFFF"/>
          </a:solidFill>
          <a:ln w="12700">
            <a:solidFill>
              <a:srgbClr val="C9D6EC"/>
            </a:solidFill>
            <a:prstDash val="solid"/>
          </a:ln>
        </p:spPr>
      </p:sp>
      <p:sp>
        <p:nvSpPr>
          <p:cNvPr id="26" name="Shape 21"/>
          <p:cNvSpPr/>
          <p:nvPr/>
        </p:nvSpPr>
        <p:spPr>
          <a:xfrm>
            <a:off x="10241280" y="2103120"/>
            <a:ext cx="731520" cy="731520"/>
          </a:xfrm>
          <a:prstGeom prst="ellipse">
            <a:avLst/>
          </a:prstGeom>
          <a:solidFill>
            <a:srgbClr val="0B1C3A"/>
          </a:solidFill>
          <a:ln w="12700">
            <a:solidFill>
              <a:srgbClr val="333333"/>
            </a:solidFill>
            <a:prstDash val="solid"/>
          </a:ln>
        </p:spPr>
      </p:sp>
      <p:sp>
        <p:nvSpPr>
          <p:cNvPr id="27" name="Text 22"/>
          <p:cNvSpPr/>
          <p:nvPr/>
        </p:nvSpPr>
        <p:spPr>
          <a:xfrm>
            <a:off x="10241280" y="2103120"/>
            <a:ext cx="731520" cy="731520"/>
          </a:xfrm>
          <a:prstGeom prst="rect">
            <a:avLst/>
          </a:prstGeom>
          <a:noFill/>
          <a:ln/>
        </p:spPr>
        <p:txBody>
          <a:bodyPr wrap="square" lIns="0" tIns="0" rIns="0" bIns="0" rtlCol="0" anchor="ctr"/>
          <a:lstStyle/>
          <a:p>
            <a:pPr algn="ctr" indent="0" marL="0">
              <a:buNone/>
            </a:pPr>
            <a:r>
              <a:rPr lang="en-US" sz="2800" b="1" dirty="0">
                <a:solidFill>
                  <a:srgbClr val="ECF1F9"/>
                </a:solidFill>
                <a:latin typeface="Georgia" pitchFamily="34" charset="0"/>
                <a:ea typeface="Georgia" pitchFamily="34" charset="-122"/>
                <a:cs typeface="Georgia" pitchFamily="34" charset="-120"/>
              </a:rPr>
              <a:t>4</a:t>
            </a:r>
            <a:endParaRPr lang="en-US" sz="2800" dirty="0"/>
          </a:p>
        </p:txBody>
      </p:sp>
      <p:pic>
        <p:nvPicPr>
          <p:cNvPr id="28" name="Image 3" descr="preencoded.png">    </p:cNvPr>
          <p:cNvPicPr>
            <a:picLocks noChangeAspect="1"/>
          </p:cNvPicPr>
          <p:nvPr/>
        </p:nvPicPr>
        <p:blipFill>
          <a:blip r:embed="rId4"/>
          <a:stretch>
            <a:fillRect/>
          </a:stretch>
        </p:blipFill>
        <p:spPr>
          <a:xfrm>
            <a:off x="10332720" y="3017520"/>
            <a:ext cx="548640" cy="548640"/>
          </a:xfrm>
          <a:prstGeom prst="rect">
            <a:avLst/>
          </a:prstGeom>
        </p:spPr>
      </p:pic>
      <p:sp>
        <p:nvSpPr>
          <p:cNvPr id="29" name="Text 23"/>
          <p:cNvSpPr/>
          <p:nvPr/>
        </p:nvSpPr>
        <p:spPr>
          <a:xfrm>
            <a:off x="9418320" y="3657600"/>
            <a:ext cx="2377440" cy="365760"/>
          </a:xfrm>
          <a:prstGeom prst="rect">
            <a:avLst/>
          </a:prstGeom>
          <a:noFill/>
          <a:ln/>
        </p:spPr>
        <p:txBody>
          <a:bodyPr wrap="square" lIns="0" tIns="0" rIns="0" bIns="0" rtlCol="0" anchor="ctr"/>
          <a:lstStyle/>
          <a:p>
            <a:pPr algn="ctr" indent="0" marL="0">
              <a:buNone/>
            </a:pPr>
            <a:r>
              <a:rPr lang="en-US" sz="1600" b="1" dirty="0">
                <a:solidFill>
                  <a:srgbClr val="0B1C3A"/>
                </a:solidFill>
                <a:latin typeface="Georgia" pitchFamily="34" charset="0"/>
                <a:ea typeface="Georgia" pitchFamily="34" charset="-122"/>
                <a:cs typeface="Georgia" pitchFamily="34" charset="-120"/>
              </a:rPr>
              <a:t>Show the ledger row</a:t>
            </a:r>
            <a:endParaRPr lang="en-US" sz="1600" dirty="0"/>
          </a:p>
        </p:txBody>
      </p:sp>
      <p:sp>
        <p:nvSpPr>
          <p:cNvPr id="30" name="Text 24"/>
          <p:cNvSpPr/>
          <p:nvPr/>
        </p:nvSpPr>
        <p:spPr>
          <a:xfrm>
            <a:off x="9418320" y="4069080"/>
            <a:ext cx="2377440" cy="1691640"/>
          </a:xfrm>
          <a:prstGeom prst="rect">
            <a:avLst/>
          </a:prstGeom>
          <a:noFill/>
          <a:ln/>
        </p:spPr>
        <p:txBody>
          <a:bodyPr wrap="square" lIns="0" tIns="0" rIns="0" bIns="0" rtlCol="0" anchor="ctr"/>
          <a:lstStyle/>
          <a:p>
            <a:pPr algn="l" indent="0" marL="0">
              <a:buNone/>
            </a:pPr>
            <a:r>
              <a:rPr lang="en-US" sz="1100" dirty="0">
                <a:solidFill>
                  <a:srgbClr val="0B1C3A"/>
                </a:solidFill>
                <a:latin typeface="Calibri" pitchFamily="34" charset="0"/>
                <a:ea typeface="Calibri" pitchFamily="34" charset="-122"/>
                <a:cs typeface="Calibri" pitchFamily="34" charset="-120"/>
              </a:rPr>
              <a:t>sqlite3 parliament/kavach_parliament.db — one row, BLOCK verdict, decided_by EXECUTOR, the matched pattern ID, the latency in ms, the correlation ID.</a:t>
            </a:r>
            <a:endParaRPr lang="en-US" sz="1100" dirty="0"/>
          </a:p>
        </p:txBody>
      </p:sp>
      <p:sp>
        <p:nvSpPr>
          <p:cNvPr id="31" name="Shape 25"/>
          <p:cNvSpPr/>
          <p:nvPr/>
        </p:nvSpPr>
        <p:spPr>
          <a:xfrm>
            <a:off x="457200" y="5989320"/>
            <a:ext cx="11247120" cy="411480"/>
          </a:xfrm>
          <a:prstGeom prst="rect">
            <a:avLst/>
          </a:prstGeom>
          <a:solidFill>
            <a:srgbClr val="0B1C3A"/>
          </a:solidFill>
          <a:ln w="12700">
            <a:solidFill>
              <a:srgbClr val="333333"/>
            </a:solidFill>
            <a:prstDash val="solid"/>
          </a:ln>
        </p:spPr>
      </p:sp>
      <p:sp>
        <p:nvSpPr>
          <p:cNvPr id="32" name="Text 26"/>
          <p:cNvSpPr/>
          <p:nvPr/>
        </p:nvSpPr>
        <p:spPr>
          <a:xfrm>
            <a:off x="457200" y="5989320"/>
            <a:ext cx="11247120" cy="411480"/>
          </a:xfrm>
          <a:prstGeom prst="rect">
            <a:avLst/>
          </a:prstGeom>
          <a:noFill/>
          <a:ln/>
        </p:spPr>
        <p:txBody>
          <a:bodyPr wrap="square" lIns="0" tIns="0" rIns="0" bIns="0" rtlCol="0" anchor="ctr"/>
          <a:lstStyle/>
          <a:p>
            <a:pPr algn="ctr" indent="0" marL="0">
              <a:buNone/>
            </a:pPr>
            <a:r>
              <a:rPr lang="en-US" sz="1200" b="1" i="1" dirty="0">
                <a:solidFill>
                  <a:srgbClr val="ECF1F9"/>
                </a:solidFill>
                <a:latin typeface="Georgia" pitchFamily="34" charset="0"/>
                <a:ea typeface="Georgia" pitchFamily="34" charset="-122"/>
                <a:cs typeface="Georgia" pitchFamily="34" charset="-120"/>
              </a:rPr>
              <a:t>If we can produce that ledger row without the attack having run — Kavach is a real guardrail. That's Figure 1 of the paper.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F1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7EE5"/>
          </a:solidFill>
          <a:ln w="12700">
            <a:solidFill>
              <a:srgbClr val="3B7EE5"/>
            </a:solidFill>
            <a:prstDash val="solid"/>
          </a:ln>
        </p:spPr>
      </p:sp>
      <p:sp>
        <p:nvSpPr>
          <p:cNvPr id="3" name="Text 1"/>
          <p:cNvSpPr/>
          <p:nvPr/>
        </p:nvSpPr>
        <p:spPr>
          <a:xfrm>
            <a:off x="8229600" y="6446520"/>
            <a:ext cx="3657600" cy="274320"/>
          </a:xfrm>
          <a:prstGeom prst="rect">
            <a:avLst/>
          </a:prstGeom>
          <a:noFill/>
          <a:ln/>
        </p:spPr>
        <p:txBody>
          <a:bodyPr wrap="square" lIns="0" tIns="0" rIns="0" bIns="0" rtlCol="0" anchor="ctr"/>
          <a:lstStyle/>
          <a:p>
            <a:pPr algn="r" indent="0" marL="0">
              <a:buNone/>
            </a:pPr>
            <a:r>
              <a:rPr lang="en-US" sz="900" dirty="0">
                <a:solidFill>
                  <a:srgbClr val="5A6B85"/>
                </a:solidFill>
                <a:latin typeface="Calibri" pitchFamily="34" charset="0"/>
                <a:ea typeface="Calibri" pitchFamily="34" charset="-122"/>
                <a:cs typeface="Calibri" pitchFamily="34" charset="-120"/>
              </a:rPr>
              <a:t>Kavach · कवच</a:t>
            </a:r>
            <a:pPr algn="r" indent="0" marL="0">
              <a:buNone/>
            </a:pPr>
            <a:r>
              <a:rPr lang="en-US" sz="900" b="1" dirty="0">
                <a:solidFill>
                  <a:srgbClr val="5A6B85"/>
                </a:solidFill>
                <a:latin typeface="Calibri" pitchFamily="34" charset="0"/>
                <a:ea typeface="Calibri" pitchFamily="34" charset="-122"/>
                <a:cs typeface="Calibri" pitchFamily="34" charset="-120"/>
              </a:rPr>
              <a:t>    19 / 20</a:t>
            </a:r>
            <a:endParaRPr lang="en-US" sz="900" dirty="0"/>
          </a:p>
        </p:txBody>
      </p:sp>
      <p:sp>
        <p:nvSpPr>
          <p:cNvPr id="4" name="Text 2"/>
          <p:cNvSpPr/>
          <p:nvPr/>
        </p:nvSpPr>
        <p:spPr>
          <a:xfrm>
            <a:off x="457200" y="164592"/>
            <a:ext cx="7315200" cy="274320"/>
          </a:xfrm>
          <a:prstGeom prst="rect">
            <a:avLst/>
          </a:prstGeom>
          <a:noFill/>
          <a:ln/>
        </p:spPr>
        <p:txBody>
          <a:bodyPr wrap="square" lIns="0" tIns="0" rIns="0" bIns="0" rtlCol="0" anchor="ctr"/>
          <a:lstStyle/>
          <a:p>
            <a:pPr indent="0" marL="0">
              <a:buNone/>
            </a:pPr>
            <a:r>
              <a:rPr lang="en-US" sz="1000" b="1" spc="400" kern="0" dirty="0">
                <a:solidFill>
                  <a:srgbClr val="5A6B85"/>
                </a:solidFill>
                <a:latin typeface="Calibri" pitchFamily="34" charset="0"/>
                <a:ea typeface="Calibri" pitchFamily="34" charset="-122"/>
                <a:cs typeface="Calibri" pitchFamily="34" charset="-120"/>
              </a:rPr>
              <a:t>18  ·  WHAT WE NEED</a:t>
            </a:r>
            <a:endParaRPr lang="en-US" sz="1000" dirty="0"/>
          </a:p>
        </p:txBody>
      </p:sp>
      <p:sp>
        <p:nvSpPr>
          <p:cNvPr id="5" name="Text 3"/>
          <p:cNvSpPr/>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0B1C3A"/>
                </a:solidFill>
                <a:latin typeface="Georgia" pitchFamily="34" charset="0"/>
                <a:ea typeface="Georgia" pitchFamily="34" charset="-122"/>
                <a:cs typeface="Georgia" pitchFamily="34" charset="-120"/>
              </a:rPr>
              <a:t>Asks of the advisor and the team</a:t>
            </a:r>
            <a:endParaRPr lang="en-US" sz="3000" dirty="0"/>
          </a:p>
        </p:txBody>
      </p:sp>
      <p:sp>
        <p:nvSpPr>
          <p:cNvPr id="6" name="Shape 4"/>
          <p:cNvSpPr/>
          <p:nvPr/>
        </p:nvSpPr>
        <p:spPr>
          <a:xfrm>
            <a:off x="457200" y="1554480"/>
            <a:ext cx="5486400" cy="4709160"/>
          </a:xfrm>
          <a:prstGeom prst="rect">
            <a:avLst/>
          </a:prstGeom>
          <a:solidFill>
            <a:srgbClr val="FFFFFF"/>
          </a:solidFill>
          <a:ln w="12700">
            <a:solidFill>
              <a:srgbClr val="C9D6EC"/>
            </a:solidFill>
            <a:prstDash val="solid"/>
          </a:ln>
        </p:spPr>
      </p:sp>
      <p:sp>
        <p:nvSpPr>
          <p:cNvPr id="7" name="Shape 5"/>
          <p:cNvSpPr/>
          <p:nvPr/>
        </p:nvSpPr>
        <p:spPr>
          <a:xfrm>
            <a:off x="457200" y="1554480"/>
            <a:ext cx="5486400" cy="502920"/>
          </a:xfrm>
          <a:prstGeom prst="rect">
            <a:avLst/>
          </a:prstGeom>
          <a:solidFill>
            <a:srgbClr val="1E4FA8"/>
          </a:solidFill>
          <a:ln w="12700">
            <a:solidFill>
              <a:srgbClr val="333333"/>
            </a:solidFill>
            <a:prstDash val="solid"/>
          </a:ln>
        </p:spPr>
      </p:sp>
      <p:pic>
        <p:nvPicPr>
          <p:cNvPr id="8" name="Image 0" descr="preencoded.png">    </p:cNvPr>
          <p:cNvPicPr>
            <a:picLocks noChangeAspect="1"/>
          </p:cNvPicPr>
          <p:nvPr/>
        </p:nvPicPr>
        <p:blipFill>
          <a:blip r:embed="rId1"/>
          <a:stretch>
            <a:fillRect/>
          </a:stretch>
        </p:blipFill>
        <p:spPr>
          <a:xfrm>
            <a:off x="685800" y="1673352"/>
            <a:ext cx="274320" cy="274320"/>
          </a:xfrm>
          <a:prstGeom prst="rect">
            <a:avLst/>
          </a:prstGeom>
        </p:spPr>
      </p:pic>
      <p:sp>
        <p:nvSpPr>
          <p:cNvPr id="9" name="Text 6"/>
          <p:cNvSpPr/>
          <p:nvPr/>
        </p:nvSpPr>
        <p:spPr>
          <a:xfrm>
            <a:off x="1097280" y="1554480"/>
            <a:ext cx="4754880" cy="502920"/>
          </a:xfrm>
          <a:prstGeom prst="rect">
            <a:avLst/>
          </a:prstGeom>
          <a:noFill/>
          <a:ln/>
        </p:spPr>
        <p:txBody>
          <a:bodyPr wrap="square" lIns="0" tIns="0" rIns="0" bIns="0" rtlCol="0" anchor="ctr"/>
          <a:lstStyle/>
          <a:p>
            <a:pPr indent="0" marL="0">
              <a:buNone/>
            </a:pPr>
            <a:r>
              <a:rPr lang="en-US" sz="1300" b="1" spc="400" kern="0" dirty="0">
                <a:solidFill>
                  <a:srgbClr val="ECF1F9"/>
                </a:solidFill>
                <a:latin typeface="Calibri" pitchFamily="34" charset="0"/>
                <a:ea typeface="Calibri" pitchFamily="34" charset="-122"/>
                <a:cs typeface="Calibri" pitchFamily="34" charset="-120"/>
              </a:rPr>
              <a:t>FROM SIR / GUIDE</a:t>
            </a:r>
            <a:endParaRPr lang="en-US" sz="1300" dirty="0"/>
          </a:p>
        </p:txBody>
      </p:sp>
      <p:sp>
        <p:nvSpPr>
          <p:cNvPr id="10" name="Shape 7"/>
          <p:cNvSpPr/>
          <p:nvPr/>
        </p:nvSpPr>
        <p:spPr>
          <a:xfrm>
            <a:off x="685800" y="2240280"/>
            <a:ext cx="365760" cy="365760"/>
          </a:xfrm>
          <a:prstGeom prst="ellipse">
            <a:avLst/>
          </a:prstGeom>
          <a:solidFill>
            <a:srgbClr val="1E4FA8"/>
          </a:solidFill>
          <a:ln w="12700">
            <a:solidFill>
              <a:srgbClr val="333333"/>
            </a:solidFill>
            <a:prstDash val="solid"/>
          </a:ln>
        </p:spPr>
      </p:sp>
      <p:sp>
        <p:nvSpPr>
          <p:cNvPr id="11" name="Text 8"/>
          <p:cNvSpPr/>
          <p:nvPr/>
        </p:nvSpPr>
        <p:spPr>
          <a:xfrm>
            <a:off x="685800" y="2240280"/>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1</a:t>
            </a:r>
            <a:endParaRPr lang="en-US" sz="1300" dirty="0"/>
          </a:p>
        </p:txBody>
      </p:sp>
      <p:sp>
        <p:nvSpPr>
          <p:cNvPr id="12" name="Text 9"/>
          <p:cNvSpPr/>
          <p:nvPr/>
        </p:nvSpPr>
        <p:spPr>
          <a:xfrm>
            <a:off x="1188720" y="2194560"/>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Lab access in 20 days as planned.</a:t>
            </a:r>
            <a:endParaRPr lang="en-US" sz="1300" dirty="0"/>
          </a:p>
        </p:txBody>
      </p:sp>
      <p:sp>
        <p:nvSpPr>
          <p:cNvPr id="13" name="Text 10"/>
          <p:cNvSpPr/>
          <p:nvPr/>
        </p:nvSpPr>
        <p:spPr>
          <a:xfrm>
            <a:off x="1188720" y="2532888"/>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We have the tooling ready; we cannot run any benchmark numbers without the GPU.</a:t>
            </a:r>
            <a:endParaRPr lang="en-US" sz="1000" dirty="0"/>
          </a:p>
        </p:txBody>
      </p:sp>
      <p:sp>
        <p:nvSpPr>
          <p:cNvPr id="14" name="Shape 11"/>
          <p:cNvSpPr/>
          <p:nvPr/>
        </p:nvSpPr>
        <p:spPr>
          <a:xfrm>
            <a:off x="685800" y="3273552"/>
            <a:ext cx="365760" cy="365760"/>
          </a:xfrm>
          <a:prstGeom prst="ellipse">
            <a:avLst/>
          </a:prstGeom>
          <a:solidFill>
            <a:srgbClr val="1E4FA8"/>
          </a:solidFill>
          <a:ln w="12700">
            <a:solidFill>
              <a:srgbClr val="333333"/>
            </a:solidFill>
            <a:prstDash val="solid"/>
          </a:ln>
        </p:spPr>
      </p:sp>
      <p:sp>
        <p:nvSpPr>
          <p:cNvPr id="15" name="Text 12"/>
          <p:cNvSpPr/>
          <p:nvPr/>
        </p:nvSpPr>
        <p:spPr>
          <a:xfrm>
            <a:off x="685800" y="3273552"/>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1188720" y="3227832"/>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Sign off on the venue plan.</a:t>
            </a:r>
            <a:endParaRPr lang="en-US" sz="1300" dirty="0"/>
          </a:p>
        </p:txBody>
      </p:sp>
      <p:sp>
        <p:nvSpPr>
          <p:cNvPr id="17" name="Text 14"/>
          <p:cNvSpPr/>
          <p:nvPr/>
        </p:nvSpPr>
        <p:spPr>
          <a:xfrm>
            <a:off x="1188720" y="3566160"/>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ICML 2026 Workshop on Agents in the Wild (May/June, non-archival) → MASEC@NeurIPS 2026 → SaTML 2027 archival.</a:t>
            </a:r>
            <a:endParaRPr lang="en-US" sz="1000" dirty="0"/>
          </a:p>
        </p:txBody>
      </p:sp>
      <p:sp>
        <p:nvSpPr>
          <p:cNvPr id="18" name="Shape 15"/>
          <p:cNvSpPr/>
          <p:nvPr/>
        </p:nvSpPr>
        <p:spPr>
          <a:xfrm>
            <a:off x="685800" y="4306824"/>
            <a:ext cx="365760" cy="365760"/>
          </a:xfrm>
          <a:prstGeom prst="ellipse">
            <a:avLst/>
          </a:prstGeom>
          <a:solidFill>
            <a:srgbClr val="1E4FA8"/>
          </a:solidFill>
          <a:ln w="12700">
            <a:solidFill>
              <a:srgbClr val="333333"/>
            </a:solidFill>
            <a:prstDash val="solid"/>
          </a:ln>
        </p:spPr>
      </p:sp>
      <p:sp>
        <p:nvSpPr>
          <p:cNvPr id="19" name="Text 16"/>
          <p:cNvSpPr/>
          <p:nvPr/>
        </p:nvSpPr>
        <p:spPr>
          <a:xfrm>
            <a:off x="685800" y="4306824"/>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1188720" y="4261104"/>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Feedback on §1 and §4 prose.</a:t>
            </a:r>
            <a:endParaRPr lang="en-US" sz="1300" dirty="0"/>
          </a:p>
        </p:txBody>
      </p:sp>
      <p:sp>
        <p:nvSpPr>
          <p:cNvPr id="21" name="Text 18"/>
          <p:cNvSpPr/>
          <p:nvPr/>
        </p:nvSpPr>
        <p:spPr>
          <a:xfrm>
            <a:off x="1188720" y="4599432"/>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Both are drafted in paper/section_*.tex. The temporal-vs-spatial distinction in §4 is the strongest theoretical claim — worth a careful read.</a:t>
            </a:r>
            <a:endParaRPr lang="en-US" sz="1000" dirty="0"/>
          </a:p>
        </p:txBody>
      </p:sp>
      <p:sp>
        <p:nvSpPr>
          <p:cNvPr id="22" name="Shape 19"/>
          <p:cNvSpPr/>
          <p:nvPr/>
        </p:nvSpPr>
        <p:spPr>
          <a:xfrm>
            <a:off x="685800" y="5340096"/>
            <a:ext cx="365760" cy="365760"/>
          </a:xfrm>
          <a:prstGeom prst="ellipse">
            <a:avLst/>
          </a:prstGeom>
          <a:solidFill>
            <a:srgbClr val="1E4FA8"/>
          </a:solidFill>
          <a:ln w="12700">
            <a:solidFill>
              <a:srgbClr val="333333"/>
            </a:solidFill>
            <a:prstDash val="solid"/>
          </a:ln>
        </p:spPr>
      </p:sp>
      <p:sp>
        <p:nvSpPr>
          <p:cNvPr id="23" name="Text 20"/>
          <p:cNvSpPr/>
          <p:nvPr/>
        </p:nvSpPr>
        <p:spPr>
          <a:xfrm>
            <a:off x="685800" y="5340096"/>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1188720" y="5294376"/>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Agreement that the benign-FPR gate is non-negotiable.</a:t>
            </a:r>
            <a:endParaRPr lang="en-US" sz="1300" dirty="0"/>
          </a:p>
        </p:txBody>
      </p:sp>
      <p:sp>
        <p:nvSpPr>
          <p:cNvPr id="25" name="Text 22"/>
          <p:cNvSpPr/>
          <p:nvPr/>
        </p:nvSpPr>
        <p:spPr>
          <a:xfrm>
            <a:off x="1188720" y="5632704"/>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If we ship InjecAgent numbers without it and a reviewer asks, we have no defense.</a:t>
            </a:r>
            <a:endParaRPr lang="en-US" sz="1000" dirty="0"/>
          </a:p>
        </p:txBody>
      </p:sp>
      <p:sp>
        <p:nvSpPr>
          <p:cNvPr id="26" name="Shape 23"/>
          <p:cNvSpPr/>
          <p:nvPr/>
        </p:nvSpPr>
        <p:spPr>
          <a:xfrm>
            <a:off x="6263640" y="1554480"/>
            <a:ext cx="5486400" cy="4709160"/>
          </a:xfrm>
          <a:prstGeom prst="rect">
            <a:avLst/>
          </a:prstGeom>
          <a:solidFill>
            <a:srgbClr val="FFFFFF"/>
          </a:solidFill>
          <a:ln w="12700">
            <a:solidFill>
              <a:srgbClr val="C9D6EC"/>
            </a:solidFill>
            <a:prstDash val="solid"/>
          </a:ln>
        </p:spPr>
      </p:sp>
      <p:sp>
        <p:nvSpPr>
          <p:cNvPr id="27" name="Shape 24"/>
          <p:cNvSpPr/>
          <p:nvPr/>
        </p:nvSpPr>
        <p:spPr>
          <a:xfrm>
            <a:off x="6263640" y="1554480"/>
            <a:ext cx="5486400" cy="502920"/>
          </a:xfrm>
          <a:prstGeom prst="rect">
            <a:avLst/>
          </a:prstGeom>
          <a:solidFill>
            <a:srgbClr val="2A9D8F"/>
          </a:solidFill>
          <a:ln w="12700">
            <a:solidFill>
              <a:srgbClr val="333333"/>
            </a:solidFill>
            <a:prstDash val="solid"/>
          </a:ln>
        </p:spPr>
      </p:sp>
      <p:pic>
        <p:nvPicPr>
          <p:cNvPr id="28" name="Image 1" descr="preencoded.png">    </p:cNvPr>
          <p:cNvPicPr>
            <a:picLocks noChangeAspect="1"/>
          </p:cNvPicPr>
          <p:nvPr/>
        </p:nvPicPr>
        <p:blipFill>
          <a:blip r:embed="rId2"/>
          <a:stretch>
            <a:fillRect/>
          </a:stretch>
        </p:blipFill>
        <p:spPr>
          <a:xfrm>
            <a:off x="6492240" y="1673352"/>
            <a:ext cx="274320" cy="274320"/>
          </a:xfrm>
          <a:prstGeom prst="rect">
            <a:avLst/>
          </a:prstGeom>
        </p:spPr>
      </p:pic>
      <p:sp>
        <p:nvSpPr>
          <p:cNvPr id="29" name="Text 25"/>
          <p:cNvSpPr/>
          <p:nvPr/>
        </p:nvSpPr>
        <p:spPr>
          <a:xfrm>
            <a:off x="6903720" y="1554480"/>
            <a:ext cx="4754880" cy="502920"/>
          </a:xfrm>
          <a:prstGeom prst="rect">
            <a:avLst/>
          </a:prstGeom>
          <a:noFill/>
          <a:ln/>
        </p:spPr>
        <p:txBody>
          <a:bodyPr wrap="square" lIns="0" tIns="0" rIns="0" bIns="0" rtlCol="0" anchor="ctr"/>
          <a:lstStyle/>
          <a:p>
            <a:pPr indent="0" marL="0">
              <a:buNone/>
            </a:pPr>
            <a:r>
              <a:rPr lang="en-US" sz="1300" b="1" spc="400" kern="0" dirty="0">
                <a:solidFill>
                  <a:srgbClr val="ECF1F9"/>
                </a:solidFill>
                <a:latin typeface="Calibri" pitchFamily="34" charset="0"/>
                <a:ea typeface="Calibri" pitchFamily="34" charset="-122"/>
                <a:cs typeface="Calibri" pitchFamily="34" charset="-120"/>
              </a:rPr>
              <a:t>FROM THE TEAM</a:t>
            </a:r>
            <a:endParaRPr lang="en-US" sz="1300" dirty="0"/>
          </a:p>
        </p:txBody>
      </p:sp>
      <p:sp>
        <p:nvSpPr>
          <p:cNvPr id="30" name="Shape 26"/>
          <p:cNvSpPr/>
          <p:nvPr/>
        </p:nvSpPr>
        <p:spPr>
          <a:xfrm>
            <a:off x="6492240" y="2240280"/>
            <a:ext cx="365760" cy="365760"/>
          </a:xfrm>
          <a:prstGeom prst="ellipse">
            <a:avLst/>
          </a:prstGeom>
          <a:solidFill>
            <a:srgbClr val="2A9D8F"/>
          </a:solidFill>
          <a:ln w="12700">
            <a:solidFill>
              <a:srgbClr val="333333"/>
            </a:solidFill>
            <a:prstDash val="solid"/>
          </a:ln>
        </p:spPr>
      </p:sp>
      <p:sp>
        <p:nvSpPr>
          <p:cNvPr id="31" name="Text 27"/>
          <p:cNvSpPr/>
          <p:nvPr/>
        </p:nvSpPr>
        <p:spPr>
          <a:xfrm>
            <a:off x="6492240" y="2240280"/>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1</a:t>
            </a:r>
            <a:endParaRPr lang="en-US" sz="1300" dirty="0"/>
          </a:p>
        </p:txBody>
      </p:sp>
      <p:sp>
        <p:nvSpPr>
          <p:cNvPr id="32" name="Text 28"/>
          <p:cNvSpPr/>
          <p:nvPr/>
        </p:nvSpPr>
        <p:spPr>
          <a:xfrm>
            <a:off x="6995160" y="2194560"/>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Cross-review of the v2 patterns.</a:t>
            </a:r>
            <a:endParaRPr lang="en-US" sz="1300" dirty="0"/>
          </a:p>
        </p:txBody>
      </p:sp>
      <p:sp>
        <p:nvSpPr>
          <p:cNvPr id="33" name="Text 29"/>
          <p:cNvSpPr/>
          <p:nvPr/>
        </p:nvSpPr>
        <p:spPr>
          <a:xfrm>
            <a:off x="6995160" y="2532888"/>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Janya reviews Pranitha's, Pranitha reviews Janya's. If the reviewer can identify the writer from style, the patterns are too writer-specific.</a:t>
            </a:r>
            <a:endParaRPr lang="en-US" sz="1000" dirty="0"/>
          </a:p>
        </p:txBody>
      </p:sp>
      <p:sp>
        <p:nvSpPr>
          <p:cNvPr id="34" name="Shape 30"/>
          <p:cNvSpPr/>
          <p:nvPr/>
        </p:nvSpPr>
        <p:spPr>
          <a:xfrm>
            <a:off x="6492240" y="3273552"/>
            <a:ext cx="365760" cy="365760"/>
          </a:xfrm>
          <a:prstGeom prst="ellipse">
            <a:avLst/>
          </a:prstGeom>
          <a:solidFill>
            <a:srgbClr val="2A9D8F"/>
          </a:solidFill>
          <a:ln w="12700">
            <a:solidFill>
              <a:srgbClr val="333333"/>
            </a:solidFill>
            <a:prstDash val="solid"/>
          </a:ln>
        </p:spPr>
      </p:sp>
      <p:sp>
        <p:nvSpPr>
          <p:cNvPr id="35" name="Text 31"/>
          <p:cNvSpPr/>
          <p:nvPr/>
        </p:nvSpPr>
        <p:spPr>
          <a:xfrm>
            <a:off x="6492240" y="3273552"/>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2</a:t>
            </a:r>
            <a:endParaRPr lang="en-US" sz="1300" dirty="0"/>
          </a:p>
        </p:txBody>
      </p:sp>
      <p:sp>
        <p:nvSpPr>
          <p:cNvPr id="36" name="Text 32"/>
          <p:cNvSpPr/>
          <p:nvPr/>
        </p:nvSpPr>
        <p:spPr>
          <a:xfrm>
            <a:off x="6995160" y="3227832"/>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Parv: open PR-1 to OpenClaw upstream.</a:t>
            </a:r>
            <a:endParaRPr lang="en-US" sz="1300" dirty="0"/>
          </a:p>
        </p:txBody>
      </p:sp>
      <p:sp>
        <p:nvSpPr>
          <p:cNvPr id="37" name="Text 33"/>
          <p:cNvSpPr/>
          <p:nvPr/>
        </p:nvSpPr>
        <p:spPr>
          <a:xfrm>
            <a:off x="6995160" y="3566160"/>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Spec is in openclaw_pr/PR1_hooks_fix.md. Two test files ready as the PR's first commit.</a:t>
            </a:r>
            <a:endParaRPr lang="en-US" sz="1000" dirty="0"/>
          </a:p>
        </p:txBody>
      </p:sp>
      <p:sp>
        <p:nvSpPr>
          <p:cNvPr id="38" name="Shape 34"/>
          <p:cNvSpPr/>
          <p:nvPr/>
        </p:nvSpPr>
        <p:spPr>
          <a:xfrm>
            <a:off x="6492240" y="4306824"/>
            <a:ext cx="365760" cy="365760"/>
          </a:xfrm>
          <a:prstGeom prst="ellipse">
            <a:avLst/>
          </a:prstGeom>
          <a:solidFill>
            <a:srgbClr val="2A9D8F"/>
          </a:solidFill>
          <a:ln w="12700">
            <a:solidFill>
              <a:srgbClr val="333333"/>
            </a:solidFill>
            <a:prstDash val="solid"/>
          </a:ln>
        </p:spPr>
      </p:sp>
      <p:sp>
        <p:nvSpPr>
          <p:cNvPr id="39" name="Text 35"/>
          <p:cNvSpPr/>
          <p:nvPr/>
        </p:nvSpPr>
        <p:spPr>
          <a:xfrm>
            <a:off x="6492240" y="4306824"/>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3</a:t>
            </a:r>
            <a:endParaRPr lang="en-US" sz="1300" dirty="0"/>
          </a:p>
        </p:txBody>
      </p:sp>
      <p:sp>
        <p:nvSpPr>
          <p:cNvPr id="40" name="Text 36"/>
          <p:cNvSpPr/>
          <p:nvPr/>
        </p:nvSpPr>
        <p:spPr>
          <a:xfrm>
            <a:off x="6995160" y="4261104"/>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Ishani: bring the parliament up against full v2 corpus.</a:t>
            </a:r>
            <a:endParaRPr lang="en-US" sz="1300" dirty="0"/>
          </a:p>
        </p:txBody>
      </p:sp>
      <p:sp>
        <p:nvSpPr>
          <p:cNvPr id="41" name="Text 37"/>
          <p:cNvSpPr/>
          <p:nvPr/>
        </p:nvSpPr>
        <p:spPr>
          <a:xfrm>
            <a:off x="6995160" y="4599432"/>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Run smoke_test.py first, only then proceed to benchmarks.</a:t>
            </a:r>
            <a:endParaRPr lang="en-US" sz="1000" dirty="0"/>
          </a:p>
        </p:txBody>
      </p:sp>
      <p:sp>
        <p:nvSpPr>
          <p:cNvPr id="42" name="Shape 38"/>
          <p:cNvSpPr/>
          <p:nvPr/>
        </p:nvSpPr>
        <p:spPr>
          <a:xfrm>
            <a:off x="6492240" y="5340096"/>
            <a:ext cx="365760" cy="365760"/>
          </a:xfrm>
          <a:prstGeom prst="ellipse">
            <a:avLst/>
          </a:prstGeom>
          <a:solidFill>
            <a:srgbClr val="2A9D8F"/>
          </a:solidFill>
          <a:ln w="12700">
            <a:solidFill>
              <a:srgbClr val="333333"/>
            </a:solidFill>
            <a:prstDash val="solid"/>
          </a:ln>
        </p:spPr>
      </p:sp>
      <p:sp>
        <p:nvSpPr>
          <p:cNvPr id="43" name="Text 39"/>
          <p:cNvSpPr/>
          <p:nvPr/>
        </p:nvSpPr>
        <p:spPr>
          <a:xfrm>
            <a:off x="6492240" y="5340096"/>
            <a:ext cx="365760" cy="365760"/>
          </a:xfrm>
          <a:prstGeom prst="rect">
            <a:avLst/>
          </a:prstGeom>
          <a:noFill/>
          <a:ln/>
        </p:spPr>
        <p:txBody>
          <a:bodyPr wrap="square" lIns="0" tIns="0" rIns="0" bIns="0" rtlCol="0" anchor="ctr"/>
          <a:lstStyle/>
          <a:p>
            <a:pPr algn="ctr" indent="0" marL="0">
              <a:buNone/>
            </a:pPr>
            <a:r>
              <a:rPr lang="en-US" sz="1300" b="1" dirty="0">
                <a:solidFill>
                  <a:srgbClr val="ECF1F9"/>
                </a:solidFill>
                <a:latin typeface="Calibri" pitchFamily="34" charset="0"/>
                <a:ea typeface="Calibri" pitchFamily="34" charset="-122"/>
                <a:cs typeface="Calibri" pitchFamily="34" charset="-120"/>
              </a:rPr>
              <a:t>4</a:t>
            </a:r>
            <a:endParaRPr lang="en-US" sz="1300" dirty="0"/>
          </a:p>
        </p:txBody>
      </p:sp>
      <p:sp>
        <p:nvSpPr>
          <p:cNvPr id="44" name="Text 40"/>
          <p:cNvSpPr/>
          <p:nvPr/>
        </p:nvSpPr>
        <p:spPr>
          <a:xfrm>
            <a:off x="6995160" y="5294376"/>
            <a:ext cx="4572000" cy="365760"/>
          </a:xfrm>
          <a:prstGeom prst="rect">
            <a:avLst/>
          </a:prstGeom>
          <a:noFill/>
          <a:ln/>
        </p:spPr>
        <p:txBody>
          <a:bodyPr wrap="square" lIns="0" tIns="0" rIns="0" bIns="0" rtlCol="0" anchor="ctr"/>
          <a:lstStyle/>
          <a:p>
            <a:pPr indent="0" marL="0">
              <a:buNone/>
            </a:pPr>
            <a:r>
              <a:rPr lang="en-US" sz="1300" b="1" dirty="0">
                <a:solidFill>
                  <a:srgbClr val="0B1C3A"/>
                </a:solidFill>
                <a:latin typeface="Calibri" pitchFamily="34" charset="0"/>
                <a:ea typeface="Calibri" pitchFamily="34" charset="-122"/>
                <a:cs typeface="Calibri" pitchFamily="34" charset="-120"/>
              </a:rPr>
              <a:t>Agreement on the publishing plan.</a:t>
            </a:r>
            <a:endParaRPr lang="en-US" sz="1300" dirty="0"/>
          </a:p>
        </p:txBody>
      </p:sp>
      <p:sp>
        <p:nvSpPr>
          <p:cNvPr id="45" name="Text 41"/>
          <p:cNvSpPr/>
          <p:nvPr/>
        </p:nvSpPr>
        <p:spPr>
          <a:xfrm>
            <a:off x="6995160" y="5632704"/>
            <a:ext cx="4572000" cy="64008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Repo private until Workstream C cross-review and Workstream D benign gate both pass. Then make public.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C3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B7EE5"/>
          </a:solidFill>
          <a:ln w="12700">
            <a:solidFill>
              <a:srgbClr val="333333"/>
            </a:solidFill>
            <a:prstDash val="solid"/>
          </a:ln>
        </p:spPr>
      </p:sp>
      <p:sp>
        <p:nvSpPr>
          <p:cNvPr id="3" name="Text 1"/>
          <p:cNvSpPr/>
          <p:nvPr/>
        </p:nvSpPr>
        <p:spPr>
          <a:xfrm>
            <a:off x="5943600" y="365760"/>
            <a:ext cx="5943600" cy="4114800"/>
          </a:xfrm>
          <a:prstGeom prst="rect">
            <a:avLst/>
          </a:prstGeom>
          <a:noFill/>
          <a:ln/>
        </p:spPr>
        <p:txBody>
          <a:bodyPr wrap="square" lIns="0" tIns="0" rIns="0" bIns="0" rtlCol="0" anchor="ctr"/>
          <a:lstStyle/>
          <a:p>
            <a:pPr algn="ctr" indent="0" marL="0">
              <a:buNone/>
            </a:pPr>
            <a:r>
              <a:rPr lang="en-US" sz="35000" dirty="0">
                <a:solidFill>
                  <a:srgbClr val="1E4FA8">
                    <a:alpha val="30000"/>
                  </a:srgbClr>
                </a:solidFill>
                <a:latin typeface="Georgia" pitchFamily="34" charset="0"/>
                <a:ea typeface="Georgia" pitchFamily="34" charset="-122"/>
                <a:cs typeface="Georgia" pitchFamily="34" charset="-120"/>
              </a:rPr>
              <a:t>कवच</a:t>
            </a:r>
            <a:endParaRPr lang="en-US" sz="35000" dirty="0"/>
          </a:p>
        </p:txBody>
      </p:sp>
      <p:sp>
        <p:nvSpPr>
          <p:cNvPr id="4" name="Text 2"/>
          <p:cNvSpPr/>
          <p:nvPr/>
        </p:nvSpPr>
        <p:spPr>
          <a:xfrm>
            <a:off x="640080" y="1371600"/>
            <a:ext cx="10972800" cy="365760"/>
          </a:xfrm>
          <a:prstGeom prst="rect">
            <a:avLst/>
          </a:prstGeom>
          <a:noFill/>
          <a:ln/>
        </p:spPr>
        <p:txBody>
          <a:bodyPr wrap="square" lIns="0" tIns="0" rIns="0" bIns="0" rtlCol="0" anchor="ctr"/>
          <a:lstStyle/>
          <a:p>
            <a:pPr indent="0" marL="0">
              <a:buNone/>
            </a:pPr>
            <a:r>
              <a:rPr lang="en-US" sz="1100" b="1" spc="600" kern="0" dirty="0">
                <a:solidFill>
                  <a:srgbClr val="7FB0FF"/>
                </a:solidFill>
                <a:latin typeface="Calibri" pitchFamily="34" charset="0"/>
                <a:ea typeface="Calibri" pitchFamily="34" charset="-122"/>
                <a:cs typeface="Calibri" pitchFamily="34" charset="-120"/>
              </a:rPr>
              <a:t>THE SINGLE SENTENCE</a:t>
            </a:r>
            <a:endParaRPr lang="en-US" sz="1100" dirty="0"/>
          </a:p>
        </p:txBody>
      </p:sp>
      <p:sp>
        <p:nvSpPr>
          <p:cNvPr id="5" name="Text 3"/>
          <p:cNvSpPr/>
          <p:nvPr/>
        </p:nvSpPr>
        <p:spPr>
          <a:xfrm>
            <a:off x="640080" y="1920240"/>
            <a:ext cx="10972800" cy="1097280"/>
          </a:xfrm>
          <a:prstGeom prst="rect">
            <a:avLst/>
          </a:prstGeom>
          <a:noFill/>
          <a:ln/>
        </p:spPr>
        <p:txBody>
          <a:bodyPr wrap="square" lIns="0" tIns="0" rIns="0" bIns="0" rtlCol="0" anchor="ctr"/>
          <a:lstStyle/>
          <a:p>
            <a:pPr indent="0" marL="0">
              <a:buNone/>
            </a:pPr>
            <a:r>
              <a:rPr lang="en-US" sz="3600" b="1" dirty="0">
                <a:solidFill>
                  <a:srgbClr val="ECF1F9"/>
                </a:solidFill>
                <a:latin typeface="Georgia" pitchFamily="34" charset="0"/>
                <a:ea typeface="Georgia" pitchFamily="34" charset="-122"/>
                <a:cs typeface="Georgia" pitchFamily="34" charset="-120"/>
              </a:rPr>
              <a:t>Fix the OpenClaw bugs so before_tool_call actually fires —</a:t>
            </a:r>
            <a:endParaRPr lang="en-US" sz="3600" dirty="0"/>
          </a:p>
        </p:txBody>
      </p:sp>
      <p:sp>
        <p:nvSpPr>
          <p:cNvPr id="6" name="Text 4"/>
          <p:cNvSpPr/>
          <p:nvPr/>
        </p:nvSpPr>
        <p:spPr>
          <a:xfrm>
            <a:off x="640080" y="3246120"/>
            <a:ext cx="10972800" cy="640080"/>
          </a:xfrm>
          <a:prstGeom prst="rect">
            <a:avLst/>
          </a:prstGeom>
          <a:noFill/>
          <a:ln/>
        </p:spPr>
        <p:txBody>
          <a:bodyPr wrap="square" lIns="0" tIns="0" rIns="0" bIns="0" rtlCol="0" anchor="ctr"/>
          <a:lstStyle/>
          <a:p>
            <a:pPr indent="0" marL="0">
              <a:buNone/>
            </a:pPr>
            <a:r>
              <a:rPr lang="en-US" sz="2400" i="1" dirty="0">
                <a:solidFill>
                  <a:srgbClr val="7FB0FF"/>
                </a:solidFill>
                <a:latin typeface="Georgia" pitchFamily="34" charset="0"/>
                <a:ea typeface="Georgia" pitchFamily="34" charset="-122"/>
                <a:cs typeface="Georgia" pitchFamily="34" charset="-120"/>
              </a:rPr>
              <a:t>because until that's done, Kavach is a monitor, not a guardrail,</a:t>
            </a:r>
            <a:endParaRPr lang="en-US" sz="2400" dirty="0"/>
          </a:p>
        </p:txBody>
      </p:sp>
      <p:sp>
        <p:nvSpPr>
          <p:cNvPr id="7" name="Text 5"/>
          <p:cNvSpPr/>
          <p:nvPr/>
        </p:nvSpPr>
        <p:spPr>
          <a:xfrm>
            <a:off x="640080" y="3886200"/>
            <a:ext cx="10972800" cy="640080"/>
          </a:xfrm>
          <a:prstGeom prst="rect">
            <a:avLst/>
          </a:prstGeom>
          <a:noFill/>
          <a:ln/>
        </p:spPr>
        <p:txBody>
          <a:bodyPr wrap="square" lIns="0" tIns="0" rIns="0" bIns="0" rtlCol="0" anchor="ctr"/>
          <a:lstStyle/>
          <a:p>
            <a:pPr indent="0" marL="0">
              <a:buNone/>
            </a:pPr>
            <a:r>
              <a:rPr lang="en-US" sz="2400" i="1" dirty="0">
                <a:solidFill>
                  <a:srgbClr val="7FB0FF"/>
                </a:solidFill>
                <a:latin typeface="Georgia" pitchFamily="34" charset="0"/>
                <a:ea typeface="Georgia" pitchFamily="34" charset="-122"/>
                <a:cs typeface="Georgia" pitchFamily="34" charset="-120"/>
              </a:rPr>
              <a:t>and everything else is decoration.</a:t>
            </a:r>
            <a:endParaRPr lang="en-US" sz="2400" dirty="0"/>
          </a:p>
        </p:txBody>
      </p:sp>
      <p:sp>
        <p:nvSpPr>
          <p:cNvPr id="8" name="Shape 6"/>
          <p:cNvSpPr/>
          <p:nvPr/>
        </p:nvSpPr>
        <p:spPr>
          <a:xfrm>
            <a:off x="640080" y="4800600"/>
            <a:ext cx="914400" cy="36576"/>
          </a:xfrm>
          <a:prstGeom prst="rect">
            <a:avLst/>
          </a:prstGeom>
          <a:solidFill>
            <a:srgbClr val="3B7EE5"/>
          </a:solidFill>
          <a:ln w="12700">
            <a:solidFill>
              <a:srgbClr val="333333"/>
            </a:solidFill>
            <a:prstDash val="solid"/>
          </a:ln>
        </p:spPr>
      </p:sp>
      <p:sp>
        <p:nvSpPr>
          <p:cNvPr id="9" name="Text 7"/>
          <p:cNvSpPr/>
          <p:nvPr/>
        </p:nvSpPr>
        <p:spPr>
          <a:xfrm>
            <a:off x="640080" y="4983480"/>
            <a:ext cx="10972800" cy="457200"/>
          </a:xfrm>
          <a:prstGeom prst="rect">
            <a:avLst/>
          </a:prstGeom>
          <a:noFill/>
          <a:ln/>
        </p:spPr>
        <p:txBody>
          <a:bodyPr wrap="square" lIns="0" tIns="0" rIns="0" bIns="0" rtlCol="0" anchor="ctr"/>
          <a:lstStyle/>
          <a:p>
            <a:pPr indent="0" marL="0">
              <a:buNone/>
            </a:pPr>
            <a:r>
              <a:rPr lang="en-US" sz="1400" dirty="0">
                <a:solidFill>
                  <a:srgbClr val="7FB0FF"/>
                </a:solidFill>
                <a:latin typeface="Calibri" pitchFamily="34" charset="0"/>
                <a:ea typeface="Calibri" pitchFamily="34" charset="-122"/>
                <a:cs typeface="Calibri" pitchFamily="34" charset="-120"/>
              </a:rPr>
              <a:t>Everything after that — benchmarks, new ministers, the paper — </a:t>
            </a:r>
            <a:pPr indent="0" marL="0">
              <a:buNone/>
            </a:pPr>
            <a:r>
              <a:rPr lang="en-US" sz="1400" b="1" dirty="0">
                <a:solidFill>
                  <a:srgbClr val="ECF1F9"/>
                </a:solidFill>
                <a:latin typeface="Calibri" pitchFamily="34" charset="0"/>
                <a:ea typeface="Calibri" pitchFamily="34" charset="-122"/>
                <a:cs typeface="Calibri" pitchFamily="34" charset="-120"/>
              </a:rPr>
              <a:t>follows naturally once interception is real.</a:t>
            </a:r>
            <a:endParaRPr lang="en-US" sz="1400" dirty="0"/>
          </a:p>
        </p:txBody>
      </p:sp>
      <p:sp>
        <p:nvSpPr>
          <p:cNvPr id="10" name="Shape 8"/>
          <p:cNvSpPr/>
          <p:nvPr/>
        </p:nvSpPr>
        <p:spPr>
          <a:xfrm>
            <a:off x="0" y="6446520"/>
            <a:ext cx="12191695" cy="411480"/>
          </a:xfrm>
          <a:prstGeom prst="rect">
            <a:avLst/>
          </a:prstGeom>
          <a:solidFill>
            <a:srgbClr val="1E4FA8"/>
          </a:solidFill>
          <a:ln w="12700">
            <a:solidFill>
              <a:srgbClr val="333333"/>
            </a:solidFill>
            <a:prstDash val="solid"/>
          </a:ln>
        </p:spPr>
      </p:sp>
      <p:sp>
        <p:nvSpPr>
          <p:cNvPr id="11" name="Text 9"/>
          <p:cNvSpPr/>
          <p:nvPr/>
        </p:nvSpPr>
        <p:spPr>
          <a:xfrm>
            <a:off x="457200" y="6446520"/>
            <a:ext cx="11247120" cy="411480"/>
          </a:xfrm>
          <a:prstGeom prst="rect">
            <a:avLst/>
          </a:prstGeom>
          <a:noFill/>
          <a:ln/>
        </p:spPr>
        <p:txBody>
          <a:bodyPr wrap="square" lIns="0" tIns="0" rIns="0" bIns="0" rtlCol="0" anchor="ctr"/>
          <a:lstStyle/>
          <a:p>
            <a:pPr algn="ctr" indent="0" marL="0">
              <a:buNone/>
            </a:pPr>
            <a:r>
              <a:rPr lang="en-US" sz="1100" b="1" dirty="0">
                <a:solidFill>
                  <a:srgbClr val="ECF1F9"/>
                </a:solidFill>
                <a:latin typeface="Calibri" pitchFamily="34" charset="0"/>
                <a:ea typeface="Calibri" pitchFamily="34" charset="-122"/>
                <a:cs typeface="Calibri" pitchFamily="34" charset="-120"/>
              </a:rPr>
              <a:t>Kavach v2  ·  </a:t>
            </a:r>
            <a:pPr algn="ctr" indent="0" marL="0">
              <a:buNone/>
            </a:pPr>
            <a:r>
              <a:rPr lang="en-US" sz="1100" dirty="0">
                <a:solidFill>
                  <a:srgbClr val="7FB0FF"/>
                </a:solidFill>
                <a:latin typeface="Calibri" pitchFamily="34" charset="0"/>
                <a:ea typeface="Calibri" pitchFamily="34" charset="-122"/>
                <a:cs typeface="Calibri" pitchFamily="34" charset="-120"/>
              </a:rPr>
              <a:t>Capstone Progress Review  ·  May 2026  ·  </a:t>
            </a:r>
            <a:pPr algn="ctr" indent="0" marL="0">
              <a:buNone/>
            </a:pPr>
            <a:r>
              <a:rPr lang="en-US" sz="1100" dirty="0">
                <a:solidFill>
                  <a:srgbClr val="ECF1F9"/>
                </a:solidFill>
                <a:latin typeface="Calibri" pitchFamily="34" charset="0"/>
                <a:ea typeface="Calibri" pitchFamily="34" charset="-122"/>
                <a:cs typeface="Calibri" pitchFamily="34" charset="-120"/>
              </a:rPr>
              <a:t>PES University · PW26_RB_03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PES University · Capstone PW26_RB_03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 v2 — Progress Review</dc:title>
  <dc:subject>PptxGenJS Presentation</dc:subject>
  <dc:creator>Kavach Team, PES University</dc:creator>
  <cp:lastModifiedBy>Kavach Team, PES University</cp:lastModifiedBy>
  <cp:revision>1</cp:revision>
  <dcterms:created xsi:type="dcterms:W3CDTF">2026-05-09T07:43:41Z</dcterms:created>
  <dcterms:modified xsi:type="dcterms:W3CDTF">2026-05-09T07:43:41Z</dcterms:modified>
</cp:coreProperties>
</file>